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2" r:id="rId1"/>
    <p:sldMasterId id="2147483754" r:id="rId2"/>
    <p:sldMasterId id="2147483766" r:id="rId3"/>
    <p:sldMasterId id="2147483778" r:id="rId4"/>
  </p:sldMasterIdLst>
  <p:notesMasterIdLst>
    <p:notesMasterId r:id="rId49"/>
  </p:notesMasterIdLst>
  <p:sldIdLst>
    <p:sldId id="567" r:id="rId5"/>
    <p:sldId id="592" r:id="rId6"/>
    <p:sldId id="593" r:id="rId7"/>
    <p:sldId id="310" r:id="rId8"/>
    <p:sldId id="594" r:id="rId9"/>
    <p:sldId id="313" r:id="rId10"/>
    <p:sldId id="595" r:id="rId11"/>
    <p:sldId id="596" r:id="rId12"/>
    <p:sldId id="597" r:id="rId13"/>
    <p:sldId id="598" r:id="rId14"/>
    <p:sldId id="268" r:id="rId15"/>
    <p:sldId id="599" r:id="rId16"/>
    <p:sldId id="600" r:id="rId17"/>
    <p:sldId id="626" r:id="rId18"/>
    <p:sldId id="601" r:id="rId19"/>
    <p:sldId id="602" r:id="rId20"/>
    <p:sldId id="603" r:id="rId21"/>
    <p:sldId id="604" r:id="rId22"/>
    <p:sldId id="605" r:id="rId23"/>
    <p:sldId id="606" r:id="rId24"/>
    <p:sldId id="607" r:id="rId25"/>
    <p:sldId id="608" r:id="rId26"/>
    <p:sldId id="609" r:id="rId27"/>
    <p:sldId id="610" r:id="rId28"/>
    <p:sldId id="611" r:id="rId29"/>
    <p:sldId id="612" r:id="rId30"/>
    <p:sldId id="322" r:id="rId31"/>
    <p:sldId id="613" r:id="rId32"/>
    <p:sldId id="324" r:id="rId33"/>
    <p:sldId id="614" r:id="rId34"/>
    <p:sldId id="615" r:id="rId35"/>
    <p:sldId id="331" r:id="rId36"/>
    <p:sldId id="332" r:id="rId37"/>
    <p:sldId id="616" r:id="rId38"/>
    <p:sldId id="617" r:id="rId39"/>
    <p:sldId id="618" r:id="rId40"/>
    <p:sldId id="619" r:id="rId41"/>
    <p:sldId id="620" r:id="rId42"/>
    <p:sldId id="621" r:id="rId43"/>
    <p:sldId id="622" r:id="rId44"/>
    <p:sldId id="623" r:id="rId45"/>
    <p:sldId id="624" r:id="rId46"/>
    <p:sldId id="625" r:id="rId47"/>
    <p:sldId id="575" r:id="rId48"/>
  </p:sldIdLst>
  <p:sldSz cx="12192000" cy="6858000"/>
  <p:notesSz cx="6858000" cy="9144000"/>
  <p:embeddedFontLst>
    <p:embeddedFont>
      <p:font typeface="맑은 고딕" panose="020B0503020000020004" pitchFamily="50" charset="-127"/>
      <p:regular r:id="rId50"/>
      <p:bold r:id="rId51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장원" initials="이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7E5"/>
    <a:srgbClr val="4B47DF"/>
    <a:srgbClr val="6867D4"/>
    <a:srgbClr val="0D3D7F"/>
    <a:srgbClr val="1462CC"/>
    <a:srgbClr val="66A6FF"/>
    <a:srgbClr val="1C75CE"/>
    <a:srgbClr val="99CCFF"/>
    <a:srgbClr val="384B6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D62BA-AF83-4A13-991A-DF7F03E66BC9}" v="462" dt="2023-03-01T05:38:41.2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01" autoAdjust="0"/>
    <p:restoredTop sz="93429" autoAdjust="0"/>
  </p:normalViewPr>
  <p:slideViewPr>
    <p:cSldViewPr>
      <p:cViewPr varScale="1">
        <p:scale>
          <a:sx n="80" d="100"/>
          <a:sy n="80" d="100"/>
        </p:scale>
        <p:origin x="115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1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E0335CC-40F6-73A2-76E5-FFEC4AE14D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7F49C4-7491-5A5A-056E-640D3A54BA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406089F-859E-4619-BC87-1CB84765253A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C6D1743-FABD-C353-31BE-78ADDF4AB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5CE51723-9235-8F2A-B7E2-EAA3AC581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171FD4-2696-1D84-6128-AFBFE4A721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AFA8F0-2568-5F63-F998-AF5DEE3C1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DF526549-3A39-4736-9C21-17535B9BDDD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82F76C06-7B08-3056-0559-9396C1229C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3A1212D5-615F-EE6E-D8C5-5289EDD8B1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C32BA805-46FA-B9EF-C42E-2EEFD0FB0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fld id="{F14E2BE5-0397-4DD1-B245-041A49E43BE0}" type="slidenum">
              <a:rPr lang="ko-KR" altLang="en-US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526549-3A39-4736-9C21-17535B9BDDD6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541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159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892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27869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27869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64070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64070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94D53-F9A4-47DF-BCEE-CB29675BE6B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64070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94D53-F9A4-47DF-BCEE-CB29675BE6B8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9840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94D53-F9A4-47DF-BCEE-CB29675BE6B8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441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0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33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56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68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357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75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179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20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185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41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403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57C171-C909-21CA-DECA-5572655A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70642-40F9-44E1-82A8-ED8DDB5D952A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68D56B-B47C-07A1-852B-CD8002C4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53A01B-035B-8BFF-7300-CDBE90E7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C65FD-CEC5-4525-B02D-0834872899DF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143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24F1ED-D170-3889-520B-B58417A6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2C26C-C6B2-4366-8712-75529D2E6D99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38D8B6-2E30-1DD5-7432-5B78EA0A2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9845C0-6509-35D0-99C1-3B5E00A1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CF749-8166-41A0-96E1-610B8EB4D4F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437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5A9E7-E29E-994A-1465-B6BE2185B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4DBD0-57D4-454F-AC39-CB065A0604A2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52D0B5-4466-3D77-B505-286B88C9B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685BBA-0476-8928-AEFD-1DEACFC5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FD210-8EB7-4057-9F7A-7E9261D78DE2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3214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477F477-4294-B8DE-834D-0415B9416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C6B3B-A127-42DC-AB13-668A0DC93770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A19C9210-56F3-642A-1927-57C4F4DEE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A5CE2BE-D05A-756C-3B1F-9301B23E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A5AE3-721C-4E6A-B617-1E0FA0B7E0E1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069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CCB27962-AFF6-7A0F-27F2-2F2E2534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6AFFA-365C-4EA3-A9B2-07FE175CCBB3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CADD999-D935-F2E5-9B9B-6DEE3A08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6D804639-64C3-619D-4282-E6B2E8CF5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76FF14-0A3B-4010-A773-D8FADCDD863E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986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8E25BF32-E3D6-173F-CF5F-3C9401B60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14C90-4E44-427D-B995-F7DC47C029BB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82534805-FD00-F9AD-4116-D8538F700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5E88648E-F411-4585-624E-98224AB5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639DE-AEE1-4027-A25D-801F6F6A9E1E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28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EFD849AC-823A-5A01-72E2-FDE0CEB0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E109B-5A41-482C-9F20-02F15D312CA6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585E24A4-35F4-72B8-01B4-0D8BFE1AA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D5FC452-E0CE-0065-C532-0ED434A8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91535-1568-44CD-86D9-71314147C820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821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640B509-81A7-2674-52B1-A78BE67E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2CE1BE-9E46-46FC-A2BA-60128789211B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A92530E5-07B5-AB5D-8DC5-28DC7D4B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94103EA-9A23-D6D4-8530-C79B9B6E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24166-0225-4593-80C2-3E44C6834A17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025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5DF1207-6F30-8BAF-18CD-4E4CFFB97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AC33DF-D1E3-4832-BBB4-5E1CBA50E7FD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C40C1BF-18A4-C11F-4424-047CC5554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9295143-A1FA-8C44-5F31-5C952D93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E08B1-F18E-420A-9FC9-A71F5602540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2876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98A411-FC2B-D490-5652-CA8CD72D3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32ED90-A76B-45EE-B113-793ADD3A371C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270504-CB5B-1E90-5BE4-0DA00AD65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F06149-DAFA-15D4-9152-020C43C2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28E0B8-FE3F-4EA6-B487-87EA61A0AF54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6850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7C06B3-A3BA-1438-1801-174A13E54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F8261-E947-472A-8BB9-A7DDBCBCD1E1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88FDBB-F7EA-2B61-F429-0482C8B6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F56BF0-34A7-1944-1DC8-BF03B1C5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49EC1-5DBA-42F6-8A7D-EA56ECC4219B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5554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B87081-B7C8-A683-30F5-FD953CF78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70642-40F9-44E1-82A8-ED8DDB5D952A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161787-00B0-A631-20AC-5F60DEA1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11D37C-DCF5-0444-102E-A21191419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C65FD-CEC5-4525-B02D-0834872899D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1477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73442D-B4A0-22CB-F629-4799A797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2C26C-C6B2-4366-8712-75529D2E6D99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3CBE7F-784D-8816-CAF4-C99B4F00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DBAE97-55F2-A5E3-0108-2CBECBBC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CF749-8166-41A0-96E1-610B8EB4D4F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8078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71307C-3FC8-E712-7EAE-161190641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4DBD0-57D4-454F-AC39-CB065A0604A2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F5C3AF-5528-EF17-0BAF-87D3DDE03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1EF20E-483B-9159-8A9B-39F6BE82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FD210-8EB7-4057-9F7A-7E9261D78DE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3709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ED00CCF-6B48-FA08-A3FE-B5563365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C6B3B-A127-42DC-AB13-668A0DC93770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D82369C-9342-1267-D4B9-CEBC1A97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4200DF9-C6E2-15F7-17E6-F3348498A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A5AE3-721C-4E6A-B617-1E0FA0B7E0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1773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05CB31A-BEC8-BB9F-DDED-E1AEF21F8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6AFFA-365C-4EA3-A9B2-07FE175CCBB3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14E0F72E-243F-1E84-4A28-019FE85C4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39684091-C47E-84C1-1E1D-0CDF2265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76FF14-0A3B-4010-A773-D8FADCDD863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13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B74EB14F-5C2D-0DCE-B28C-90DA2D5F2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14C90-4E44-427D-B995-F7DC47C029BB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9036103A-4AD9-DBFA-CDB8-204C0C606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3462B04-8CB3-AA41-108C-659DD6DF8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639DE-AEE1-4027-A25D-801F6F6A9E1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834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83949B93-85CC-C249-148C-46C5C02E2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E109B-5A41-482C-9F20-02F15D312CA6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F14C621C-86C0-636C-60E8-5A426FC3F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D233508-974E-2237-89AD-FAD0E2F6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91535-1568-44CD-86D9-71314147C82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199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9338D01-0ED8-09CA-5CE0-705C15E7D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2CE1BE-9E46-46FC-A2BA-60128789211B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F7F847C-290B-4C03-3655-67CE9DF0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7B80ACE-8673-0F33-BA38-865886D4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24166-0225-4593-80C2-3E44C6834A1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3028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376882E-C809-C88F-4DA5-B5C8AC124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AC33DF-D1E3-4832-BBB4-5E1CBA50E7FD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E5CAE816-1B8C-A2D7-BCEF-1807B3856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807A200-A4DD-D9AE-46CC-F5FD1B62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E08B1-F18E-420A-9FC9-A71F5602540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2123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5819DD-9F62-24A8-25BB-90FB21C16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32ED90-A76B-45EE-B113-793ADD3A371C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998D18-70ED-2CD9-1F91-57304D48A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502611-8718-97EB-7213-5199CD8B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28E0B8-FE3F-4EA6-B487-87EA61A0AF5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002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9C63BA-9C0C-F9D5-B2E5-E310A9251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F8261-E947-472A-8BB9-A7DDBCBCD1E1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C0938E-C0CD-D8FC-A409-428A7ECA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E3D836-75E5-6B70-9012-1BD43583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49EC1-5DBA-42F6-8A7D-EA56ECC4219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8314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1687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22950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4778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4025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503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078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3609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9530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859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8906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48C9-4B98-4CFD-ADA0-546C7EF683C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C2B3-A49D-4E5A-86D2-B3E751534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486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4B5030-1869-4F5B-8730-97E256142256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66F9241-A437-43E9-B813-B079461010AF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303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EA90682E-71F1-3C3B-BD84-EB39B0671CE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5731EF8E-AAC0-CD6D-72A4-8079502C14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2ABBF2-1A0C-DC09-4B6F-71DA5B1D5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74B5030-1869-4F5B-8730-97E256142256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0FDEF1-3470-CFF1-4FD6-1F5C7BBEB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6E24C6-0DCF-7B11-17B1-9AE45032A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6F9241-A437-43E9-B813-B079461010AF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68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개체 틀 1">
            <a:extLst>
              <a:ext uri="{FF2B5EF4-FFF2-40B4-BE49-F238E27FC236}">
                <a16:creationId xmlns:a16="http://schemas.microsoft.com/office/drawing/2014/main" id="{B8231C2F-CF8A-48C8-20CD-76F0E2D00BD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5" name="텍스트 개체 틀 2">
            <a:extLst>
              <a:ext uri="{FF2B5EF4-FFF2-40B4-BE49-F238E27FC236}">
                <a16:creationId xmlns:a16="http://schemas.microsoft.com/office/drawing/2014/main" id="{8119D4F0-D982-F2DB-047B-89EDC428F5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BE9282-0DE7-D0D2-E495-5E1960ADFC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A788708-E99A-403B-B26B-E5447273F851}" type="datetimeFigureOut">
              <a:rPr lang="ko-KR" altLang="en-US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E653E9-FE4A-1FA0-0EC3-D9F3C510D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D2EE2F-F141-8A7D-3E66-AA1852CDA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0E3697-5FE7-413C-9810-6ECEEB1E5C5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96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4B5030-1869-4F5B-8730-97E256142256}" type="datetimeFigureOut">
              <a:rPr lang="ko-KR" altLang="en-US" smtClean="0"/>
              <a:pPr>
                <a:defRPr/>
              </a:pPr>
              <a:t>2025-09-14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66F9241-A437-43E9-B813-B079461010AF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73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google.co.kr/url?sa=i&amp;rct=j&amp;q=&amp;esrc=s&amp;source=images&amp;cd=&amp;cad=rja&amp;uact=8&amp;ved=2ahUKEwjT-YeIqIzaAhVKy7wKHc0lBMQQjRx6BAgAEAU&amp;url=https://www.istockphoto.com/kr/%EB%B2%A1%ED%84%B0/%EC%8A%90%EB%A0%88%EC%8A%A4%EB%B9%84%ED%9E%88-%ED%99%80%EC%8A%A4%ED%83%80%EC%9D%B8-%EB%8F%85%EC%9D%BC-%EC%B5%9C%EB%B6%81%EB%8B%A8-%EC%83%81%ED%83%9C-%EC%84%9D%ED%8C%90-%ED%99%94%EC%9D%98-%EC%A7%80%EB%8F%84-%EC%B6%9C%ED%8C%90-1887-gm886800890-246204336&amp;psig=AOvVaw3UWQOk1p1a9V8pQhKk9qeQ&amp;ust=1522233549297422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//upload.wikimedia.org/wikipedia/commons/e/e9/China_Shandong.sv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://movie.daum.net/moviedetail/moviedetailPhotoView.do?movieId=10338&amp;photoId=292179&amp;t__nil_PhotoList_poster=thumbnail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jpeg"/><Relationship Id="rId4" Type="http://schemas.openxmlformats.org/officeDocument/2006/relationships/hyperlink" Target="http://ko.wikipedia.org/wiki/%ED%8C%8C%EC%9D%BC:BoxerSoldiers.jpg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Free photos of Europe">
            <a:extLst>
              <a:ext uri="{FF2B5EF4-FFF2-40B4-BE49-F238E27FC236}">
                <a16:creationId xmlns:a16="http://schemas.microsoft.com/office/drawing/2014/main" id="{13DFF5AC-AE53-6EA1-2A44-7B103B71AD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6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1F4B71FE-78F5-4D37-EB11-6C67020959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8B6488-2393-5385-4DD3-86E59451884B}"/>
              </a:ext>
            </a:extLst>
          </p:cNvPr>
          <p:cNvSpPr txBox="1"/>
          <p:nvPr/>
        </p:nvSpPr>
        <p:spPr>
          <a:xfrm>
            <a:off x="2927648" y="2280796"/>
            <a:ext cx="6640600" cy="1077218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/>
            <a:r>
              <a:rPr lang="ko-KR" altLang="en-US" sz="3200" b="1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4B47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제</a:t>
            </a:r>
            <a:r>
              <a:rPr lang="en-US" altLang="ko-KR" sz="3200" b="1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4B47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3</a:t>
            </a:r>
            <a:r>
              <a:rPr lang="ko-KR" altLang="en-US" sz="3200" b="1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4B47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강 비스마르크체제의 형성과 해체</a:t>
            </a:r>
            <a:r>
              <a:rPr lang="en-US" altLang="ko-KR" sz="3200" b="1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4B47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,</a:t>
            </a:r>
          </a:p>
          <a:p>
            <a:pPr algn="ctr"/>
            <a:r>
              <a:rPr lang="ko-KR" altLang="en-US" sz="3200" b="1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4B47D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유럽의 재편</a:t>
            </a:r>
            <a:endParaRPr lang="en-US" altLang="ko-KR" sz="3200" b="1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4B47D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맑은 고딕" panose="020B0503020000020004" pitchFamily="50" charset="-127"/>
            </a:endParaRPr>
          </a:p>
        </p:txBody>
      </p:sp>
      <p:grpSp>
        <p:nvGrpSpPr>
          <p:cNvPr id="1607" name="그룹 1606">
            <a:extLst>
              <a:ext uri="{FF2B5EF4-FFF2-40B4-BE49-F238E27FC236}">
                <a16:creationId xmlns:a16="http://schemas.microsoft.com/office/drawing/2014/main" id="{90F01C88-1A21-7B61-5F88-767E9960338B}"/>
              </a:ext>
            </a:extLst>
          </p:cNvPr>
          <p:cNvGrpSpPr/>
          <p:nvPr/>
        </p:nvGrpSpPr>
        <p:grpSpPr>
          <a:xfrm>
            <a:off x="2266950" y="1041400"/>
            <a:ext cx="7658100" cy="3771900"/>
            <a:chOff x="-12782550" y="1041400"/>
            <a:chExt cx="7658100" cy="3771900"/>
          </a:xfrm>
        </p:grpSpPr>
        <p:sp>
          <p:nvSpPr>
            <p:cNvPr id="1602" name="자유형: 도형 1601">
              <a:extLst>
                <a:ext uri="{FF2B5EF4-FFF2-40B4-BE49-F238E27FC236}">
                  <a16:creationId xmlns:a16="http://schemas.microsoft.com/office/drawing/2014/main" id="{CDD6CF33-D4D4-41E5-A27B-58BDE027C586}"/>
                </a:ext>
              </a:extLst>
            </p:cNvPr>
            <p:cNvSpPr/>
            <p:nvPr/>
          </p:nvSpPr>
          <p:spPr>
            <a:xfrm>
              <a:off x="-12782550" y="1041400"/>
              <a:ext cx="7658100" cy="557213"/>
            </a:xfrm>
            <a:custGeom>
              <a:avLst/>
              <a:gdLst>
                <a:gd name="connsiteX0" fmla="*/ 0 w 7658100"/>
                <a:gd name="connsiteY0" fmla="*/ 0 h 557213"/>
                <a:gd name="connsiteX1" fmla="*/ 7658100 w 7658100"/>
                <a:gd name="connsiteY1" fmla="*/ 0 h 557213"/>
                <a:gd name="connsiteX2" fmla="*/ 7658100 w 7658100"/>
                <a:gd name="connsiteY2" fmla="*/ 557213 h 557213"/>
                <a:gd name="connsiteX3" fmla="*/ 7580701 w 7658100"/>
                <a:gd name="connsiteY3" fmla="*/ 557213 h 557213"/>
                <a:gd name="connsiteX4" fmla="*/ 7580701 w 7658100"/>
                <a:gd name="connsiteY4" fmla="*/ 77399 h 557213"/>
                <a:gd name="connsiteX5" fmla="*/ 77399 w 7658100"/>
                <a:gd name="connsiteY5" fmla="*/ 77399 h 557213"/>
                <a:gd name="connsiteX6" fmla="*/ 77399 w 7658100"/>
                <a:gd name="connsiteY6" fmla="*/ 557213 h 557213"/>
                <a:gd name="connsiteX7" fmla="*/ 0 w 7658100"/>
                <a:gd name="connsiteY7" fmla="*/ 557213 h 557213"/>
                <a:gd name="connsiteX8" fmla="*/ 0 w 7658100"/>
                <a:gd name="connsiteY8" fmla="*/ 0 h 557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58100" h="557213">
                  <a:moveTo>
                    <a:pt x="0" y="0"/>
                  </a:moveTo>
                  <a:lnTo>
                    <a:pt x="7658100" y="0"/>
                  </a:lnTo>
                  <a:lnTo>
                    <a:pt x="7658100" y="557213"/>
                  </a:lnTo>
                  <a:lnTo>
                    <a:pt x="7580701" y="557213"/>
                  </a:lnTo>
                  <a:lnTo>
                    <a:pt x="7580701" y="77399"/>
                  </a:lnTo>
                  <a:lnTo>
                    <a:pt x="77399" y="77399"/>
                  </a:lnTo>
                  <a:lnTo>
                    <a:pt x="77399" y="557213"/>
                  </a:lnTo>
                  <a:lnTo>
                    <a:pt x="0" y="5572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47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92" name="자유형: 도형 1591">
              <a:extLst>
                <a:ext uri="{FF2B5EF4-FFF2-40B4-BE49-F238E27FC236}">
                  <a16:creationId xmlns:a16="http://schemas.microsoft.com/office/drawing/2014/main" id="{1108C7F9-07CE-B343-C761-66B3903668A8}"/>
                </a:ext>
              </a:extLst>
            </p:cNvPr>
            <p:cNvSpPr/>
            <p:nvPr/>
          </p:nvSpPr>
          <p:spPr>
            <a:xfrm>
              <a:off x="-12782550" y="4256088"/>
              <a:ext cx="7658100" cy="557212"/>
            </a:xfrm>
            <a:custGeom>
              <a:avLst/>
              <a:gdLst>
                <a:gd name="connsiteX0" fmla="*/ 0 w 7658100"/>
                <a:gd name="connsiteY0" fmla="*/ 0 h 557212"/>
                <a:gd name="connsiteX1" fmla="*/ 77399 w 7658100"/>
                <a:gd name="connsiteY1" fmla="*/ 0 h 557212"/>
                <a:gd name="connsiteX2" fmla="*/ 77399 w 7658100"/>
                <a:gd name="connsiteY2" fmla="*/ 479813 h 557212"/>
                <a:gd name="connsiteX3" fmla="*/ 7580701 w 7658100"/>
                <a:gd name="connsiteY3" fmla="*/ 479813 h 557212"/>
                <a:gd name="connsiteX4" fmla="*/ 7580701 w 7658100"/>
                <a:gd name="connsiteY4" fmla="*/ 0 h 557212"/>
                <a:gd name="connsiteX5" fmla="*/ 7658100 w 7658100"/>
                <a:gd name="connsiteY5" fmla="*/ 0 h 557212"/>
                <a:gd name="connsiteX6" fmla="*/ 7658100 w 7658100"/>
                <a:gd name="connsiteY6" fmla="*/ 557212 h 557212"/>
                <a:gd name="connsiteX7" fmla="*/ 0 w 7658100"/>
                <a:gd name="connsiteY7" fmla="*/ 557212 h 557212"/>
                <a:gd name="connsiteX8" fmla="*/ 0 w 7658100"/>
                <a:gd name="connsiteY8" fmla="*/ 0 h 557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58100" h="557212">
                  <a:moveTo>
                    <a:pt x="0" y="0"/>
                  </a:moveTo>
                  <a:lnTo>
                    <a:pt x="77399" y="0"/>
                  </a:lnTo>
                  <a:lnTo>
                    <a:pt x="77399" y="479813"/>
                  </a:lnTo>
                  <a:lnTo>
                    <a:pt x="7580701" y="479813"/>
                  </a:lnTo>
                  <a:lnTo>
                    <a:pt x="7580701" y="0"/>
                  </a:lnTo>
                  <a:lnTo>
                    <a:pt x="7658100" y="0"/>
                  </a:lnTo>
                  <a:lnTo>
                    <a:pt x="7658100" y="557212"/>
                  </a:lnTo>
                  <a:lnTo>
                    <a:pt x="0" y="557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47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" name="Rectangle 2">
            <a:extLst>
              <a:ext uri="{FF2B5EF4-FFF2-40B4-BE49-F238E27FC236}">
                <a16:creationId xmlns:a16="http://schemas.microsoft.com/office/drawing/2014/main" id="{A2BB54F9-2CBD-6B8D-056F-F1A7404CF175}"/>
              </a:ext>
            </a:extLst>
          </p:cNvPr>
          <p:cNvSpPr txBox="1">
            <a:spLocks noChangeArrowheads="1"/>
          </p:cNvSpPr>
          <p:nvPr/>
        </p:nvSpPr>
        <p:spPr>
          <a:xfrm>
            <a:off x="2166834" y="5445224"/>
            <a:ext cx="7772400" cy="72072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kumimoji="0" lang="ko-KR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세계외교사</a:t>
            </a:r>
            <a:r>
              <a:rPr kumimoji="0" lang="en-US" altLang="ko-KR" sz="1400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 2025</a:t>
            </a:r>
            <a:r>
              <a:rPr kumimoji="0" lang="ko-KR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kumimoji="0" lang="en-US" altLang="ko-KR" sz="1400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ko-KR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학기</a:t>
            </a:r>
            <a:endParaRPr kumimoji="0" lang="en-US" altLang="ko-KR" sz="1400" dirty="0">
              <a:solidFill>
                <a:prstClr val="black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6590C4-7BBD-7AD2-9565-088C1CF76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634" y="5975052"/>
            <a:ext cx="64008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FontTx/>
              <a:buNone/>
            </a:pPr>
            <a:r>
              <a:rPr kumimoji="0" lang="ko-KR" altLang="en-US" sz="1400" dirty="0">
                <a:solidFill>
                  <a:srgbClr val="000000"/>
                </a:solidFill>
              </a:rPr>
              <a:t>충북대학교 정치외교학과 이장원교수</a:t>
            </a:r>
          </a:p>
          <a:p>
            <a:pPr algn="ctr" eaLnBrk="1" hangingPunct="1">
              <a:buFontTx/>
              <a:buNone/>
            </a:pPr>
            <a:r>
              <a:rPr kumimoji="0" lang="en-US" altLang="ko-KR" sz="1400" dirty="0">
                <a:solidFill>
                  <a:srgbClr val="000000"/>
                </a:solidFill>
              </a:rPr>
              <a:t>jangwon@chungbuk.ac.kr</a:t>
            </a:r>
          </a:p>
          <a:p>
            <a:pPr algn="ctr" eaLnBrk="1" hangingPunct="1">
              <a:buFontTx/>
              <a:buNone/>
            </a:pPr>
            <a:endParaRPr kumimoji="0" lang="en-US" altLang="ko-KR" sz="1400" dirty="0">
              <a:solidFill>
                <a:srgbClr val="000000"/>
              </a:solidFill>
            </a:endParaRPr>
          </a:p>
          <a:p>
            <a:pPr algn="ctr" eaLnBrk="1" hangingPunct="1">
              <a:buFontTx/>
              <a:buNone/>
            </a:pPr>
            <a:endParaRPr kumimoji="0" lang="en-US" altLang="ko-KR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525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5219472" y="756398"/>
            <a:ext cx="2578591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제국주의의 전개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126E4-88F5-30A0-6E58-BE87D6D73CA6}"/>
              </a:ext>
            </a:extLst>
          </p:cNvPr>
          <p:cNvSpPr/>
          <p:nvPr/>
        </p:nvSpPr>
        <p:spPr>
          <a:xfrm>
            <a:off x="1667329" y="1636137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독일 통일 이전 </a:t>
            </a:r>
            <a:r>
              <a:rPr lang="en-US" altLang="ko-KR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이후의 유럽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667329" y="2276872"/>
            <a:ext cx="10585176" cy="4088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1871. 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독일 통일 이전의 유럽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</a:endParaRPr>
          </a:p>
          <a:p>
            <a:pPr marL="342900" indent="-342900" latinLnBrk="1">
              <a:lnSpc>
                <a:spcPct val="20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kumimoji="0"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프랑스 혁명에 의해 비롯된 자유주의와 민족주의의 유행 속에 빈체제를 통한 유럽대륙의 국가 간 힘의 균형</a:t>
            </a:r>
            <a:r>
              <a:rPr kumimoji="0" lang="en-US" altLang="ko-KR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(BOP)</a:t>
            </a:r>
            <a:r>
              <a:rPr kumimoji="0"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을 위한 </a:t>
            </a:r>
            <a:r>
              <a:rPr kumimoji="0" lang="ko-KR" altLang="en-US" sz="1600" dirty="0" err="1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진통기</a:t>
            </a:r>
            <a:endParaRPr kumimoji="0" lang="en-US" altLang="ko-KR" sz="16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+mj-lt"/>
              <a:buAutoNum type="arabicPeriod" startAt="2"/>
              <a:defRPr/>
            </a:pP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독일 통일 이후의 유럽</a:t>
            </a:r>
            <a:endParaRPr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독일이라는 신흥 강자에 의해 비교적 안정과 평화를 유지한 시기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한편 산업혁명 이후 비약적인 독점자본과 산업발전은 과잉생산에 따른 이윤감소를 초래하며 장기적인 </a:t>
            </a:r>
            <a:r>
              <a:rPr lang="ko-KR" altLang="en-US" sz="1500" dirty="0" err="1">
                <a:solidFill>
                  <a:prstClr val="black"/>
                </a:solidFill>
                <a:ea typeface="맑은 고딕" panose="020B0503020000020004" pitchFamily="50" charset="-127"/>
              </a:rPr>
              <a:t>대불황</a:t>
            </a:r>
            <a:r>
              <a:rPr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 시작</a:t>
            </a:r>
            <a:endParaRPr lang="en-US" altLang="ko-KR" sz="1500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각 열강은 안정된 시장과 자원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,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자본 투자 대상을 독점적으로 확보하기 위해 식민지 쟁탈에 본격적으로 뛰어들며 제국주의의 시대가 본격화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되기 시작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4296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772237" y="756398"/>
            <a:ext cx="3473066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독일 통일 이전과 이후</a:t>
            </a:r>
            <a:endParaRPr kumimoji="0" lang="en-US" altLang="ko-KR" sz="2800" b="1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126E4-88F5-30A0-6E58-BE87D6D73CA6}"/>
              </a:ext>
            </a:extLst>
          </p:cNvPr>
          <p:cNvSpPr/>
          <p:nvPr/>
        </p:nvSpPr>
        <p:spPr>
          <a:xfrm>
            <a:off x="1438162" y="1570687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통일 전후의 독일 정치경제 구조 비교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344351" y="2248112"/>
            <a:ext cx="10585176" cy="4091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통일 이전의 정치경제 구조 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</a:endParaRPr>
          </a:p>
          <a:p>
            <a:pPr marL="285750" indent="-285750" latinLnBrk="1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경제적</a:t>
            </a:r>
            <a:r>
              <a:rPr kumimoji="0" lang="en-US" altLang="ko-KR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)</a:t>
            </a:r>
            <a:r>
              <a:rPr kumimoji="0"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 농업국가</a:t>
            </a:r>
            <a:endParaRPr kumimoji="0" lang="en-US" altLang="ko-KR" sz="16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indent="-285750" latinLnBrk="1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정치적</a:t>
            </a:r>
            <a:r>
              <a:rPr lang="en-US" altLang="ko-KR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) </a:t>
            </a:r>
            <a:r>
              <a:rPr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프로이센을 중심으로 한 연방조직으로 분권적 형태</a:t>
            </a:r>
            <a:endParaRPr kumimoji="0" lang="en-US" altLang="ko-KR" sz="16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+mj-lt"/>
              <a:buAutoNum type="arabicParenR" startAt="2"/>
              <a:defRPr/>
            </a:pP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통일 이후의 정치경제 구조</a:t>
            </a:r>
            <a:endParaRPr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경제적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)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프랑스로부터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50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억 프랑의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보불전쟁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 배상금과 </a:t>
            </a:r>
            <a:r>
              <a:rPr lang="ko-KR" altLang="en-US" sz="1500" dirty="0" err="1">
                <a:solidFill>
                  <a:prstClr val="black"/>
                </a:solidFill>
                <a:ea typeface="맑은 고딕" panose="020B0503020000020004" pitchFamily="50" charset="-127"/>
              </a:rPr>
              <a:t>알사스와</a:t>
            </a:r>
            <a:r>
              <a:rPr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 로렌이라는 공업지대 확보</a:t>
            </a:r>
            <a:r>
              <a:rPr lang="en-US" altLang="ko-KR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이를 통해 방적</a:t>
            </a:r>
            <a:r>
              <a:rPr lang="en-US" altLang="ko-KR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철강 산업 발전하며 공업국가로 발돋움</a:t>
            </a:r>
            <a:endParaRPr lang="en-US" altLang="ko-KR" sz="1500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정치적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) 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연방정부가 집권적 정치조직을 지님으로써 정책의 통일성을 기하고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, 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막강한 군사력과 경제력의 신장으로 유럽의 강자로 등장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3978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그림 3">
            <a:extLst>
              <a:ext uri="{FF2B5EF4-FFF2-40B4-BE49-F238E27FC236}">
                <a16:creationId xmlns:a16="http://schemas.microsoft.com/office/drawing/2014/main" id="{EA2AC294-8D2A-7A64-A537-AF43CABF2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9" y="463550"/>
            <a:ext cx="7107237" cy="561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왼쪽 화살표 4">
            <a:extLst>
              <a:ext uri="{FF2B5EF4-FFF2-40B4-BE49-F238E27FC236}">
                <a16:creationId xmlns:a16="http://schemas.microsoft.com/office/drawing/2014/main" id="{8E479F83-8A17-C5A9-F16E-DC68C21ACB5D}"/>
              </a:ext>
            </a:extLst>
          </p:cNvPr>
          <p:cNvSpPr/>
          <p:nvPr/>
        </p:nvSpPr>
        <p:spPr>
          <a:xfrm>
            <a:off x="6172630" y="3284403"/>
            <a:ext cx="478565" cy="511374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rgbClr val="4B47DF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20D2D-9ADE-82A9-C68F-EC4BBD245A8D}"/>
              </a:ext>
            </a:extLst>
          </p:cNvPr>
          <p:cNvSpPr txBox="1"/>
          <p:nvPr/>
        </p:nvSpPr>
        <p:spPr>
          <a:xfrm>
            <a:off x="5106439" y="3068960"/>
            <a:ext cx="14216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latinLnBrk="1" hangingPunct="1">
              <a:defRPr/>
            </a:pPr>
            <a:r>
              <a:rPr lang="ko-KR" altLang="en-US" sz="2200" b="1" dirty="0" err="1">
                <a:solidFill>
                  <a:srgbClr val="002060"/>
                </a:solidFill>
                <a:ea typeface="맑은 고딕" panose="020B0503020000020004" pitchFamily="50" charset="-127"/>
              </a:rPr>
              <a:t>라인左岸</a:t>
            </a:r>
            <a:endParaRPr lang="ko-KR" altLang="en-US" sz="2200" b="1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  <p:sp>
        <p:nvSpPr>
          <p:cNvPr id="9228" name="TextBox 9">
            <a:extLst>
              <a:ext uri="{FF2B5EF4-FFF2-40B4-BE49-F238E27FC236}">
                <a16:creationId xmlns:a16="http://schemas.microsoft.com/office/drawing/2014/main" id="{29184F29-BB05-411A-6E8F-2A9F91F8A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2381" y="6301452"/>
            <a:ext cx="71072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/>
              <a:t>&lt;</a:t>
            </a:r>
            <a:r>
              <a:rPr lang="ko-KR" altLang="en-US" sz="2000" b="1" dirty="0"/>
              <a:t>프랑스</a:t>
            </a:r>
            <a:r>
              <a:rPr lang="en-US" altLang="ko-KR" sz="2000" b="1" dirty="0"/>
              <a:t>-</a:t>
            </a:r>
            <a:r>
              <a:rPr lang="ko-KR" altLang="en-US" sz="2000" b="1" dirty="0"/>
              <a:t>독일 국경지대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라인강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좌안</a:t>
            </a:r>
            <a:r>
              <a:rPr lang="ko-KR" altLang="en-US" sz="2000" b="1" dirty="0"/>
              <a:t> 및 </a:t>
            </a:r>
            <a:r>
              <a:rPr lang="ko-KR" altLang="en-US" sz="2000" b="1" dirty="0" err="1"/>
              <a:t>알사스와</a:t>
            </a:r>
            <a:r>
              <a:rPr lang="ko-KR" altLang="en-US" sz="2000" b="1" dirty="0"/>
              <a:t> 로렌</a:t>
            </a:r>
            <a:r>
              <a:rPr lang="en-US" altLang="ko-KR" sz="2000" b="1" dirty="0"/>
              <a:t>)&gt;</a:t>
            </a:r>
            <a:endParaRPr lang="ko-KR" altLang="en-US" sz="2000" b="1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50ED987A-775F-39BD-F6D7-1E99024A368B}"/>
              </a:ext>
            </a:extLst>
          </p:cNvPr>
          <p:cNvSpPr/>
          <p:nvPr/>
        </p:nvSpPr>
        <p:spPr>
          <a:xfrm>
            <a:off x="4295276" y="3247213"/>
            <a:ext cx="1080000" cy="1080000"/>
          </a:xfrm>
          <a:prstGeom prst="ellipse">
            <a:avLst/>
          </a:prstGeom>
          <a:solidFill>
            <a:schemeClr val="bg1">
              <a:alpha val="65000"/>
            </a:schemeClr>
          </a:solidFill>
          <a:ln w="28575">
            <a:solidFill>
              <a:srgbClr val="4B47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108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로렌</a:t>
            </a:r>
            <a:endParaRPr lang="en-US" altLang="ko-KR" sz="20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86A0AD4-EB2E-E1EE-07E2-F90F4B0DBBBA}"/>
              </a:ext>
            </a:extLst>
          </p:cNvPr>
          <p:cNvSpPr/>
          <p:nvPr/>
        </p:nvSpPr>
        <p:spPr>
          <a:xfrm rot="1643804">
            <a:off x="5365402" y="3401273"/>
            <a:ext cx="742240" cy="1503404"/>
          </a:xfrm>
          <a:prstGeom prst="ellipse">
            <a:avLst/>
          </a:prstGeom>
          <a:solidFill>
            <a:schemeClr val="bg1">
              <a:alpha val="65000"/>
            </a:schemeClr>
          </a:solidFill>
          <a:ln w="28575">
            <a:solidFill>
              <a:srgbClr val="4B47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108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b="1" dirty="0" err="1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알사스</a:t>
            </a:r>
            <a:endParaRPr lang="en-US" altLang="ko-KR" sz="20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772216" y="709271"/>
            <a:ext cx="3473067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통일 독일의 출현 과정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126E4-88F5-30A0-6E58-BE87D6D73CA6}"/>
              </a:ext>
            </a:extLst>
          </p:cNvPr>
          <p:cNvSpPr/>
          <p:nvPr/>
        </p:nvSpPr>
        <p:spPr>
          <a:xfrm>
            <a:off x="1667328" y="1617799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독일</a:t>
            </a:r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오스트리아 전쟁 </a:t>
            </a:r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(1863~1866=</a:t>
            </a:r>
            <a:r>
              <a:rPr lang="ko-KR" altLang="en-US" b="1" dirty="0" err="1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보오</a:t>
            </a:r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普</a:t>
            </a:r>
            <a:r>
              <a:rPr lang="zh-CN" altLang="en-US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奥</a:t>
            </a:r>
            <a:r>
              <a:rPr lang="en-US" altLang="zh-CN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전쟁</a:t>
            </a:r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667329" y="2276872"/>
            <a:ext cx="10585176" cy="3297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600" b="1" dirty="0">
                <a:ea typeface="맑은 고딕" panose="020B0503020000020004" pitchFamily="50" charset="-127"/>
              </a:rPr>
              <a:t>독일</a:t>
            </a:r>
            <a:r>
              <a:rPr lang="en-US" altLang="ko-KR" sz="1600" b="1" dirty="0">
                <a:ea typeface="맑은 고딕" panose="020B0503020000020004" pitchFamily="50" charset="-127"/>
              </a:rPr>
              <a:t>-</a:t>
            </a:r>
            <a:r>
              <a:rPr lang="ko-KR" altLang="en-US" sz="1600" b="1" dirty="0">
                <a:ea typeface="맑은 고딕" panose="020B0503020000020004" pitchFamily="50" charset="-127"/>
              </a:rPr>
              <a:t>오스트리아 전쟁</a:t>
            </a:r>
            <a:r>
              <a:rPr lang="en-US" altLang="ko-KR" sz="1600" b="1" dirty="0">
                <a:ea typeface="맑은 고딕" panose="020B0503020000020004" pitchFamily="50" charset="-127"/>
              </a:rPr>
              <a:t>(1863-1866</a:t>
            </a:r>
            <a:r>
              <a:rPr lang="ko-KR" altLang="en-US" sz="1600" b="1" dirty="0">
                <a:ea typeface="맑은 고딕" panose="020B0503020000020004" pitchFamily="50" charset="-127"/>
              </a:rPr>
              <a:t>년</a:t>
            </a:r>
            <a:r>
              <a:rPr lang="en-US" altLang="ko-KR" sz="1600" b="1" dirty="0">
                <a:ea typeface="맑은 고딕" panose="020B0503020000020004" pitchFamily="50" charset="-127"/>
              </a:rPr>
              <a:t>)</a:t>
            </a:r>
            <a:r>
              <a:rPr lang="ko-KR" altLang="en-US" sz="1600" b="1" dirty="0">
                <a:ea typeface="맑은 고딕" panose="020B0503020000020004" pitchFamily="50" charset="-127"/>
              </a:rPr>
              <a:t>의 결과</a:t>
            </a:r>
            <a:endParaRPr lang="en-US" altLang="ko-KR" sz="1600" b="1" dirty="0">
              <a:ea typeface="맑은 고딕" panose="020B0503020000020004" pitchFamily="50" charset="-127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오스트리아는 구 독일연방의 해체를 승인하고 오스트리아를 배제한 새로운 독일을 인정하며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작센을 비롯한 모든 덴마크 영유권을 포기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ko-KR" altLang="en-US" sz="1500" dirty="0" err="1">
                <a:ea typeface="맑은 고딕" panose="020B0503020000020004" pitchFamily="50" charset="-127"/>
              </a:rPr>
              <a:t>마인강</a:t>
            </a:r>
            <a:r>
              <a:rPr lang="ko-KR" altLang="en-US" sz="1500" dirty="0">
                <a:ea typeface="맑은 고딕" panose="020B0503020000020004" pitchFamily="50" charset="-127"/>
              </a:rPr>
              <a:t> 북쪽의 </a:t>
            </a:r>
            <a:r>
              <a:rPr lang="ko-KR" altLang="en-US" sz="1500" dirty="0" err="1">
                <a:ea typeface="맑은 고딕" panose="020B0503020000020004" pitchFamily="50" charset="-127"/>
              </a:rPr>
              <a:t>북독일연방의</a:t>
            </a:r>
            <a:r>
              <a:rPr lang="ko-KR" altLang="en-US" sz="1500" dirty="0">
                <a:ea typeface="맑은 고딕" panose="020B0503020000020004" pitchFamily="50" charset="-127"/>
              </a:rPr>
              <a:t> 형성과 프로이센의 맹주권을 인정하고 프로이센은 </a:t>
            </a:r>
            <a:r>
              <a:rPr lang="ko-KR" altLang="en-US" sz="1500" dirty="0" err="1">
                <a:ea typeface="맑은 고딕" panose="020B0503020000020004" pitchFamily="50" charset="-127"/>
              </a:rPr>
              <a:t>북독일연방의</a:t>
            </a:r>
            <a:r>
              <a:rPr lang="ko-KR" altLang="en-US" sz="1500" dirty="0">
                <a:ea typeface="맑은 고딕" panose="020B0503020000020004" pitchFamily="50" charset="-127"/>
              </a:rPr>
              <a:t> 군 통수권을 행사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ko-KR" altLang="en-US" sz="1500" dirty="0" err="1">
                <a:ea typeface="맑은 고딕" panose="020B0503020000020004" pitchFamily="50" charset="-127"/>
              </a:rPr>
              <a:t>마인강</a:t>
            </a:r>
            <a:r>
              <a:rPr lang="ko-KR" altLang="en-US" sz="1500" dirty="0">
                <a:ea typeface="맑은 고딕" panose="020B0503020000020004" pitchFamily="50" charset="-127"/>
              </a:rPr>
              <a:t> 이남의 남부지역은 새로운 연방을 형성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프로이센은 홀스타인과 </a:t>
            </a:r>
            <a:r>
              <a:rPr lang="ko-KR" altLang="en-US" sz="1500" dirty="0" err="1">
                <a:ea typeface="맑은 고딕" panose="020B0503020000020004" pitchFamily="50" charset="-127"/>
              </a:rPr>
              <a:t>슐레스비히를</a:t>
            </a:r>
            <a:r>
              <a:rPr lang="ko-KR" altLang="en-US" sz="1500" dirty="0">
                <a:ea typeface="맑은 고딕" panose="020B0503020000020004" pitchFamily="50" charset="-127"/>
              </a:rPr>
              <a:t> 병합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오스트리아는 </a:t>
            </a:r>
            <a:r>
              <a:rPr lang="en-US" altLang="ko-KR" sz="1500" dirty="0">
                <a:ea typeface="맑은 고딕" panose="020B0503020000020004" pitchFamily="50" charset="-127"/>
              </a:rPr>
              <a:t>6000</a:t>
            </a:r>
            <a:r>
              <a:rPr lang="ko-KR" altLang="en-US" sz="1500" dirty="0">
                <a:ea typeface="맑은 고딕" panose="020B0503020000020004" pitchFamily="50" charset="-127"/>
              </a:rPr>
              <a:t>만 크라운의 배상금을 지불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베니스를 이태리에 귀속</a:t>
            </a:r>
            <a:endParaRPr lang="en-US" altLang="ko-KR" sz="15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8207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슐레스비히 홀스타인에 대한 이미지 검색결과">
            <a:hlinkClick r:id="rId2"/>
            <a:extLst>
              <a:ext uri="{FF2B5EF4-FFF2-40B4-BE49-F238E27FC236}">
                <a16:creationId xmlns:a16="http://schemas.microsoft.com/office/drawing/2014/main" id="{107EA44B-74A8-62D7-C4F3-5E70A886B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549276"/>
            <a:ext cx="3933825" cy="555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그림 3">
            <a:extLst>
              <a:ext uri="{FF2B5EF4-FFF2-40B4-BE49-F238E27FC236}">
                <a16:creationId xmlns:a16="http://schemas.microsoft.com/office/drawing/2014/main" id="{0ABA323C-AFBD-DF7A-1819-4ADCC34D859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463" y="3141663"/>
            <a:ext cx="19431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그림 4">
            <a:extLst>
              <a:ext uri="{FF2B5EF4-FFF2-40B4-BE49-F238E27FC236}">
                <a16:creationId xmlns:a16="http://schemas.microsoft.com/office/drawing/2014/main" id="{D216E087-518A-9183-4A33-896098FDB1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650" y="549276"/>
            <a:ext cx="4675188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5">
            <a:extLst>
              <a:ext uri="{FF2B5EF4-FFF2-40B4-BE49-F238E27FC236}">
                <a16:creationId xmlns:a16="http://schemas.microsoft.com/office/drawing/2014/main" id="{0E46F6A7-063C-517B-DC85-F73CDD795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032" y="6135687"/>
            <a:ext cx="42862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슐레스비히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홀슈타인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0A5CC-DE0D-DBBA-5F41-7F8983BEA89F}"/>
              </a:ext>
            </a:extLst>
          </p:cNvPr>
          <p:cNvSpPr txBox="1"/>
          <p:nvPr/>
        </p:nvSpPr>
        <p:spPr>
          <a:xfrm>
            <a:off x="0" y="6488668"/>
            <a:ext cx="825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ea typeface="맑은 고딕" panose="020B0503020000020004" pitchFamily="50" charset="-127"/>
              </a:rPr>
              <a:t>Page 5</a:t>
            </a:r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772216" y="566056"/>
            <a:ext cx="3473067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통일 독일의 출현 과정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126E4-88F5-30A0-6E58-BE87D6D73CA6}"/>
              </a:ext>
            </a:extLst>
          </p:cNvPr>
          <p:cNvSpPr/>
          <p:nvPr/>
        </p:nvSpPr>
        <p:spPr>
          <a:xfrm>
            <a:off x="1559496" y="1201096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프랑스</a:t>
            </a:r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프로이센 전쟁 </a:t>
            </a:r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(1870.~1871= </a:t>
            </a:r>
            <a:r>
              <a:rPr lang="ko-KR" altLang="en-US" b="1" dirty="0" err="1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보불</a:t>
            </a:r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普佛</a:t>
            </a:r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전쟁</a:t>
            </a:r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445330" y="1561505"/>
            <a:ext cx="10585176" cy="553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600" b="1" dirty="0">
                <a:ea typeface="맑은 고딕" panose="020B0503020000020004" pitchFamily="50" charset="-127"/>
              </a:rPr>
              <a:t>프랑스</a:t>
            </a:r>
            <a:r>
              <a:rPr lang="en-US" altLang="ko-KR" sz="1600" b="1" dirty="0">
                <a:ea typeface="맑은 고딕" panose="020B0503020000020004" pitchFamily="50" charset="-127"/>
              </a:rPr>
              <a:t>-</a:t>
            </a:r>
            <a:r>
              <a:rPr lang="ko-KR" altLang="en-US" sz="1600" b="1" dirty="0">
                <a:ea typeface="맑은 고딕" panose="020B0503020000020004" pitchFamily="50" charset="-127"/>
              </a:rPr>
              <a:t>프로이센 전쟁</a:t>
            </a:r>
            <a:r>
              <a:rPr lang="en-US" altLang="ko-KR" sz="1600" b="1" dirty="0">
                <a:ea typeface="맑은 고딕" panose="020B0503020000020004" pitchFamily="50" charset="-127"/>
              </a:rPr>
              <a:t>(1870-1871</a:t>
            </a:r>
            <a:r>
              <a:rPr lang="ko-KR" altLang="en-US" sz="1600" b="1" dirty="0">
                <a:ea typeface="맑은 고딕" panose="020B0503020000020004" pitchFamily="50" charset="-127"/>
              </a:rPr>
              <a:t>년</a:t>
            </a:r>
            <a:r>
              <a:rPr lang="en-US" altLang="ko-KR" sz="1600" b="1" dirty="0">
                <a:ea typeface="맑은 고딕" panose="020B0503020000020004" pitchFamily="50" charset="-127"/>
              </a:rPr>
              <a:t>)</a:t>
            </a:r>
            <a:r>
              <a:rPr lang="ko-KR" altLang="en-US" sz="1600" b="1" dirty="0">
                <a:ea typeface="맑은 고딕" panose="020B0503020000020004" pitchFamily="50" charset="-127"/>
              </a:rPr>
              <a:t> 전후 상황</a:t>
            </a:r>
            <a:endParaRPr lang="en-US" altLang="ko-KR" sz="1600" b="1" dirty="0">
              <a:ea typeface="맑은 고딕" panose="020B0503020000020004" pitchFamily="50" charset="-127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dirty="0" err="1">
                <a:ea typeface="맑은 고딕" panose="020B0503020000020004" pitchFamily="50" charset="-127"/>
              </a:rPr>
              <a:t>북부독일을</a:t>
            </a:r>
            <a:r>
              <a:rPr lang="ko-KR" altLang="en-US" sz="1400" dirty="0">
                <a:ea typeface="맑은 고딕" panose="020B0503020000020004" pitchFamily="50" charset="-127"/>
              </a:rPr>
              <a:t> 통일한 비스마르크는 </a:t>
            </a:r>
            <a:r>
              <a:rPr lang="ko-KR" altLang="en-US" sz="1400" dirty="0" err="1">
                <a:ea typeface="맑은 고딕" panose="020B0503020000020004" pitchFamily="50" charset="-127"/>
              </a:rPr>
              <a:t>남부독일을</a:t>
            </a:r>
            <a:r>
              <a:rPr lang="ko-KR" altLang="en-US" sz="1400" dirty="0">
                <a:ea typeface="맑은 고딕" panose="020B0503020000020004" pitchFamily="50" charset="-127"/>
              </a:rPr>
              <a:t> 통일하기 위해 프랑스와의 전쟁이 불가피하다고 인식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ko-KR" sz="300" dirty="0">
              <a:ea typeface="맑은 고딕" panose="020B0503020000020004" pitchFamily="50" charset="-127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프랑스</a:t>
            </a:r>
            <a:r>
              <a:rPr lang="en-US" altLang="ko-KR" sz="1400" dirty="0">
                <a:ea typeface="맑은 고딕" panose="020B0503020000020004" pitchFamily="50" charset="-127"/>
              </a:rPr>
              <a:t>-</a:t>
            </a:r>
            <a:r>
              <a:rPr lang="ko-KR" altLang="en-US" sz="1400" dirty="0">
                <a:ea typeface="맑은 고딕" panose="020B0503020000020004" pitchFamily="50" charset="-127"/>
              </a:rPr>
              <a:t>프로이센 관계 악화</a:t>
            </a:r>
            <a:r>
              <a:rPr lang="en-US" altLang="ko-KR" sz="1400" dirty="0">
                <a:ea typeface="맑은 고딕" panose="020B0503020000020004" pitchFamily="50" charset="-127"/>
              </a:rPr>
              <a:t>&gt;&gt;</a:t>
            </a:r>
            <a:r>
              <a:rPr lang="ko-KR" altLang="en-US" sz="1400" dirty="0" err="1">
                <a:ea typeface="맑은 고딕" panose="020B0503020000020004" pitchFamily="50" charset="-127"/>
              </a:rPr>
              <a:t>전쟁발발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① 프랑스는 </a:t>
            </a:r>
            <a:r>
              <a:rPr lang="ko-KR" altLang="en-US" sz="1400" dirty="0" err="1">
                <a:ea typeface="맑은 고딕" panose="020B0503020000020004" pitchFamily="50" charset="-127"/>
              </a:rPr>
              <a:t>독오</a:t>
            </a:r>
            <a:r>
              <a:rPr lang="en-US" altLang="ko-KR" sz="1400" dirty="0">
                <a:ea typeface="맑은 고딕" panose="020B0503020000020004" pitchFamily="50" charset="-127"/>
              </a:rPr>
              <a:t>(</a:t>
            </a:r>
            <a:r>
              <a:rPr lang="ko-KR" altLang="en-US" sz="1400" dirty="0" err="1">
                <a:ea typeface="맑은 고딕" panose="020B0503020000020004" pitchFamily="50" charset="-127"/>
              </a:rPr>
              <a:t>보오</a:t>
            </a:r>
            <a:r>
              <a:rPr lang="en-US" altLang="ko-KR" sz="1400" dirty="0"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ea typeface="맑은 고딕" panose="020B0503020000020004" pitchFamily="50" charset="-127"/>
              </a:rPr>
              <a:t>전쟁 중재의 대가로 </a:t>
            </a:r>
            <a:r>
              <a:rPr lang="ko-KR" altLang="en-US" sz="1400" dirty="0" err="1">
                <a:ea typeface="맑은 고딕" panose="020B0503020000020004" pitchFamily="50" charset="-127"/>
              </a:rPr>
              <a:t>라인강</a:t>
            </a:r>
            <a:r>
              <a:rPr lang="ko-KR" altLang="en-US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ea typeface="맑은 고딕" panose="020B0503020000020004" pitchFamily="50" charset="-127"/>
              </a:rPr>
              <a:t>좌안의</a:t>
            </a:r>
            <a:r>
              <a:rPr lang="ko-KR" altLang="en-US" sz="1400" dirty="0">
                <a:ea typeface="맑은 고딕" panose="020B0503020000020004" pitchFamily="50" charset="-127"/>
              </a:rPr>
              <a:t> 독일 영토를 강력히 요구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세력이 커져 가는 프랑스를 프로이센은 </a:t>
            </a:r>
            <a:r>
              <a:rPr lang="en-US" altLang="ko-KR" sz="1400" dirty="0">
                <a:ea typeface="맑은 고딕" panose="020B0503020000020004" pitchFamily="50" charset="-127"/>
              </a:rPr>
              <a:t>   </a:t>
            </a: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dirty="0">
                <a:ea typeface="맑은 고딕" panose="020B0503020000020004" pitchFamily="50" charset="-127"/>
              </a:rPr>
              <a:t>   </a:t>
            </a:r>
            <a:r>
              <a:rPr lang="ko-KR" altLang="en-US" sz="1400" dirty="0">
                <a:ea typeface="맑은 고딕" panose="020B0503020000020004" pitchFamily="50" charset="-127"/>
              </a:rPr>
              <a:t>위협적으로 인식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② 나폴레옹</a:t>
            </a:r>
            <a:r>
              <a:rPr lang="en-US" altLang="ko-KR" sz="1400" dirty="0">
                <a:ea typeface="맑은 고딕" panose="020B0503020000020004" pitchFamily="50" charset="-127"/>
              </a:rPr>
              <a:t>3</a:t>
            </a:r>
            <a:r>
              <a:rPr lang="ko-KR" altLang="en-US" sz="1400" dirty="0">
                <a:ea typeface="맑은 고딕" panose="020B0503020000020004" pitchFamily="50" charset="-127"/>
              </a:rPr>
              <a:t>세는 룩셈부르크를 </a:t>
            </a:r>
            <a:r>
              <a:rPr lang="ko-KR" altLang="en-US" sz="1400" dirty="0" err="1">
                <a:ea typeface="맑은 고딕" panose="020B0503020000020004" pitchFamily="50" charset="-127"/>
              </a:rPr>
              <a:t>합병코자</a:t>
            </a:r>
            <a:r>
              <a:rPr lang="ko-KR" altLang="en-US" sz="1400" dirty="0">
                <a:ea typeface="맑은 고딕" panose="020B0503020000020004" pitchFamily="50" charset="-127"/>
              </a:rPr>
              <a:t> 했으나 프로이센이 반대</a:t>
            </a:r>
            <a:r>
              <a:rPr lang="en-US" altLang="ko-KR" sz="1400" dirty="0">
                <a:ea typeface="맑은 고딕" panose="020B0503020000020004" pitchFamily="50" charset="-127"/>
              </a:rPr>
              <a:t>, 1867.05.11. </a:t>
            </a:r>
            <a:r>
              <a:rPr lang="ko-KR" altLang="en-US" sz="1400" dirty="0">
                <a:ea typeface="맑은 고딕" panose="020B0503020000020004" pitchFamily="50" charset="-127"/>
              </a:rPr>
              <a:t>런던조약을 통해 룩셈부르크는 영세중립국이 됨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룩셈부르크는 원래 프로이센연방의 구성원이었으나 </a:t>
            </a:r>
            <a:r>
              <a:rPr lang="ko-KR" altLang="en-US" sz="1400" dirty="0" err="1">
                <a:ea typeface="맑은 고딕" panose="020B0503020000020004" pitchFamily="50" charset="-127"/>
              </a:rPr>
              <a:t>북프로이센연방</a:t>
            </a:r>
            <a:r>
              <a:rPr lang="ko-KR" altLang="en-US" sz="1400" dirty="0">
                <a:ea typeface="맑은 고딕" panose="020B0503020000020004" pitchFamily="50" charset="-127"/>
              </a:rPr>
              <a:t> 성립 시 제외되었음에도 프로이센이 주둔하고 있었음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이로 인해 프랑스는 프로이센에 크게 불만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③ </a:t>
            </a:r>
            <a:r>
              <a:rPr lang="en-US" altLang="ko-KR" sz="1400" dirty="0">
                <a:ea typeface="맑은 고딕" panose="020B0503020000020004" pitchFamily="50" charset="-127"/>
              </a:rPr>
              <a:t>1868</a:t>
            </a:r>
            <a:r>
              <a:rPr lang="ko-KR" altLang="en-US" sz="1400" dirty="0">
                <a:ea typeface="맑은 고딕" panose="020B0503020000020004" pitchFamily="50" charset="-127"/>
              </a:rPr>
              <a:t>년 스페인 내란과 왕위계승 문제에서 프랑스와 프로이센 강력 대립</a:t>
            </a:r>
            <a:r>
              <a:rPr lang="en-US" altLang="ko-KR" sz="1400" dirty="0">
                <a:ea typeface="맑은 고딕" panose="020B0503020000020004" pitchFamily="50" charset="-127"/>
              </a:rPr>
              <a:t>&gt;&gt;&gt;</a:t>
            </a:r>
            <a:r>
              <a:rPr lang="ko-KR" altLang="en-US" sz="1400" dirty="0">
                <a:ea typeface="맑은 고딕" panose="020B0503020000020004" pitchFamily="50" charset="-127"/>
              </a:rPr>
              <a:t> 전쟁 발발의 도화선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④ 러시아는 프랑스</a:t>
            </a:r>
            <a:r>
              <a:rPr lang="en-US" altLang="ko-KR" sz="1400" dirty="0">
                <a:ea typeface="맑은 고딕" panose="020B0503020000020004" pitchFamily="50" charset="-127"/>
              </a:rPr>
              <a:t>-</a:t>
            </a:r>
            <a:r>
              <a:rPr lang="ko-KR" altLang="en-US" sz="1400" dirty="0">
                <a:ea typeface="맑은 고딕" panose="020B0503020000020004" pitchFamily="50" charset="-127"/>
              </a:rPr>
              <a:t>프로이센 전쟁 발발 시</a:t>
            </a:r>
            <a:r>
              <a:rPr lang="en-US" altLang="ko-KR" sz="1400" dirty="0">
                <a:ea typeface="맑은 고딕" panose="020B0503020000020004" pitchFamily="50" charset="-127"/>
              </a:rPr>
              <a:t>,</a:t>
            </a:r>
            <a:r>
              <a:rPr lang="ko-KR" altLang="en-US" sz="1400" dirty="0">
                <a:ea typeface="맑은 고딕" panose="020B0503020000020004" pitchFamily="50" charset="-127"/>
              </a:rPr>
              <a:t> 군대를 오스트리아</a:t>
            </a:r>
            <a:r>
              <a:rPr lang="en-US" altLang="ko-KR" sz="1400" dirty="0">
                <a:ea typeface="맑은 고딕" panose="020B0503020000020004" pitchFamily="50" charset="-127"/>
              </a:rPr>
              <a:t>-</a:t>
            </a:r>
            <a:r>
              <a:rPr lang="ko-KR" altLang="en-US" sz="1400" dirty="0">
                <a:ea typeface="맑은 고딕" panose="020B0503020000020004" pitchFamily="50" charset="-127"/>
              </a:rPr>
              <a:t>헝가리 국경에 집결시켜 오스트리아를 견제하겠다고 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ea typeface="맑은 고딕" panose="020B0503020000020004" pitchFamily="50" charset="-127"/>
              </a:rPr>
              <a:t>약속</a:t>
            </a:r>
            <a:endParaRPr lang="en-US" altLang="ko-KR" sz="300" dirty="0">
              <a:ea typeface="맑은 고딕" panose="020B0503020000020004" pitchFamily="50" charset="-127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" dirty="0">
              <a:ea typeface="맑은 고딕" panose="020B0503020000020004" pitchFamily="50" charset="-127"/>
            </a:endParaRPr>
          </a:p>
          <a:p>
            <a:r>
              <a:rPr lang="ko-KR" altLang="ko-KR" sz="1400" dirty="0">
                <a:latin typeface="+mn-ea"/>
                <a:ea typeface="+mn-ea"/>
              </a:rPr>
              <a:t>⑤</a:t>
            </a:r>
            <a:r>
              <a:rPr lang="en-US" altLang="ko-KR" sz="1400" dirty="0">
                <a:latin typeface="+mn-ea"/>
                <a:ea typeface="+mn-ea"/>
              </a:rPr>
              <a:t> 1870.7.19 </a:t>
            </a:r>
            <a:r>
              <a:rPr lang="ko-KR" altLang="en-US" sz="1400" dirty="0">
                <a:latin typeface="+mn-ea"/>
                <a:ea typeface="+mn-ea"/>
              </a:rPr>
              <a:t>프랑스가 전쟁 선포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그러나 </a:t>
            </a:r>
            <a:r>
              <a:rPr lang="en-US" altLang="ko-KR" sz="1400" dirty="0">
                <a:latin typeface="+mn-ea"/>
                <a:ea typeface="+mn-ea"/>
              </a:rPr>
              <a:t>1871.1.28. </a:t>
            </a:r>
            <a:r>
              <a:rPr lang="ko-KR" altLang="en-US" sz="1400" dirty="0">
                <a:latin typeface="+mn-ea"/>
                <a:ea typeface="+mn-ea"/>
              </a:rPr>
              <a:t>파리 함락으로 프랑스 항복</a:t>
            </a:r>
            <a:r>
              <a:rPr lang="en-US" altLang="ko-KR" sz="1400" dirty="0">
                <a:latin typeface="+mn-ea"/>
                <a:ea typeface="+mn-ea"/>
              </a:rPr>
              <a:t>, 1871.5.10. </a:t>
            </a:r>
            <a:r>
              <a:rPr lang="ko-KR" altLang="en-US" sz="1400" dirty="0">
                <a:latin typeface="+mn-ea"/>
                <a:ea typeface="+mn-ea"/>
              </a:rPr>
              <a:t>프랑크푸르트 강화조약 체결</a:t>
            </a:r>
            <a:endParaRPr lang="en-US" altLang="ko-KR" sz="1400" dirty="0">
              <a:latin typeface="+mn-ea"/>
              <a:ea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+mn-ea"/>
                <a:ea typeface="+mn-ea"/>
              </a:rPr>
              <a:t>프랑스는 </a:t>
            </a:r>
            <a:r>
              <a:rPr lang="ko-KR" altLang="en-US" sz="1400" dirty="0" err="1">
                <a:latin typeface="+mn-ea"/>
                <a:ea typeface="+mn-ea"/>
              </a:rPr>
              <a:t>알사스</a:t>
            </a:r>
            <a:r>
              <a:rPr lang="ko-KR" altLang="en-US" sz="1400" dirty="0">
                <a:latin typeface="+mn-ea"/>
                <a:ea typeface="+mn-ea"/>
              </a:rPr>
              <a:t> 전부와 로렌 일부를 할양하고 </a:t>
            </a:r>
            <a:r>
              <a:rPr lang="en-US" altLang="ko-KR" sz="1400" dirty="0">
                <a:latin typeface="+mn-ea"/>
                <a:ea typeface="+mn-ea"/>
              </a:rPr>
              <a:t>50</a:t>
            </a:r>
            <a:r>
              <a:rPr lang="ko-KR" altLang="en-US" sz="1400" dirty="0" err="1">
                <a:latin typeface="+mn-ea"/>
                <a:ea typeface="+mn-ea"/>
              </a:rPr>
              <a:t>억프랑의</a:t>
            </a:r>
            <a:r>
              <a:rPr lang="ko-KR" altLang="en-US" sz="1400" dirty="0">
                <a:latin typeface="+mn-ea"/>
                <a:ea typeface="+mn-ea"/>
              </a:rPr>
              <a:t> 배상금 지급</a:t>
            </a: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6198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718516" y="629808"/>
            <a:ext cx="3580467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통일 독일의 출현 과정 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324879" y="1153028"/>
            <a:ext cx="10585176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ea typeface="맑은 고딕" panose="020B0503020000020004" pitchFamily="50" charset="-127"/>
              </a:rPr>
              <a:t>&lt;</a:t>
            </a:r>
            <a:r>
              <a:rPr lang="ko-KR" altLang="en-US" sz="1600" b="1" dirty="0">
                <a:ea typeface="맑은 고딕" panose="020B0503020000020004" pitchFamily="50" charset="-127"/>
              </a:rPr>
              <a:t>참고</a:t>
            </a:r>
            <a:r>
              <a:rPr lang="en-US" altLang="ko-KR" sz="1600" b="1" dirty="0">
                <a:ea typeface="맑은 고딕" panose="020B0503020000020004" pitchFamily="50" charset="-127"/>
              </a:rPr>
              <a:t>&gt; </a:t>
            </a:r>
            <a:r>
              <a:rPr lang="ko-KR" altLang="en-US" sz="1600" b="1" dirty="0">
                <a:ea typeface="맑은 고딕" panose="020B0503020000020004" pitchFamily="50" charset="-127"/>
              </a:rPr>
              <a:t>프랑스</a:t>
            </a:r>
            <a:r>
              <a:rPr lang="en-US" altLang="ko-KR" sz="1600" b="1" dirty="0">
                <a:ea typeface="맑은 고딕" panose="020B0503020000020004" pitchFamily="50" charset="-127"/>
              </a:rPr>
              <a:t>-</a:t>
            </a:r>
            <a:r>
              <a:rPr lang="ko-KR" altLang="en-US" sz="1600" b="1" dirty="0">
                <a:ea typeface="맑은 고딕" panose="020B0503020000020004" pitchFamily="50" charset="-127"/>
              </a:rPr>
              <a:t>프로이센 전쟁</a:t>
            </a:r>
            <a:r>
              <a:rPr lang="en-US" altLang="ko-KR" sz="1600" b="1" dirty="0">
                <a:ea typeface="맑은 고딕" panose="020B0503020000020004" pitchFamily="50" charset="-127"/>
              </a:rPr>
              <a:t>(1870-1871</a:t>
            </a:r>
            <a:r>
              <a:rPr lang="ko-KR" altLang="en-US" sz="1600" b="1" dirty="0">
                <a:ea typeface="맑은 고딕" panose="020B0503020000020004" pitchFamily="50" charset="-127"/>
              </a:rPr>
              <a:t>년</a:t>
            </a:r>
            <a:r>
              <a:rPr lang="en-US" altLang="ko-KR" sz="1600" b="1" dirty="0">
                <a:ea typeface="맑은 고딕" panose="020B0503020000020004" pitchFamily="50" charset="-127"/>
              </a:rPr>
              <a:t>=</a:t>
            </a:r>
            <a:r>
              <a:rPr lang="ko-KR" altLang="en-US" sz="1600" b="1" dirty="0" err="1">
                <a:ea typeface="맑은 고딕" panose="020B0503020000020004" pitchFamily="50" charset="-127"/>
              </a:rPr>
              <a:t>보불전쟁</a:t>
            </a:r>
            <a:r>
              <a:rPr lang="en-US" altLang="ko-KR" sz="1600" b="1" dirty="0">
                <a:ea typeface="맑은 고딕" panose="020B0503020000020004" pitchFamily="50" charset="-127"/>
              </a:rPr>
              <a:t>)</a:t>
            </a:r>
            <a:r>
              <a:rPr lang="ko-KR" altLang="en-US" sz="1600" b="1" dirty="0">
                <a:ea typeface="맑은 고딕" panose="020B0503020000020004" pitchFamily="50" charset="-127"/>
              </a:rPr>
              <a:t>의 도화선</a:t>
            </a:r>
            <a:r>
              <a:rPr lang="en-US" altLang="ko-KR" sz="1600" b="1" dirty="0">
                <a:ea typeface="맑은 고딕" panose="020B0503020000020004" pitchFamily="50" charset="-127"/>
              </a:rPr>
              <a:t>: &lt;</a:t>
            </a:r>
            <a:r>
              <a:rPr lang="ko-KR" altLang="en-US" sz="1600" b="1" dirty="0" err="1">
                <a:ea typeface="맑은 고딕" panose="020B0503020000020004" pitchFamily="50" charset="-127"/>
              </a:rPr>
              <a:t>엠스</a:t>
            </a:r>
            <a:r>
              <a:rPr lang="ko-KR" altLang="en-US" sz="1600" b="1" dirty="0">
                <a:ea typeface="맑은 고딕" panose="020B0503020000020004" pitchFamily="50" charset="-127"/>
              </a:rPr>
              <a:t> 전보</a:t>
            </a:r>
            <a:r>
              <a:rPr lang="en-US" altLang="ko-KR" sz="1600" b="1" dirty="0">
                <a:ea typeface="맑은 고딕" panose="020B0503020000020004" pitchFamily="50" charset="-127"/>
              </a:rPr>
              <a:t>&gt;</a:t>
            </a:r>
            <a:r>
              <a:rPr lang="ko-KR" altLang="en-US" sz="1600" b="1" dirty="0">
                <a:ea typeface="맑은 고딕" panose="020B0503020000020004" pitchFamily="50" charset="-127"/>
              </a:rPr>
              <a:t> 사건</a:t>
            </a:r>
            <a:endParaRPr lang="en-US" altLang="ko-KR" sz="1600" b="1" dirty="0"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6B830A-AECD-1AE8-B06B-C6D6EE64152D}"/>
              </a:ext>
            </a:extLst>
          </p:cNvPr>
          <p:cNvSpPr txBox="1"/>
          <p:nvPr/>
        </p:nvSpPr>
        <p:spPr>
          <a:xfrm>
            <a:off x="1345467" y="1749795"/>
            <a:ext cx="1029714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l"/>
            </a:pPr>
            <a:r>
              <a:rPr lang="ko-KR" altLang="en-US" sz="1600" dirty="0" err="1">
                <a:latin typeface="+mn-ea"/>
                <a:ea typeface="+mn-ea"/>
              </a:rPr>
              <a:t>보불전쟁의</a:t>
            </a:r>
            <a:r>
              <a:rPr lang="ko-KR" altLang="en-US" sz="1600" dirty="0">
                <a:latin typeface="+mn-ea"/>
                <a:ea typeface="+mn-ea"/>
              </a:rPr>
              <a:t> 표면적 도화선은 </a:t>
            </a:r>
            <a:r>
              <a:rPr lang="en-US" altLang="ko-KR" sz="1600" dirty="0">
                <a:latin typeface="+mn-ea"/>
                <a:ea typeface="+mn-ea"/>
              </a:rPr>
              <a:t>1868</a:t>
            </a:r>
            <a:r>
              <a:rPr lang="ko-KR" altLang="en-US" sz="1600" dirty="0">
                <a:latin typeface="+mn-ea"/>
                <a:ea typeface="+mn-ea"/>
              </a:rPr>
              <a:t>년 스페인 내란 및 왕위계승 문제로 비롯된 </a:t>
            </a:r>
            <a:r>
              <a:rPr lang="en-US" altLang="ko-KR" sz="1600" dirty="0">
                <a:latin typeface="+mn-ea"/>
                <a:ea typeface="+mn-ea"/>
              </a:rPr>
              <a:t>&lt;</a:t>
            </a:r>
            <a:r>
              <a:rPr lang="ko-KR" altLang="en-US" sz="1600" dirty="0" err="1">
                <a:latin typeface="+mn-ea"/>
                <a:ea typeface="+mn-ea"/>
              </a:rPr>
              <a:t>엠스</a:t>
            </a:r>
            <a:r>
              <a:rPr lang="ko-KR" altLang="en-US" sz="1600" dirty="0">
                <a:latin typeface="+mn-ea"/>
                <a:ea typeface="+mn-ea"/>
              </a:rPr>
              <a:t> 전보</a:t>
            </a:r>
            <a:r>
              <a:rPr lang="en-US" altLang="ko-KR" sz="1600" dirty="0">
                <a:latin typeface="+mn-ea"/>
                <a:ea typeface="+mn-ea"/>
              </a:rPr>
              <a:t>&gt;</a:t>
            </a:r>
            <a:r>
              <a:rPr lang="ko-KR" altLang="en-US" sz="1600" dirty="0">
                <a:latin typeface="+mn-ea"/>
                <a:ea typeface="+mn-ea"/>
              </a:rPr>
              <a:t>사건</a:t>
            </a:r>
            <a:r>
              <a:rPr lang="en-US" altLang="ko-KR" sz="1600" dirty="0">
                <a:latin typeface="+mn-ea"/>
                <a:ea typeface="+mn-ea"/>
              </a:rPr>
              <a:t>  </a:t>
            </a:r>
          </a:p>
          <a:p>
            <a:pPr algn="just"/>
            <a:endParaRPr lang="en-US" altLang="ko-KR" sz="1600" dirty="0">
              <a:latin typeface="+mn-ea"/>
              <a:ea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  <a:ea typeface="+mn-ea"/>
              </a:rPr>
              <a:t>1868</a:t>
            </a:r>
            <a:r>
              <a:rPr lang="ko-KR" altLang="en-US" sz="1600" dirty="0">
                <a:latin typeface="+mn-ea"/>
                <a:ea typeface="+mn-ea"/>
              </a:rPr>
              <a:t>년 스페인 </a:t>
            </a:r>
            <a:r>
              <a:rPr lang="ko-KR" altLang="en-US" sz="1600" dirty="0" err="1">
                <a:latin typeface="+mn-ea"/>
                <a:ea typeface="+mn-ea"/>
              </a:rPr>
              <a:t>이사벨라</a:t>
            </a:r>
            <a:r>
              <a:rPr lang="en-US" altLang="ko-KR" sz="1600" dirty="0">
                <a:latin typeface="+mn-ea"/>
                <a:ea typeface="+mn-ea"/>
              </a:rPr>
              <a:t>2</a:t>
            </a:r>
            <a:r>
              <a:rPr lang="ko-KR" altLang="en-US" sz="1600" dirty="0">
                <a:latin typeface="+mn-ea"/>
                <a:ea typeface="+mn-ea"/>
              </a:rPr>
              <a:t>세 여왕이 급진자유주의 혁명으로 실각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혼란속에 입헌군주제 수립 후 스페인 측은 프로이센 국왕 빌헬름 </a:t>
            </a:r>
            <a:r>
              <a:rPr lang="en-US" altLang="ko-KR" sz="1600" dirty="0">
                <a:latin typeface="+mn-ea"/>
                <a:ea typeface="+mn-ea"/>
              </a:rPr>
              <a:t>1</a:t>
            </a:r>
            <a:r>
              <a:rPr lang="ko-KR" altLang="en-US" sz="1600" dirty="0">
                <a:latin typeface="+mn-ea"/>
                <a:ea typeface="+mn-ea"/>
              </a:rPr>
              <a:t>세의 친척이자 프로이센왕실의 방계인 </a:t>
            </a:r>
            <a:r>
              <a:rPr lang="ko-KR" altLang="en-US" sz="1600" dirty="0" err="1">
                <a:latin typeface="+mn-ea"/>
                <a:ea typeface="+mn-ea"/>
              </a:rPr>
              <a:t>호엔촐레른</a:t>
            </a:r>
            <a:r>
              <a:rPr lang="en-US" altLang="ko-KR" sz="1600" dirty="0">
                <a:latin typeface="+mn-ea"/>
                <a:ea typeface="+mn-ea"/>
              </a:rPr>
              <a:t>-</a:t>
            </a:r>
            <a:r>
              <a:rPr lang="ko-KR" altLang="en-US" sz="1600" dirty="0" err="1">
                <a:latin typeface="+mn-ea"/>
                <a:ea typeface="+mn-ea"/>
              </a:rPr>
              <a:t>지크마링겐가의</a:t>
            </a:r>
            <a:r>
              <a:rPr lang="ko-KR" altLang="en-US" sz="1600" dirty="0">
                <a:latin typeface="+mn-ea"/>
                <a:ea typeface="+mn-ea"/>
              </a:rPr>
              <a:t> </a:t>
            </a:r>
            <a:r>
              <a:rPr lang="ko-KR" altLang="en-US" sz="1600" dirty="0" err="1">
                <a:latin typeface="+mn-ea"/>
                <a:ea typeface="+mn-ea"/>
              </a:rPr>
              <a:t>레오폴트공에게</a:t>
            </a:r>
            <a:r>
              <a:rPr lang="ko-KR" altLang="en-US" sz="1600" dirty="0">
                <a:latin typeface="+mn-ea"/>
                <a:ea typeface="+mn-ea"/>
              </a:rPr>
              <a:t> 왕위계승을 제안</a:t>
            </a:r>
            <a:endParaRPr lang="en-US" altLang="ko-KR" sz="1600" dirty="0">
              <a:latin typeface="+mn-ea"/>
              <a:ea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이에 프랑스가 크게 반발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스페인은 그동안 </a:t>
            </a:r>
            <a:r>
              <a:rPr lang="ko-KR" altLang="en-US" sz="1600" dirty="0" err="1">
                <a:latin typeface="+mn-ea"/>
                <a:ea typeface="+mn-ea"/>
              </a:rPr>
              <a:t>부르봉</a:t>
            </a:r>
            <a:r>
              <a:rPr lang="ko-KR" altLang="en-US" sz="1600" dirty="0">
                <a:latin typeface="+mn-ea"/>
                <a:ea typeface="+mn-ea"/>
              </a:rPr>
              <a:t> 왕가로 이어졌기에</a:t>
            </a:r>
            <a:r>
              <a:rPr lang="en-US" altLang="ko-KR" sz="1600" dirty="0">
                <a:latin typeface="+mn-ea"/>
                <a:ea typeface="+mn-ea"/>
              </a:rPr>
              <a:t>,</a:t>
            </a:r>
            <a:r>
              <a:rPr lang="ko-KR" altLang="en-US" sz="1600" dirty="0">
                <a:latin typeface="+mn-ea"/>
                <a:ea typeface="+mn-ea"/>
              </a:rPr>
              <a:t> 프로이센계가 스페인 왕위를 계승하면 프랑스 입장에선 지정학적으로 프로이센계에 의해 좌우로 포위되는 셈</a:t>
            </a:r>
            <a:endParaRPr lang="en-US" altLang="ko-KR" sz="1600" dirty="0">
              <a:latin typeface="+mn-ea"/>
              <a:ea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  <a:ea typeface="+mn-ea"/>
              </a:rPr>
              <a:t>1870. 7. 11 </a:t>
            </a:r>
            <a:r>
              <a:rPr lang="ko-KR" altLang="en-US" sz="1600" dirty="0" err="1">
                <a:latin typeface="+mn-ea"/>
                <a:ea typeface="+mn-ea"/>
              </a:rPr>
              <a:t>레오폴트는</a:t>
            </a:r>
            <a:r>
              <a:rPr lang="ko-KR" altLang="en-US" sz="1600" dirty="0">
                <a:latin typeface="+mn-ea"/>
                <a:ea typeface="+mn-ea"/>
              </a:rPr>
              <a:t> 스페인 왕위 수락을 철회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그러나 프랑스는 </a:t>
            </a:r>
            <a:r>
              <a:rPr lang="ko-KR" altLang="en-US" sz="1600" dirty="0" err="1">
                <a:latin typeface="+mn-ea"/>
                <a:ea typeface="+mn-ea"/>
              </a:rPr>
              <a:t>주프로이센</a:t>
            </a:r>
            <a:r>
              <a:rPr lang="ko-KR" altLang="en-US" sz="1600" dirty="0">
                <a:latin typeface="+mn-ea"/>
                <a:ea typeface="+mn-ea"/>
              </a:rPr>
              <a:t> 대사를 바트 </a:t>
            </a:r>
            <a:r>
              <a:rPr lang="ko-KR" altLang="en-US" sz="1600" dirty="0" err="1">
                <a:latin typeface="+mn-ea"/>
                <a:ea typeface="+mn-ea"/>
              </a:rPr>
              <a:t>엠스</a:t>
            </a:r>
            <a:r>
              <a:rPr lang="en-US" altLang="ko-KR" sz="1600" dirty="0">
                <a:latin typeface="+mn-ea"/>
                <a:ea typeface="+mn-ea"/>
              </a:rPr>
              <a:t>(Bad Ems)</a:t>
            </a:r>
            <a:r>
              <a:rPr lang="ko-KR" altLang="en-US" sz="1600" dirty="0">
                <a:latin typeface="+mn-ea"/>
                <a:ea typeface="+mn-ea"/>
              </a:rPr>
              <a:t>에 보내 휴양 중이던 빌헬름 </a:t>
            </a:r>
            <a:r>
              <a:rPr lang="en-US" altLang="ko-KR" sz="1600" dirty="0">
                <a:latin typeface="+mn-ea"/>
                <a:ea typeface="+mn-ea"/>
              </a:rPr>
              <a:t>1</a:t>
            </a:r>
            <a:r>
              <a:rPr lang="ko-KR" altLang="en-US" sz="1600" dirty="0">
                <a:latin typeface="+mn-ea"/>
                <a:ea typeface="+mn-ea"/>
              </a:rPr>
              <a:t>세에게 비공식 접견을 요청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 err="1">
                <a:latin typeface="+mn-ea"/>
                <a:ea typeface="+mn-ea"/>
              </a:rPr>
              <a:t>호엔촐레른</a:t>
            </a:r>
            <a:r>
              <a:rPr lang="ko-KR" altLang="en-US" sz="1600" dirty="0">
                <a:latin typeface="+mn-ea"/>
                <a:ea typeface="+mn-ea"/>
              </a:rPr>
              <a:t> 가문이 절대 스페인 왕위에 오르지 않겠다고 보장해 달라</a:t>
            </a:r>
            <a:r>
              <a:rPr lang="en-US" altLang="ko-KR" sz="1600" dirty="0">
                <a:latin typeface="+mn-ea"/>
                <a:ea typeface="+mn-ea"/>
              </a:rPr>
              <a:t>'</a:t>
            </a:r>
            <a:r>
              <a:rPr lang="ko-KR" altLang="en-US" sz="1600" dirty="0">
                <a:latin typeface="+mn-ea"/>
                <a:ea typeface="+mn-ea"/>
              </a:rPr>
              <a:t>는 요구를 전달하려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불쑥 찾아온 프랑스대사를 만난 빌헬름</a:t>
            </a:r>
            <a:r>
              <a:rPr lang="en-US" altLang="ko-KR" sz="1600" dirty="0">
                <a:latin typeface="+mn-ea"/>
                <a:ea typeface="+mn-ea"/>
              </a:rPr>
              <a:t>1</a:t>
            </a:r>
            <a:r>
              <a:rPr lang="ko-KR" altLang="en-US" sz="1600" dirty="0">
                <a:latin typeface="+mn-ea"/>
                <a:ea typeface="+mn-ea"/>
              </a:rPr>
              <a:t>세는 프랑스의 요구를 정중히 거절하고 이를 재확인하는 서신을 프랑스대사에게 보내고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관련 내용을 비스마르크에게도 전보로 전달했는데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비스마르크가 이를 수정해 언론에 배포</a:t>
            </a:r>
            <a:endParaRPr lang="en-US" altLang="ko-KR" sz="1600" dirty="0">
              <a:latin typeface="+mn-ea"/>
              <a:ea typeface="+mn-ea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ko-KR" sz="1600" dirty="0">
                <a:latin typeface="+mn-ea"/>
                <a:ea typeface="+mn-ea"/>
              </a:rPr>
              <a:t>“</a:t>
            </a:r>
            <a:r>
              <a:rPr lang="ko-KR" altLang="en-US" sz="1600" dirty="0">
                <a:latin typeface="+mn-ea"/>
                <a:ea typeface="+mn-ea"/>
              </a:rPr>
              <a:t>프로이센이 관여한 일이 없으니 보장할 것도 없다</a:t>
            </a:r>
            <a:r>
              <a:rPr lang="en-US" altLang="ko-KR" sz="1600" dirty="0">
                <a:latin typeface="+mn-ea"/>
                <a:ea typeface="+mn-ea"/>
              </a:rPr>
              <a:t>”&gt;&gt;&gt;”(</a:t>
            </a:r>
            <a:r>
              <a:rPr lang="ko-KR" altLang="en-US" sz="1600" dirty="0">
                <a:latin typeface="+mn-ea"/>
                <a:ea typeface="+mn-ea"/>
              </a:rPr>
              <a:t>무례한 요구에 분노한 국왕이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r>
              <a:rPr lang="ko-KR" altLang="en-US" sz="1600" dirty="0">
                <a:latin typeface="+mn-ea"/>
                <a:ea typeface="+mn-ea"/>
              </a:rPr>
              <a:t>프랑스대사의 접견을 거부했다</a:t>
            </a:r>
            <a:r>
              <a:rPr lang="en-US" altLang="ko-KR" sz="1600" dirty="0">
                <a:latin typeface="+mn-ea"/>
                <a:ea typeface="+mn-ea"/>
              </a:rPr>
              <a:t>”</a:t>
            </a:r>
            <a:r>
              <a:rPr lang="ko-KR" altLang="en-US" sz="1600" dirty="0">
                <a:latin typeface="+mn-ea"/>
                <a:ea typeface="+mn-ea"/>
              </a:rPr>
              <a:t> 고 내용이 왜곡됨</a:t>
            </a:r>
            <a:endParaRPr lang="en-US" altLang="ko-KR" sz="1600" dirty="0">
              <a:latin typeface="+mn-ea"/>
              <a:ea typeface="+mn-ea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ko-KR" altLang="en-US" sz="1600" dirty="0">
                <a:latin typeface="+mn-ea"/>
                <a:ea typeface="+mn-ea"/>
              </a:rPr>
              <a:t>프로이센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프랑스</a:t>
            </a:r>
            <a:r>
              <a:rPr lang="en-US" altLang="ko-KR" sz="1600" dirty="0">
                <a:latin typeface="+mn-ea"/>
                <a:ea typeface="+mn-ea"/>
              </a:rPr>
              <a:t>,</a:t>
            </a:r>
            <a:r>
              <a:rPr lang="ko-KR" altLang="en-US" sz="1600" dirty="0">
                <a:latin typeface="+mn-ea"/>
                <a:ea typeface="+mn-ea"/>
              </a:rPr>
              <a:t> 영국 언론사를 통해 배포한 전보 내용은 다시 프랑스 언론에 의해 왜곡됨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프랑스 대사의 요구가 </a:t>
            </a:r>
            <a:r>
              <a:rPr lang="en-US" altLang="ko-KR" sz="1600" dirty="0">
                <a:latin typeface="+mn-ea"/>
                <a:ea typeface="+mn-ea"/>
              </a:rPr>
              <a:t>“</a:t>
            </a:r>
            <a:r>
              <a:rPr lang="ko-KR" altLang="en-US" sz="1600" dirty="0">
                <a:latin typeface="+mn-ea"/>
                <a:ea typeface="+mn-ea"/>
              </a:rPr>
              <a:t>질문</a:t>
            </a:r>
            <a:r>
              <a:rPr lang="en-US" altLang="ko-KR" sz="1600" dirty="0">
                <a:latin typeface="+mn-ea"/>
                <a:ea typeface="+mn-ea"/>
              </a:rPr>
              <a:t>”</a:t>
            </a:r>
            <a:r>
              <a:rPr lang="ko-KR" altLang="en-US" sz="1600" dirty="0">
                <a:latin typeface="+mn-ea"/>
                <a:ea typeface="+mn-ea"/>
              </a:rPr>
              <a:t>으로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이를 전달한 프로이센 황제의 보좌관이 </a:t>
            </a:r>
            <a:r>
              <a:rPr lang="en-US" altLang="ko-KR" sz="1600" dirty="0">
                <a:latin typeface="+mn-ea"/>
                <a:ea typeface="+mn-ea"/>
              </a:rPr>
              <a:t>‘</a:t>
            </a:r>
            <a:r>
              <a:rPr lang="ko-KR" altLang="en-US" sz="1600" dirty="0">
                <a:latin typeface="+mn-ea"/>
                <a:ea typeface="+mn-ea"/>
              </a:rPr>
              <a:t>하급관리</a:t>
            </a:r>
            <a:r>
              <a:rPr lang="en-US" altLang="ko-KR" sz="1600" dirty="0">
                <a:latin typeface="+mn-ea"/>
                <a:ea typeface="+mn-ea"/>
              </a:rPr>
              <a:t>’</a:t>
            </a:r>
            <a:r>
              <a:rPr lang="ko-KR" altLang="en-US" sz="1600" dirty="0">
                <a:latin typeface="+mn-ea"/>
                <a:ea typeface="+mn-ea"/>
              </a:rPr>
              <a:t> 정도의 직책으로 오역되어 프랑스 언론에 발표된 것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결국 질문하러 간 대사를 </a:t>
            </a:r>
            <a:r>
              <a:rPr lang="ko-KR" altLang="en-US" sz="1600" dirty="0" err="1">
                <a:latin typeface="+mn-ea"/>
                <a:ea typeface="+mn-ea"/>
              </a:rPr>
              <a:t>문전박대하고</a:t>
            </a:r>
            <a:r>
              <a:rPr lang="ko-KR" altLang="en-US" sz="1600" dirty="0">
                <a:latin typeface="+mn-ea"/>
                <a:ea typeface="+mn-ea"/>
              </a:rPr>
              <a:t> 하급관리를 통해 프랑스를 모욕했다고 여긴 프랑스의 들끓는 여론에 밀려 나폴레옹</a:t>
            </a:r>
            <a:r>
              <a:rPr lang="en-US" altLang="ko-KR" sz="1600" dirty="0">
                <a:latin typeface="+mn-ea"/>
                <a:ea typeface="+mn-ea"/>
              </a:rPr>
              <a:t>3</a:t>
            </a:r>
            <a:r>
              <a:rPr lang="ko-KR" altLang="en-US" sz="1600" dirty="0">
                <a:latin typeface="+mn-ea"/>
                <a:ea typeface="+mn-ea"/>
              </a:rPr>
              <a:t>세는 전쟁을 선택 </a:t>
            </a:r>
          </a:p>
        </p:txBody>
      </p:sp>
    </p:spTree>
    <p:extLst>
      <p:ext uri="{BB962C8B-B14F-4D97-AF65-F5344CB8AC3E}">
        <p14:creationId xmlns:p14="http://schemas.microsoft.com/office/powerpoint/2010/main" val="1184413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126E4-88F5-30A0-6E58-BE87D6D73CA6}"/>
              </a:ext>
            </a:extLst>
          </p:cNvPr>
          <p:cNvSpPr/>
          <p:nvPr/>
        </p:nvSpPr>
        <p:spPr>
          <a:xfrm>
            <a:off x="1667329" y="1636137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비스마르크의 등장과 통일 독일의 외교적 목표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7AE62C-73F5-0B30-FC0F-26B5D25FE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857" y="2342072"/>
            <a:ext cx="2576867" cy="36025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DC08FA1-A674-8A91-332D-4A53F862820E}"/>
              </a:ext>
            </a:extLst>
          </p:cNvPr>
          <p:cNvSpPr/>
          <p:nvPr/>
        </p:nvSpPr>
        <p:spPr>
          <a:xfrm>
            <a:off x="4777392" y="2380799"/>
            <a:ext cx="7007240" cy="3958036"/>
          </a:xfrm>
          <a:prstGeom prst="rect">
            <a:avLst/>
          </a:prstGeom>
          <a:solidFill>
            <a:schemeClr val="bg1">
              <a:alpha val="90000"/>
            </a:schemeClr>
          </a:solidFill>
          <a:ln w="28575">
            <a:solidFill>
              <a:srgbClr val="4B47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108000" rtlCol="0" anchor="ctr"/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유럽정치질서의 현상유지와 프랑스 고립</a:t>
            </a:r>
            <a:endParaRPr lang="en-US" altLang="ko-KR" sz="16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프로이센의 토지 귀족 출신으로 </a:t>
            </a: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1847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프로이센 의회 의원에 당선</a:t>
            </a:r>
            <a:endParaRPr lang="en-US" altLang="ko-KR" sz="1500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1851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프랑크푸르트에서 열린 독일연방회의에 프로이센 대표로 참석</a:t>
            </a:r>
            <a:endParaRPr lang="en-US" altLang="ko-KR" sz="1500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독일통일을 위해서는 </a:t>
            </a: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오스트리아를 배제해야 한다</a:t>
            </a: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</a:t>
            </a: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小</a:t>
            </a: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독일주의</a:t>
            </a: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</a:p>
          <a:p>
            <a:pPr>
              <a:lnSpc>
                <a:spcPct val="150000"/>
              </a:lnSpc>
            </a:pP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통일관 주장</a:t>
            </a:r>
            <a:endParaRPr lang="en-US" altLang="ko-KR" sz="1500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러시아 및 프랑스 주재 대사를 역임하며 외교감각을 지닌 정치인으로 성장</a:t>
            </a:r>
            <a:endParaRPr lang="en-US" altLang="ko-KR" sz="1500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1862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빌헬름</a:t>
            </a: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세의 지명으로 총리에 취임</a:t>
            </a: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첫 연설에서 군비확장을 주장한</a:t>
            </a:r>
            <a:endParaRPr lang="en-US" altLang="ko-KR" sz="1500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‘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철혈정책</a:t>
            </a: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큰 방향을 일으킴</a:t>
            </a:r>
            <a:endParaRPr lang="en-US" altLang="ko-KR" sz="1500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의회의 반대를 무릅쓰고 군비 확장</a:t>
            </a: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오스트리아 및 프랑스와의 전쟁을 통해</a:t>
            </a:r>
            <a:endParaRPr lang="en-US" altLang="ko-KR" sz="1500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통일 독일 제국 수립에 기여</a:t>
            </a:r>
            <a:endParaRPr lang="en-US" altLang="ko-KR" sz="1500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1871.~1890. </a:t>
            </a:r>
            <a:r>
              <a:rPr lang="ko-KR" altLang="en-US" sz="15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독일제국의 총리로서 유럽 외교 무대 주도</a:t>
            </a:r>
            <a:endParaRPr lang="en-US" altLang="ko-KR" sz="1500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3D947A-159C-5881-2762-21BF14F86768}"/>
              </a:ext>
            </a:extLst>
          </p:cNvPr>
          <p:cNvSpPr txBox="1"/>
          <p:nvPr/>
        </p:nvSpPr>
        <p:spPr>
          <a:xfrm>
            <a:off x="1667329" y="5899946"/>
            <a:ext cx="2953684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 </a:t>
            </a:r>
            <a:endParaRPr lang="en-US" altLang="ko-KR" sz="16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ea typeface="맑은 고딕" panose="020B0503020000020004" pitchFamily="50" charset="-127"/>
              </a:rPr>
              <a:t>(Otto Eduard Leopold von Bismarck/1815.04.01~1898.07.30.)</a:t>
            </a:r>
          </a:p>
        </p:txBody>
      </p:sp>
    </p:spTree>
    <p:extLst>
      <p:ext uri="{BB962C8B-B14F-4D97-AF65-F5344CB8AC3E}">
        <p14:creationId xmlns:p14="http://schemas.microsoft.com/office/powerpoint/2010/main" val="3673840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AA93151-F4A7-B1AB-C2BC-664F96F99755}"/>
              </a:ext>
            </a:extLst>
          </p:cNvPr>
          <p:cNvSpPr/>
          <p:nvPr/>
        </p:nvSpPr>
        <p:spPr>
          <a:xfrm>
            <a:off x="2045574" y="3356992"/>
            <a:ext cx="9955081" cy="79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667329" y="2276872"/>
            <a:ext cx="10585176" cy="2845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600" b="1" dirty="0">
                <a:ea typeface="맑은 고딕" panose="020B0503020000020004" pitchFamily="50" charset="-127"/>
              </a:rPr>
              <a:t>유럽정치질서의 현상유지와 프랑스의 외교적 고립</a:t>
            </a:r>
            <a:endParaRPr lang="en-US" altLang="ko-KR" sz="1600" b="1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500" b="1" dirty="0" err="1">
                <a:ea typeface="맑은 고딕" panose="020B0503020000020004" pitchFamily="50" charset="-127"/>
              </a:rPr>
              <a:t>보불전쟁을</a:t>
            </a:r>
            <a:r>
              <a:rPr lang="ko-KR" altLang="en-US" sz="1500" b="1" dirty="0">
                <a:ea typeface="맑은 고딕" panose="020B0503020000020004" pitchFamily="50" charset="-127"/>
              </a:rPr>
              <a:t> 통해 독일 통일을 이룬</a:t>
            </a:r>
            <a:r>
              <a:rPr lang="ko-KR" altLang="en-US" sz="1500" b="1" dirty="0">
                <a:solidFill>
                  <a:srgbClr val="C00000"/>
                </a:solidFill>
                <a:ea typeface="맑은 고딕" panose="020B0503020000020004" pitchFamily="50" charset="-127"/>
              </a:rPr>
              <a:t> 비스마르크의 대외전략</a:t>
            </a:r>
            <a:endParaRPr lang="en-US" altLang="ko-KR" sz="1500" b="1" dirty="0">
              <a:solidFill>
                <a:srgbClr val="C00000"/>
              </a:solidFill>
              <a:ea typeface="맑은 고딕" panose="020B0503020000020004" pitchFamily="50" charset="-127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500" b="1" dirty="0">
                <a:ea typeface="맑은 고딕" panose="020B0503020000020004" pitchFamily="50" charset="-127"/>
              </a:rPr>
              <a:t>“</a:t>
            </a:r>
            <a:r>
              <a:rPr lang="ko-KR" altLang="en-US" sz="1500" b="1" dirty="0">
                <a:ea typeface="맑은 고딕" panose="020B0503020000020004" pitchFamily="50" charset="-127"/>
              </a:rPr>
              <a:t>프랑스를 외교적으로 고립시키기 위해 독일 주도하에 영국</a:t>
            </a:r>
            <a:r>
              <a:rPr lang="en-US" altLang="ko-KR" sz="1500" b="1" dirty="0">
                <a:ea typeface="맑은 고딕" panose="020B0503020000020004" pitchFamily="50" charset="-127"/>
              </a:rPr>
              <a:t>, </a:t>
            </a:r>
            <a:r>
              <a:rPr lang="ko-KR" altLang="en-US" sz="1500" b="1" dirty="0">
                <a:ea typeface="맑은 고딕" panose="020B0503020000020004" pitchFamily="50" charset="-127"/>
              </a:rPr>
              <a:t>러시아</a:t>
            </a:r>
            <a:r>
              <a:rPr lang="en-US" altLang="ko-KR" sz="1500" b="1" dirty="0">
                <a:ea typeface="맑은 고딕" panose="020B0503020000020004" pitchFamily="50" charset="-127"/>
              </a:rPr>
              <a:t>, </a:t>
            </a:r>
            <a:r>
              <a:rPr lang="ko-KR" altLang="en-US" sz="1500" b="1" dirty="0">
                <a:ea typeface="맑은 고딕" panose="020B0503020000020004" pitchFamily="50" charset="-127"/>
              </a:rPr>
              <a:t>오스트리아</a:t>
            </a:r>
            <a:r>
              <a:rPr lang="en-US" altLang="ko-KR" sz="1500" b="1" dirty="0">
                <a:ea typeface="맑은 고딕" panose="020B0503020000020004" pitchFamily="50" charset="-127"/>
              </a:rPr>
              <a:t>, </a:t>
            </a:r>
            <a:r>
              <a:rPr lang="ko-KR" altLang="en-US" sz="1500" b="1" dirty="0">
                <a:ea typeface="맑은 고딕" panose="020B0503020000020004" pitchFamily="50" charset="-127"/>
              </a:rPr>
              <a:t>이태리 등 다른 열강을 외교적</a:t>
            </a:r>
            <a:endParaRPr lang="en-US" altLang="ko-KR" sz="1500" b="1" dirty="0">
              <a:ea typeface="맑은 고딕" panose="020B0503020000020004" pitchFamily="50" charset="-127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ea typeface="맑은 고딕" panose="020B0503020000020004" pitchFamily="50" charset="-127"/>
              </a:rPr>
              <a:t>      </a:t>
            </a:r>
            <a:r>
              <a:rPr lang="ko-KR" altLang="en-US" sz="1500" b="1" dirty="0">
                <a:ea typeface="맑은 고딕" panose="020B0503020000020004" pitchFamily="50" charset="-127"/>
              </a:rPr>
              <a:t>으로 묶어야 한다</a:t>
            </a:r>
            <a:r>
              <a:rPr lang="en-US" altLang="ko-KR" sz="1500" b="1" dirty="0">
                <a:ea typeface="맑은 고딕" panose="020B0503020000020004" pitchFamily="50" charset="-127"/>
              </a:rPr>
              <a:t>.”</a:t>
            </a: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이를 위해 삼제협상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삼국동맹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방계동맹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지중해협정을 포함한 동맹외교를 추진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ea typeface="맑은 고딕" panose="020B0503020000020004" pitchFamily="50" charset="-127"/>
              </a:rPr>
              <a:t>      </a:t>
            </a:r>
            <a:r>
              <a:rPr lang="en-US" altLang="ko-KR" sz="1600" b="1" dirty="0">
                <a:solidFill>
                  <a:srgbClr val="C00000"/>
                </a:solidFill>
                <a:ea typeface="맑은 고딕" panose="020B0503020000020004" pitchFamily="50" charset="-127"/>
              </a:rPr>
              <a:t>=&gt; </a:t>
            </a:r>
            <a:r>
              <a:rPr lang="ko-KR" altLang="en-US" sz="1600" b="1" dirty="0">
                <a:solidFill>
                  <a:srgbClr val="C00000"/>
                </a:solidFill>
                <a:ea typeface="맑은 고딕" panose="020B0503020000020004" pitchFamily="50" charset="-127"/>
              </a:rPr>
              <a:t>비스마르크 동맹체제</a:t>
            </a:r>
            <a:r>
              <a:rPr lang="en-US" altLang="ko-KR" sz="1600" b="1" dirty="0">
                <a:solidFill>
                  <a:srgbClr val="C00000"/>
                </a:solidFill>
                <a:ea typeface="맑은 고딕" panose="020B0503020000020004" pitchFamily="50" charset="-127"/>
              </a:rPr>
              <a:t>=</a:t>
            </a:r>
            <a:r>
              <a:rPr lang="ko-KR" altLang="en-US" sz="1600" b="1" dirty="0">
                <a:solidFill>
                  <a:srgbClr val="C00000"/>
                </a:solidFill>
                <a:ea typeface="맑은 고딕" panose="020B0503020000020004" pitchFamily="50" charset="-127"/>
              </a:rPr>
              <a:t>독일 중심의 외교망 구축</a:t>
            </a:r>
            <a:endParaRPr lang="en-US" altLang="ko-KR" sz="1600" b="1" dirty="0">
              <a:solidFill>
                <a:srgbClr val="C00000"/>
              </a:solidFill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126E4-88F5-30A0-6E58-BE87D6D73CA6}"/>
              </a:ext>
            </a:extLst>
          </p:cNvPr>
          <p:cNvSpPr/>
          <p:nvPr/>
        </p:nvSpPr>
        <p:spPr>
          <a:xfrm>
            <a:off x="1667329" y="1636137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1870’s~1890’s </a:t>
            </a: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독일 외교의 최대 목표</a:t>
            </a:r>
            <a:r>
              <a:rPr lang="en-US" altLang="ko-KR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유럽 현상유지와 프랑스 고립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477D6D-3CC6-3DD8-26CB-426D7AAF7FBF}"/>
              </a:ext>
            </a:extLst>
          </p:cNvPr>
          <p:cNvSpPr txBox="1"/>
          <p:nvPr/>
        </p:nvSpPr>
        <p:spPr>
          <a:xfrm>
            <a:off x="1676854" y="5335091"/>
            <a:ext cx="10035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600" dirty="0">
                <a:ea typeface="맑은 고딕" panose="020B0503020000020004" pitchFamily="50" charset="-127"/>
              </a:rPr>
              <a:t>유럽 이외에서 독일의 식민지를 획득하기 보다는 유럽대륙에서의 영향력을 키우는 것이 비스마르크의 관심이었기에</a:t>
            </a:r>
            <a:r>
              <a:rPr lang="en-US" altLang="ko-KR" sz="1600" dirty="0"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ea typeface="맑은 고딕" panose="020B0503020000020004" pitchFamily="50" charset="-127"/>
              </a:rPr>
              <a:t>결과적으로 타 유럽국가들은 유럽이외의 지역에서 식민지 확보와 경영에 열중하게 됨</a:t>
            </a:r>
          </a:p>
        </p:txBody>
      </p:sp>
    </p:spTree>
    <p:extLst>
      <p:ext uri="{BB962C8B-B14F-4D97-AF65-F5344CB8AC3E}">
        <p14:creationId xmlns:p14="http://schemas.microsoft.com/office/powerpoint/2010/main" val="1726451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AutoShape 121">
            <a:extLst>
              <a:ext uri="{FF2B5EF4-FFF2-40B4-BE49-F238E27FC236}">
                <a16:creationId xmlns:a16="http://schemas.microsoft.com/office/drawing/2014/main" id="{7F8FF824-0EB8-13F4-40EC-994D8C1F5B2F}"/>
              </a:ext>
            </a:extLst>
          </p:cNvPr>
          <p:cNvSpPr>
            <a:spLocks noChangeArrowheads="1"/>
          </p:cNvSpPr>
          <p:nvPr/>
        </p:nvSpPr>
        <p:spPr bwMode="gray">
          <a:xfrm rot="-1621217">
            <a:off x="4270375" y="3482975"/>
            <a:ext cx="1062038" cy="457200"/>
          </a:xfrm>
          <a:prstGeom prst="leftArrow">
            <a:avLst>
              <a:gd name="adj1" fmla="val 31250"/>
              <a:gd name="adj2" fmla="val 71602"/>
            </a:avLst>
          </a:prstGeom>
          <a:solidFill>
            <a:schemeClr val="tx2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800" b="1" dirty="0"/>
          </a:p>
        </p:txBody>
      </p:sp>
      <p:sp>
        <p:nvSpPr>
          <p:cNvPr id="16396" name="TextBox 1">
            <a:extLst>
              <a:ext uri="{FF2B5EF4-FFF2-40B4-BE49-F238E27FC236}">
                <a16:creationId xmlns:a16="http://schemas.microsoft.com/office/drawing/2014/main" id="{CE0B33BC-EADB-E0D0-BAC2-8D41D0D86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1743" y="3495680"/>
            <a:ext cx="10398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800" b="1" dirty="0"/>
              <a:t>고립</a:t>
            </a:r>
          </a:p>
        </p:txBody>
      </p:sp>
      <p:sp>
        <p:nvSpPr>
          <p:cNvPr id="16398" name="TextBox 73">
            <a:extLst>
              <a:ext uri="{FF2B5EF4-FFF2-40B4-BE49-F238E27FC236}">
                <a16:creationId xmlns:a16="http://schemas.microsoft.com/office/drawing/2014/main" id="{5CFE3294-1959-70F7-4E50-F56DA9208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1225" y="3378201"/>
            <a:ext cx="19764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400" b="1" dirty="0" err="1">
                <a:solidFill>
                  <a:srgbClr val="0D3D7F"/>
                </a:solidFill>
              </a:rPr>
              <a:t>독</a:t>
            </a:r>
            <a:r>
              <a:rPr lang="ko-KR" altLang="en-US" sz="1400" b="1" dirty="0" err="1">
                <a:solidFill>
                  <a:srgbClr val="66A6FF"/>
                </a:solidFill>
              </a:rPr>
              <a:t>러</a:t>
            </a:r>
            <a:r>
              <a:rPr lang="ko-KR" altLang="en-US" sz="1400" b="1" dirty="0" err="1"/>
              <a:t>군사협정</a:t>
            </a:r>
            <a:endParaRPr lang="ko-KR" altLang="en-US" sz="1400" b="1" dirty="0"/>
          </a:p>
        </p:txBody>
      </p:sp>
      <p:sp>
        <p:nvSpPr>
          <p:cNvPr id="16399" name="TextBox 81">
            <a:extLst>
              <a:ext uri="{FF2B5EF4-FFF2-40B4-BE49-F238E27FC236}">
                <a16:creationId xmlns:a16="http://schemas.microsoft.com/office/drawing/2014/main" id="{E0853295-172B-519F-8CE2-DA25C8D74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185" y="3714750"/>
            <a:ext cx="10080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</a:t>
            </a:r>
            <a:endParaRPr lang="en-US" altLang="ko-KR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협상</a:t>
            </a:r>
          </a:p>
        </p:txBody>
      </p:sp>
      <p:cxnSp>
        <p:nvCxnSpPr>
          <p:cNvPr id="23591" name="직선 화살표 연결선 23590">
            <a:extLst>
              <a:ext uri="{FF2B5EF4-FFF2-40B4-BE49-F238E27FC236}">
                <a16:creationId xmlns:a16="http://schemas.microsoft.com/office/drawing/2014/main" id="{835FAA1E-8260-7C6C-B40D-16BA3DD26CE0}"/>
              </a:ext>
            </a:extLst>
          </p:cNvPr>
          <p:cNvCxnSpPr/>
          <p:nvPr/>
        </p:nvCxnSpPr>
        <p:spPr>
          <a:xfrm flipH="1">
            <a:off x="8272463" y="3973514"/>
            <a:ext cx="558800" cy="985837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92" name="원호 23591">
            <a:extLst>
              <a:ext uri="{FF2B5EF4-FFF2-40B4-BE49-F238E27FC236}">
                <a16:creationId xmlns:a16="http://schemas.microsoft.com/office/drawing/2014/main" id="{3CFB4423-BFE5-9AF3-D370-CD1D31EA9C93}"/>
              </a:ext>
            </a:extLst>
          </p:cNvPr>
          <p:cNvSpPr/>
          <p:nvPr/>
        </p:nvSpPr>
        <p:spPr>
          <a:xfrm rot="19619623">
            <a:off x="2386013" y="1739900"/>
            <a:ext cx="6754812" cy="5684838"/>
          </a:xfrm>
          <a:prstGeom prst="arc">
            <a:avLst/>
          </a:prstGeom>
          <a:ln w="22225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D6A7139A-7804-FE2A-64DC-2FC4E2D1EA7A}"/>
              </a:ext>
            </a:extLst>
          </p:cNvPr>
          <p:cNvCxnSpPr/>
          <p:nvPr/>
        </p:nvCxnSpPr>
        <p:spPr>
          <a:xfrm>
            <a:off x="3713164" y="2968626"/>
            <a:ext cx="90487" cy="519113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044F9862-307E-024C-404C-453E646ACAEF}"/>
              </a:ext>
            </a:extLst>
          </p:cNvPr>
          <p:cNvCxnSpPr/>
          <p:nvPr/>
        </p:nvCxnSpPr>
        <p:spPr>
          <a:xfrm>
            <a:off x="4370389" y="4551364"/>
            <a:ext cx="612775" cy="604837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01" name="직선 연결선 23600">
            <a:extLst>
              <a:ext uri="{FF2B5EF4-FFF2-40B4-BE49-F238E27FC236}">
                <a16:creationId xmlns:a16="http://schemas.microsoft.com/office/drawing/2014/main" id="{F173B293-8D74-2D07-7353-A3BD5ED64244}"/>
              </a:ext>
            </a:extLst>
          </p:cNvPr>
          <p:cNvCxnSpPr/>
          <p:nvPr/>
        </p:nvCxnSpPr>
        <p:spPr>
          <a:xfrm>
            <a:off x="3944938" y="2865438"/>
            <a:ext cx="1719262" cy="2106612"/>
          </a:xfrm>
          <a:prstGeom prst="line">
            <a:avLst/>
          </a:prstGeom>
          <a:ln w="25400">
            <a:solidFill>
              <a:srgbClr val="92D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C4267AB3-C691-65B5-7F70-03FBED3DFD94}"/>
              </a:ext>
            </a:extLst>
          </p:cNvPr>
          <p:cNvCxnSpPr/>
          <p:nvPr/>
        </p:nvCxnSpPr>
        <p:spPr>
          <a:xfrm>
            <a:off x="6200776" y="5540375"/>
            <a:ext cx="944563" cy="0"/>
          </a:xfrm>
          <a:prstGeom prst="line">
            <a:avLst/>
          </a:prstGeom>
          <a:ln w="25400">
            <a:solidFill>
              <a:srgbClr val="92D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09" name="이등변 삼각형 23608">
            <a:extLst>
              <a:ext uri="{FF2B5EF4-FFF2-40B4-BE49-F238E27FC236}">
                <a16:creationId xmlns:a16="http://schemas.microsoft.com/office/drawing/2014/main" id="{B2B1D200-2F84-B529-FCE6-EC27BCFB39E0}"/>
              </a:ext>
            </a:extLst>
          </p:cNvPr>
          <p:cNvSpPr/>
          <p:nvPr/>
        </p:nvSpPr>
        <p:spPr>
          <a:xfrm rot="3479563">
            <a:off x="7258844" y="3369469"/>
            <a:ext cx="1436688" cy="1098550"/>
          </a:xfrm>
          <a:prstGeom prst="triangl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F0090067-20B4-5BCA-E83D-349DE7113401}"/>
              </a:ext>
            </a:extLst>
          </p:cNvPr>
          <p:cNvCxnSpPr>
            <a:cxnSpLocks/>
          </p:cNvCxnSpPr>
          <p:nvPr/>
        </p:nvCxnSpPr>
        <p:spPr>
          <a:xfrm>
            <a:off x="7244504" y="3016068"/>
            <a:ext cx="1121621" cy="6532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14" name="TextBox 119">
            <a:extLst>
              <a:ext uri="{FF2B5EF4-FFF2-40B4-BE49-F238E27FC236}">
                <a16:creationId xmlns:a16="http://schemas.microsoft.com/office/drawing/2014/main" id="{DB85D7FE-820C-6D9E-CDD3-6023240F040D}"/>
              </a:ext>
            </a:extLst>
          </p:cNvPr>
          <p:cNvSpPr txBox="1">
            <a:spLocks noChangeArrowheads="1"/>
          </p:cNvSpPr>
          <p:nvPr/>
        </p:nvSpPr>
        <p:spPr bwMode="auto">
          <a:xfrm rot="17726229">
            <a:off x="7758359" y="4139352"/>
            <a:ext cx="111274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400" b="1" dirty="0" err="1">
                <a:solidFill>
                  <a:srgbClr val="33537F"/>
                </a:solidFill>
              </a:rPr>
              <a:t>쇤부르</a:t>
            </a:r>
            <a:r>
              <a:rPr lang="ko-KR" altLang="en-US" sz="1400" b="1" dirty="0" err="1">
                <a:solidFill>
                  <a:srgbClr val="66A6FF"/>
                </a:solidFill>
              </a:rPr>
              <a:t>협정</a:t>
            </a:r>
            <a:endParaRPr lang="ko-KR" altLang="en-US" sz="1400" b="1" dirty="0">
              <a:solidFill>
                <a:srgbClr val="66A6FF"/>
              </a:solidFill>
            </a:endParaRPr>
          </a:p>
        </p:txBody>
      </p:sp>
      <p:sp>
        <p:nvSpPr>
          <p:cNvPr id="16415" name="TextBox 121">
            <a:extLst>
              <a:ext uri="{FF2B5EF4-FFF2-40B4-BE49-F238E27FC236}">
                <a16:creationId xmlns:a16="http://schemas.microsoft.com/office/drawing/2014/main" id="{FFE440E8-3EDF-3319-1DA6-8B6237E5C00D}"/>
              </a:ext>
            </a:extLst>
          </p:cNvPr>
          <p:cNvSpPr txBox="1">
            <a:spLocks noChangeArrowheads="1"/>
          </p:cNvSpPr>
          <p:nvPr/>
        </p:nvSpPr>
        <p:spPr bwMode="auto">
          <a:xfrm rot="3454815">
            <a:off x="6872313" y="4321320"/>
            <a:ext cx="12493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400" b="1" dirty="0" err="1">
                <a:solidFill>
                  <a:srgbClr val="0D3D7F"/>
                </a:solidFill>
              </a:rPr>
              <a:t>독</a:t>
            </a:r>
            <a:r>
              <a:rPr lang="ko-KR" altLang="en-US" sz="1400" b="1" dirty="0" err="1">
                <a:solidFill>
                  <a:srgbClr val="33537F"/>
                </a:solidFill>
              </a:rPr>
              <a:t>오</a:t>
            </a:r>
            <a:r>
              <a:rPr lang="ko-KR" altLang="en-US" sz="1400" b="1" dirty="0"/>
              <a:t> 동맹</a:t>
            </a:r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7F2048CA-A517-D240-14C5-4B4EBF40DF70}"/>
              </a:ext>
            </a:extLst>
          </p:cNvPr>
          <p:cNvSpPr/>
          <p:nvPr/>
        </p:nvSpPr>
        <p:spPr>
          <a:xfrm>
            <a:off x="5951984" y="4293216"/>
            <a:ext cx="1368000" cy="1080000"/>
          </a:xfrm>
          <a:prstGeom prst="triangl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41C21-8574-EFE0-A5DF-1F59C63F1C63}"/>
              </a:ext>
            </a:extLst>
          </p:cNvPr>
          <p:cNvSpPr txBox="1"/>
          <p:nvPr/>
        </p:nvSpPr>
        <p:spPr>
          <a:xfrm>
            <a:off x="6096000" y="4874534"/>
            <a:ext cx="100046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eaLnBrk="1" latinLnBrk="1" hangingPunct="1">
              <a:defRPr/>
            </a:pP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3</a:t>
            </a:r>
            <a:r>
              <a:rPr lang="ko-KR" alt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국동맹</a:t>
            </a:r>
            <a:endParaRPr lang="ko-KR" altLang="en-US" sz="1600" b="1" dirty="0">
              <a:solidFill>
                <a:schemeClr val="tx1">
                  <a:lumMod val="50000"/>
                  <a:lumOff val="50000"/>
                </a:schemeClr>
              </a:solidFill>
              <a:ea typeface="맑은 고딕" panose="020B0503020000020004" pitchFamily="50" charset="-127"/>
            </a:endParaRPr>
          </a:p>
        </p:txBody>
      </p:sp>
      <p:sp>
        <p:nvSpPr>
          <p:cNvPr id="16418" name="TextBox 61">
            <a:extLst>
              <a:ext uri="{FF2B5EF4-FFF2-40B4-BE49-F238E27FC236}">
                <a16:creationId xmlns:a16="http://schemas.microsoft.com/office/drawing/2014/main" id="{550C41C6-8BB2-0D75-B98D-08DE8A685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7239" y="3130551"/>
            <a:ext cx="19764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400" b="1" dirty="0" err="1">
                <a:solidFill>
                  <a:srgbClr val="0D3D7F"/>
                </a:solidFill>
              </a:rPr>
              <a:t>독</a:t>
            </a:r>
            <a:r>
              <a:rPr lang="ko-KR" altLang="en-US" sz="1400" b="1" dirty="0" err="1">
                <a:solidFill>
                  <a:srgbClr val="66A6FF"/>
                </a:solidFill>
              </a:rPr>
              <a:t>러</a:t>
            </a:r>
            <a:r>
              <a:rPr lang="ko-KR" altLang="en-US" sz="1400" b="1" dirty="0" err="1"/>
              <a:t>재보장조약</a:t>
            </a:r>
            <a:endParaRPr lang="ko-KR" altLang="en-US" sz="1400" b="1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946E891-2D21-59CD-D891-6F6DAC7F3AE1}"/>
              </a:ext>
            </a:extLst>
          </p:cNvPr>
          <p:cNvSpPr/>
          <p:nvPr/>
        </p:nvSpPr>
        <p:spPr>
          <a:xfrm>
            <a:off x="5445669" y="2611129"/>
            <a:ext cx="1584000" cy="1584000"/>
          </a:xfrm>
          <a:prstGeom prst="ellipse">
            <a:avLst/>
          </a:prstGeom>
          <a:solidFill>
            <a:schemeClr val="bg1">
              <a:alpha val="65000"/>
            </a:schemeClr>
          </a:solidFill>
          <a:ln w="28575">
            <a:solidFill>
              <a:srgbClr val="0D3D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108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 err="1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0D3D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통일독일</a:t>
            </a:r>
            <a:endParaRPr lang="en-US" altLang="ko-KR" sz="24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0D3D7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06AB54F-E5C7-B258-932A-BEAFE61A45BE}"/>
              </a:ext>
            </a:extLst>
          </p:cNvPr>
          <p:cNvSpPr/>
          <p:nvPr/>
        </p:nvSpPr>
        <p:spPr>
          <a:xfrm>
            <a:off x="8568832" y="2657250"/>
            <a:ext cx="1188000" cy="1188000"/>
          </a:xfrm>
          <a:prstGeom prst="ellipse">
            <a:avLst/>
          </a:prstGeom>
          <a:solidFill>
            <a:schemeClr val="bg1">
              <a:alpha val="65000"/>
            </a:schemeClr>
          </a:solidFill>
          <a:ln w="28575">
            <a:solidFill>
              <a:srgbClr val="66A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108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66A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러시아</a:t>
            </a:r>
            <a:endParaRPr lang="en-US" altLang="ko-KR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66A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F969B23-64A0-3F8F-F0E3-339B605C5537}"/>
              </a:ext>
            </a:extLst>
          </p:cNvPr>
          <p:cNvSpPr/>
          <p:nvPr/>
        </p:nvSpPr>
        <p:spPr>
          <a:xfrm>
            <a:off x="2970526" y="3771472"/>
            <a:ext cx="1080000" cy="1080000"/>
          </a:xfrm>
          <a:prstGeom prst="ellipse">
            <a:avLst/>
          </a:prstGeom>
          <a:solidFill>
            <a:schemeClr val="bg1">
              <a:alpha val="65000"/>
            </a:schemeClr>
          </a:solidFill>
          <a:ln w="28575">
            <a:solidFill>
              <a:srgbClr val="197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108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462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프랑스</a:t>
            </a:r>
            <a:endParaRPr lang="en-US" altLang="ko-KR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462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26C9855-39E4-6314-ADC8-C85397F0B5A7}"/>
              </a:ext>
            </a:extLst>
          </p:cNvPr>
          <p:cNvSpPr/>
          <p:nvPr/>
        </p:nvSpPr>
        <p:spPr>
          <a:xfrm>
            <a:off x="7379774" y="4914634"/>
            <a:ext cx="900000" cy="900000"/>
          </a:xfrm>
          <a:prstGeom prst="ellipse">
            <a:avLst/>
          </a:prstGeom>
          <a:solidFill>
            <a:schemeClr val="bg1">
              <a:alpha val="65000"/>
            </a:schemeClr>
          </a:solidFill>
          <a:ln w="28575">
            <a:solidFill>
              <a:srgbClr val="3353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108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600" b="1" dirty="0" err="1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33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오스트</a:t>
            </a:r>
            <a:endParaRPr lang="en-US" altLang="ko-KR" sz="16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33537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33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리아</a:t>
            </a:r>
            <a:endParaRPr lang="en-US" altLang="ko-KR" sz="16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33537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28397AA-39A2-7E26-B6FC-34ABB5134E51}"/>
              </a:ext>
            </a:extLst>
          </p:cNvPr>
          <p:cNvSpPr/>
          <p:nvPr/>
        </p:nvSpPr>
        <p:spPr>
          <a:xfrm>
            <a:off x="2568200" y="1430123"/>
            <a:ext cx="1512000" cy="1512000"/>
          </a:xfrm>
          <a:prstGeom prst="ellipse">
            <a:avLst/>
          </a:prstGeom>
          <a:solidFill>
            <a:schemeClr val="bg1">
              <a:alpha val="65000"/>
            </a:schemeClr>
          </a:solidFill>
          <a:ln w="28575">
            <a:solidFill>
              <a:srgbClr val="384B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108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384B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영국</a:t>
            </a:r>
            <a:endParaRPr lang="en-US" altLang="ko-KR" sz="24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384B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8A185F8-F8B4-FE3E-D442-51C28A3972EE}"/>
              </a:ext>
            </a:extLst>
          </p:cNvPr>
          <p:cNvSpPr/>
          <p:nvPr/>
        </p:nvSpPr>
        <p:spPr>
          <a:xfrm>
            <a:off x="5052185" y="5101524"/>
            <a:ext cx="900000" cy="900000"/>
          </a:xfrm>
          <a:prstGeom prst="ellipse">
            <a:avLst/>
          </a:prstGeom>
          <a:solidFill>
            <a:schemeClr val="bg1">
              <a:alpha val="6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108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이태리</a:t>
            </a:r>
            <a:endParaRPr lang="en-US" altLang="ko-KR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E0DEB3-E2F4-5AA8-A308-F4C22EBD69D3}"/>
              </a:ext>
            </a:extLst>
          </p:cNvPr>
          <p:cNvSpPr txBox="1"/>
          <p:nvPr/>
        </p:nvSpPr>
        <p:spPr>
          <a:xfrm>
            <a:off x="10819549" y="5857527"/>
            <a:ext cx="1280512" cy="30777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31345"/>
                </a:solidFill>
                <a:ea typeface="맑은 고딕" panose="020B0503020000020004" pitchFamily="50" charset="-127"/>
              </a:rPr>
              <a:t>지중해협정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C1A1E7-6AA4-3C22-BF25-99646278C464}"/>
              </a:ext>
            </a:extLst>
          </p:cNvPr>
          <p:cNvSpPr txBox="1"/>
          <p:nvPr/>
        </p:nvSpPr>
        <p:spPr>
          <a:xfrm>
            <a:off x="10911488" y="5297236"/>
            <a:ext cx="1280512" cy="30777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31345"/>
                </a:solidFill>
                <a:ea typeface="맑은 고딕" panose="020B0503020000020004" pitchFamily="50" charset="-127"/>
              </a:rPr>
              <a:t>대립</a:t>
            </a: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01CDCD54-31F8-E66A-ECB2-F70DF161BD64}"/>
              </a:ext>
            </a:extLst>
          </p:cNvPr>
          <p:cNvCxnSpPr>
            <a:cxnSpLocks/>
          </p:cNvCxnSpPr>
          <p:nvPr/>
        </p:nvCxnSpPr>
        <p:spPr>
          <a:xfrm>
            <a:off x="10005092" y="5439403"/>
            <a:ext cx="792000" cy="6532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0AC0475C-B694-F973-04C9-B559E6B7909C}"/>
              </a:ext>
            </a:extLst>
          </p:cNvPr>
          <p:cNvCxnSpPr/>
          <p:nvPr/>
        </p:nvCxnSpPr>
        <p:spPr>
          <a:xfrm>
            <a:off x="10005092" y="6023971"/>
            <a:ext cx="792000" cy="0"/>
          </a:xfrm>
          <a:prstGeom prst="line">
            <a:avLst/>
          </a:prstGeom>
          <a:ln w="25400">
            <a:solidFill>
              <a:srgbClr val="92D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AFE4676C-0478-026F-53F8-64B96275D5CE}"/>
              </a:ext>
            </a:extLst>
          </p:cNvPr>
          <p:cNvGrpSpPr/>
          <p:nvPr/>
        </p:nvGrpSpPr>
        <p:grpSpPr>
          <a:xfrm>
            <a:off x="0" y="0"/>
            <a:ext cx="825500" cy="6858000"/>
            <a:chOff x="0" y="0"/>
            <a:chExt cx="825500" cy="6858000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099CE6D7-29B1-49D0-EFE4-476DF501421A}"/>
                </a:ext>
              </a:extLst>
            </p:cNvPr>
            <p:cNvSpPr/>
            <p:nvPr/>
          </p:nvSpPr>
          <p:spPr>
            <a:xfrm>
              <a:off x="0" y="0"/>
              <a:ext cx="825500" cy="6858000"/>
            </a:xfrm>
            <a:prstGeom prst="rect">
              <a:avLst/>
            </a:prstGeom>
            <a:solidFill>
              <a:srgbClr val="4B47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46A25E9-EA67-A6C1-5D1A-3A1EACE08DE9}"/>
                </a:ext>
              </a:extLst>
            </p:cNvPr>
            <p:cNvSpPr txBox="1"/>
            <p:nvPr/>
          </p:nvSpPr>
          <p:spPr>
            <a:xfrm rot="16200000">
              <a:off x="-1266355" y="1807062"/>
              <a:ext cx="3358211" cy="261610"/>
            </a:xfrm>
            <a:prstGeom prst="rect">
              <a:avLst/>
            </a:prstGeom>
            <a:noFill/>
          </p:spPr>
          <p:txBody>
            <a:bodyPr wrap="square" tIns="0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F6F7FB"/>
                  </a:solidFill>
                  <a:effectLst/>
                  <a:uLnTx/>
                  <a:uFillTx/>
                  <a:ea typeface="맑은 고딕" panose="020B0503020000020004" pitchFamily="50" charset="-127"/>
                </a:rPr>
                <a:t>충북대학교 정치외교학과 세계외교사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78AA51F-96F8-32FC-4981-28C35BFD2792}"/>
              </a:ext>
            </a:extLst>
          </p:cNvPr>
          <p:cNvSpPr txBox="1"/>
          <p:nvPr/>
        </p:nvSpPr>
        <p:spPr>
          <a:xfrm>
            <a:off x="3999810" y="697271"/>
            <a:ext cx="4871240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맑은 고딕" panose="020B0503020000020004" pitchFamily="50" charset="-127"/>
              </a:rPr>
              <a:t>통일 독일의 외교와 유럽정세도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697F2BB-6F2F-94F5-787C-184575699AC5}"/>
              </a:ext>
            </a:extLst>
          </p:cNvPr>
          <p:cNvGrpSpPr/>
          <p:nvPr/>
        </p:nvGrpSpPr>
        <p:grpSpPr>
          <a:xfrm>
            <a:off x="0" y="0"/>
            <a:ext cx="825500" cy="6858000"/>
            <a:chOff x="0" y="0"/>
            <a:chExt cx="825500" cy="6858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34244D5-D8FA-50D3-E99F-8491E8F4483E}"/>
                </a:ext>
              </a:extLst>
            </p:cNvPr>
            <p:cNvSpPr/>
            <p:nvPr/>
          </p:nvSpPr>
          <p:spPr>
            <a:xfrm>
              <a:off x="0" y="0"/>
              <a:ext cx="825500" cy="6858000"/>
            </a:xfrm>
            <a:prstGeom prst="rect">
              <a:avLst/>
            </a:prstGeom>
            <a:solidFill>
              <a:srgbClr val="4B47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BB7A27-73F0-F425-28F3-3EB1B48A42DA}"/>
                </a:ext>
              </a:extLst>
            </p:cNvPr>
            <p:cNvSpPr txBox="1"/>
            <p:nvPr/>
          </p:nvSpPr>
          <p:spPr>
            <a:xfrm rot="16200000">
              <a:off x="-1266355" y="1807062"/>
              <a:ext cx="3358211" cy="261610"/>
            </a:xfrm>
            <a:prstGeom prst="rect">
              <a:avLst/>
            </a:prstGeom>
            <a:noFill/>
          </p:spPr>
          <p:txBody>
            <a:bodyPr wrap="square" tIns="0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F6F7FB"/>
                  </a:solidFill>
                  <a:effectLst/>
                  <a:uLnTx/>
                  <a:uFillTx/>
                  <a:ea typeface="맑은 고딕" panose="020B0503020000020004" pitchFamily="50" charset="-127"/>
                </a:rPr>
                <a:t>충북대학교 정치외교학과 세계외교사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943872" y="1050745"/>
            <a:ext cx="3368464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맑은 고딕" panose="020B0503020000020004" pitchFamily="50" charset="-127"/>
              </a:rPr>
              <a:t>비스마르크 동맹체제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126E4-88F5-30A0-6E58-BE87D6D73CA6}"/>
              </a:ext>
            </a:extLst>
          </p:cNvPr>
          <p:cNvSpPr/>
          <p:nvPr/>
        </p:nvSpPr>
        <p:spPr>
          <a:xfrm>
            <a:off x="2533343" y="2085315"/>
            <a:ext cx="2872587" cy="577674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삼제협상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FFDCC2-A553-481B-8B21-8538D855074E}"/>
              </a:ext>
            </a:extLst>
          </p:cNvPr>
          <p:cNvSpPr/>
          <p:nvPr/>
        </p:nvSpPr>
        <p:spPr>
          <a:xfrm>
            <a:off x="7739006" y="2101357"/>
            <a:ext cx="2872587" cy="577674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삼국동맹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442FB4-B387-2629-4160-0735AC223107}"/>
              </a:ext>
            </a:extLst>
          </p:cNvPr>
          <p:cNvSpPr txBox="1"/>
          <p:nvPr/>
        </p:nvSpPr>
        <p:spPr>
          <a:xfrm>
            <a:off x="5486891" y="2830704"/>
            <a:ext cx="2019194" cy="400110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B47DF"/>
                </a:solidFill>
                <a:ea typeface="맑은 고딕" panose="020B0503020000020004" pitchFamily="50" charset="-127"/>
              </a:rPr>
              <a:t>지중해협정</a:t>
            </a:r>
            <a:endParaRPr kumimoji="0" lang="ko-KR" altLang="en-US" sz="2000" b="1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B47DF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0D2CC3-5312-FBAD-C162-DD7CC337C6FC}"/>
              </a:ext>
            </a:extLst>
          </p:cNvPr>
          <p:cNvSpPr/>
          <p:nvPr/>
        </p:nvSpPr>
        <p:spPr>
          <a:xfrm>
            <a:off x="5812488" y="3291782"/>
            <a:ext cx="1368000" cy="2160000"/>
          </a:xfrm>
          <a:prstGeom prst="rect">
            <a:avLst/>
          </a:prstGeom>
          <a:solidFill>
            <a:schemeClr val="bg1">
              <a:alpha val="90000"/>
            </a:schemeClr>
          </a:solidFill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tIns="0" bIns="108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384B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영국</a:t>
            </a:r>
            <a:endParaRPr lang="en-US" altLang="ko-KR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384B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이태리</a:t>
            </a:r>
            <a:endParaRPr lang="en-US" altLang="ko-KR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chemeClr val="accent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1313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33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오스트리아</a:t>
            </a:r>
          </a:p>
        </p:txBody>
      </p:sp>
      <p:sp>
        <p:nvSpPr>
          <p:cNvPr id="4" name="오른쪽 대괄호 3">
            <a:extLst>
              <a:ext uri="{FF2B5EF4-FFF2-40B4-BE49-F238E27FC236}">
                <a16:creationId xmlns:a16="http://schemas.microsoft.com/office/drawing/2014/main" id="{228A1389-6AD2-1986-9A83-799344CAE8AE}"/>
              </a:ext>
            </a:extLst>
          </p:cNvPr>
          <p:cNvSpPr/>
          <p:nvPr/>
        </p:nvSpPr>
        <p:spPr>
          <a:xfrm rot="16200000">
            <a:off x="6395485" y="-127113"/>
            <a:ext cx="400110" cy="3897464"/>
          </a:xfrm>
          <a:prstGeom prst="rightBracket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1C8EBEF-5C3E-8C25-A969-70B52CA3308D}"/>
              </a:ext>
            </a:extLst>
          </p:cNvPr>
          <p:cNvSpPr/>
          <p:nvPr/>
        </p:nvSpPr>
        <p:spPr>
          <a:xfrm>
            <a:off x="2310581" y="3291782"/>
            <a:ext cx="3054459" cy="2160000"/>
          </a:xfrm>
          <a:prstGeom prst="rect">
            <a:avLst/>
          </a:prstGeom>
          <a:solidFill>
            <a:schemeClr val="bg1">
              <a:alpha val="90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tIns="0" bIns="108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66A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러시아</a:t>
            </a:r>
            <a:endParaRPr lang="en-US" altLang="ko-KR" sz="24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66A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0D3D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독일</a:t>
            </a:r>
            <a:endParaRPr lang="en-US" altLang="ko-KR" sz="24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0D3D7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33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오스트리아</a:t>
            </a:r>
            <a:endParaRPr lang="en-US" altLang="ko-KR" sz="24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33537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220DED-A46D-6BA7-6EBF-6DEAA870A9CC}"/>
              </a:ext>
            </a:extLst>
          </p:cNvPr>
          <p:cNvSpPr/>
          <p:nvPr/>
        </p:nvSpPr>
        <p:spPr>
          <a:xfrm>
            <a:off x="7627936" y="3291782"/>
            <a:ext cx="3054459" cy="2160000"/>
          </a:xfrm>
          <a:prstGeom prst="rect">
            <a:avLst/>
          </a:prstGeom>
          <a:solidFill>
            <a:schemeClr val="bg1">
              <a:alpha val="90000"/>
            </a:schemeClr>
          </a:solidFill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tIns="0" bIns="108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33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오스트리아</a:t>
            </a:r>
            <a:endParaRPr lang="en-US" altLang="ko-KR" sz="24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33537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rgbClr val="0D3D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독일</a:t>
            </a:r>
            <a:endParaRPr lang="en-US" altLang="ko-KR" sz="24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0D3D7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b="1" dirty="0">
                <a:ln>
                  <a:solidFill>
                    <a:srgbClr val="4B47DF">
                      <a:alpha val="0"/>
                    </a:srgbClr>
                  </a:solidFill>
                </a:ln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이태리</a:t>
            </a:r>
            <a:endParaRPr lang="en-US" altLang="ko-KR" sz="2400" b="1" dirty="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33537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33096788-ECA2-3691-D184-CC51F65F1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0318" y="6199536"/>
            <a:ext cx="17192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800" b="1" dirty="0"/>
              <a:t>방계동맹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1E3AC62-96AD-3478-903B-979077418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2304" y="5877272"/>
            <a:ext cx="27363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2000" b="1" dirty="0"/>
              <a:t>세르비아  루마니아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FEE4BF4-F9B4-FE19-6CD4-9C7CFEAD94FC}"/>
              </a:ext>
            </a:extLst>
          </p:cNvPr>
          <p:cNvCxnSpPr/>
          <p:nvPr/>
        </p:nvCxnSpPr>
        <p:spPr>
          <a:xfrm>
            <a:off x="9768408" y="5229200"/>
            <a:ext cx="0" cy="576000"/>
          </a:xfrm>
          <a:prstGeom prst="straightConnector1">
            <a:avLst/>
          </a:prstGeom>
          <a:ln w="3492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470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6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126E4-88F5-30A0-6E58-BE87D6D73CA6}"/>
              </a:ext>
            </a:extLst>
          </p:cNvPr>
          <p:cNvSpPr/>
          <p:nvPr/>
        </p:nvSpPr>
        <p:spPr>
          <a:xfrm>
            <a:off x="1437993" y="1469960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비스마르크의 구상</a:t>
            </a:r>
            <a:r>
              <a:rPr lang="en-US" altLang="ko-KR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다각적 동맹체제 구축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C0D5BF-BCA4-BA94-09EE-99C3AF0E687B}"/>
              </a:ext>
            </a:extLst>
          </p:cNvPr>
          <p:cNvSpPr txBox="1"/>
          <p:nvPr/>
        </p:nvSpPr>
        <p:spPr>
          <a:xfrm>
            <a:off x="1422019" y="1917599"/>
            <a:ext cx="9682842" cy="426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800" b="1" dirty="0">
                <a:ea typeface="맑은 고딕" panose="020B0503020000020004" pitchFamily="50" charset="-127"/>
              </a:rPr>
              <a:t>비스마르크 구상</a:t>
            </a:r>
            <a:r>
              <a:rPr lang="en-US" altLang="ko-KR" b="1" dirty="0">
                <a:ea typeface="맑은 고딕" panose="020B0503020000020004" pitchFamily="50" charset="-127"/>
              </a:rPr>
              <a:t>=</a:t>
            </a:r>
            <a:r>
              <a:rPr lang="ko-KR" altLang="en-US" b="1" dirty="0">
                <a:ea typeface="맑은 고딕" panose="020B0503020000020004" pitchFamily="50" charset="-127"/>
              </a:rPr>
              <a:t>삼제협상과 삼국동맹</a:t>
            </a:r>
            <a:endParaRPr lang="en-US" altLang="ko-KR" sz="1800" b="1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800" dirty="0">
                <a:ea typeface="맑은 고딕" panose="020B0503020000020004" pitchFamily="50" charset="-127"/>
              </a:rPr>
              <a:t>유럽대륙에서 프랑스를 봉쇄해 프랑스를 해외경영에만 전념하도록 한다</a:t>
            </a:r>
            <a:r>
              <a:rPr lang="en-US" altLang="ko-KR" sz="1800" dirty="0">
                <a:ea typeface="맑은 고딕" panose="020B0503020000020004" pitchFamily="50" charset="-127"/>
              </a:rPr>
              <a:t>.</a:t>
            </a:r>
            <a:r>
              <a:rPr lang="en-US" altLang="ko-KR" sz="1400" dirty="0"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ea typeface="맑은 고딕" panose="020B0503020000020004" pitchFamily="50" charset="-127"/>
              </a:rPr>
              <a:t>타 경쟁자도 마찬가지</a:t>
            </a:r>
            <a:r>
              <a:rPr lang="en-US" altLang="ko-KR" sz="1400" dirty="0">
                <a:ea typeface="맑은 고딕" panose="020B0503020000020004" pitchFamily="50" charset="-127"/>
              </a:rPr>
              <a:t>)</a:t>
            </a:r>
            <a:endParaRPr lang="en-US" altLang="ko-KR" sz="1800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800" dirty="0">
                <a:ea typeface="맑은 고딕" panose="020B0503020000020004" pitchFamily="50" charset="-127"/>
              </a:rPr>
              <a:t>프랑스와 영국을 서로 견제하게 한다</a:t>
            </a:r>
            <a:r>
              <a:rPr lang="en-US" altLang="ko-KR" sz="1800" dirty="0">
                <a:ea typeface="맑은 고딕" panose="020B0503020000020004" pitchFamily="50" charset="-127"/>
              </a:rPr>
              <a:t>.</a:t>
            </a: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800" dirty="0">
                <a:ea typeface="맑은 고딕" panose="020B0503020000020004" pitchFamily="50" charset="-127"/>
              </a:rPr>
              <a:t>프랑스 재기 시</a:t>
            </a:r>
            <a:r>
              <a:rPr lang="en-US" altLang="ko-KR" sz="1800" dirty="0">
                <a:ea typeface="맑은 고딕" panose="020B0503020000020004" pitchFamily="50" charset="-127"/>
              </a:rPr>
              <a:t>, </a:t>
            </a:r>
            <a:r>
              <a:rPr lang="ko-KR" altLang="en-US" sz="1800" dirty="0">
                <a:ea typeface="맑은 고딕" panose="020B0503020000020004" pitchFamily="50" charset="-127"/>
              </a:rPr>
              <a:t>프랑스가 독일 견제를 위해 협력할 대상</a:t>
            </a:r>
            <a:r>
              <a:rPr lang="en-US" altLang="ko-KR" sz="1800" dirty="0">
                <a:ea typeface="맑은 고딕" panose="020B0503020000020004" pitchFamily="50" charset="-127"/>
              </a:rPr>
              <a:t>(</a:t>
            </a:r>
            <a:r>
              <a:rPr lang="ko-KR" altLang="en-US" sz="1800" dirty="0">
                <a:ea typeface="맑은 고딕" panose="020B0503020000020004" pitchFamily="50" charset="-127"/>
              </a:rPr>
              <a:t>러시아</a:t>
            </a:r>
            <a:r>
              <a:rPr lang="en-US" altLang="ko-KR" sz="1800" dirty="0">
                <a:ea typeface="맑은 고딕" panose="020B0503020000020004" pitchFamily="50" charset="-127"/>
              </a:rPr>
              <a:t>, </a:t>
            </a:r>
            <a:r>
              <a:rPr lang="ko-KR" altLang="en-US" sz="1800" dirty="0">
                <a:ea typeface="맑은 고딕" panose="020B0503020000020004" pitchFamily="50" charset="-127"/>
              </a:rPr>
              <a:t>오스트리아</a:t>
            </a:r>
            <a:r>
              <a:rPr lang="en-US" altLang="ko-KR" sz="1800" dirty="0"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ea typeface="맑은 고딕" panose="020B0503020000020004" pitchFamily="50" charset="-127"/>
              </a:rPr>
              <a:t>을 묶어 둔다</a:t>
            </a:r>
            <a:endParaRPr lang="en-US" altLang="ko-KR" sz="1800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ea typeface="맑은 고딕" panose="020B0503020000020004" pitchFamily="50" charset="-127"/>
              </a:rPr>
              <a:t>이를 통해 유럽의 현상을 유지한다</a:t>
            </a:r>
            <a:r>
              <a:rPr lang="en-US" altLang="ko-KR" dirty="0">
                <a:ea typeface="맑은 고딕" panose="020B0503020000020004" pitchFamily="50" charset="-127"/>
              </a:rPr>
              <a:t>.</a:t>
            </a:r>
            <a:endParaRPr lang="en-US" altLang="ko-KR" sz="1800" dirty="0">
              <a:ea typeface="맑은 고딕" panose="020B0503020000020004" pitchFamily="50" charset="-127"/>
            </a:endParaRPr>
          </a:p>
          <a:p>
            <a:pPr marL="285750" indent="-285750" algn="just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Þ"/>
              <a:defRPr/>
            </a:pPr>
            <a:r>
              <a:rPr lang="ko-KR" altLang="en-US" sz="1600" b="1" dirty="0">
                <a:ea typeface="맑은 고딕" panose="020B0503020000020004" pitchFamily="50" charset="-127"/>
              </a:rPr>
              <a:t>독일의 힘 증대 </a:t>
            </a:r>
            <a:r>
              <a:rPr lang="ko-KR" altLang="en-US" sz="1600" b="1" dirty="0" err="1">
                <a:ea typeface="맑은 고딕" panose="020B0503020000020004" pitchFamily="50" charset="-127"/>
              </a:rPr>
              <a:t>목적이라기</a:t>
            </a:r>
            <a:r>
              <a:rPr lang="ko-KR" altLang="en-US" sz="1600" b="1" dirty="0">
                <a:ea typeface="맑은 고딕" panose="020B0503020000020004" pitchFamily="50" charset="-127"/>
              </a:rPr>
              <a:t> 보다는</a:t>
            </a:r>
            <a:r>
              <a:rPr lang="en-US" altLang="ko-KR" sz="1600" b="1" dirty="0"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ea typeface="맑은 고딕" panose="020B0503020000020004" pitchFamily="50" charset="-127"/>
              </a:rPr>
              <a:t>복합적이고 느슨한 </a:t>
            </a:r>
            <a:r>
              <a:rPr lang="en-US" altLang="ko-KR" sz="1600" b="1" dirty="0"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ea typeface="맑은 고딕" panose="020B0503020000020004" pitchFamily="50" charset="-127"/>
              </a:rPr>
              <a:t>그러나 독일이 주도하는</a:t>
            </a:r>
            <a:r>
              <a:rPr lang="en-US" altLang="ko-KR" sz="1600" b="1" dirty="0">
                <a:ea typeface="맑은 고딕" panose="020B0503020000020004" pitchFamily="50" charset="-127"/>
              </a:rPr>
              <a:t>) </a:t>
            </a:r>
            <a:r>
              <a:rPr lang="ko-KR" altLang="en-US" sz="1600" b="1" dirty="0">
                <a:ea typeface="맑은 고딕" panose="020B0503020000020004" pitchFamily="50" charset="-127"/>
              </a:rPr>
              <a:t>동맹체제 구축</a:t>
            </a:r>
            <a:r>
              <a:rPr lang="en-US" altLang="ko-KR" sz="1600" b="1" dirty="0"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ea typeface="맑은 고딕" panose="020B0503020000020004" pitchFamily="50" charset="-127"/>
              </a:rPr>
              <a:t>잠재적 경쟁상대와 긴밀한 관계 구축으로 사전에 적대적 동맹 출현 예방</a:t>
            </a:r>
            <a:r>
              <a:rPr lang="en-US" altLang="ko-KR" sz="1600" b="1" dirty="0"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ea typeface="맑은 고딕" panose="020B0503020000020004" pitchFamily="50" charset="-127"/>
              </a:rPr>
              <a:t>특히 외교수단으로 프랑스의 대 독일 군사행동 가능성 차단하고 </a:t>
            </a:r>
            <a:r>
              <a:rPr lang="en-US" altLang="ko-KR" sz="1600" b="1" dirty="0"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ea typeface="맑은 고딕" panose="020B0503020000020004" pitchFamily="50" charset="-127"/>
              </a:rPr>
              <a:t>프랑스와의</a:t>
            </a:r>
            <a:r>
              <a:rPr lang="en-US" altLang="ko-KR" sz="1600" b="1" dirty="0">
                <a:ea typeface="맑은 고딕" panose="020B0503020000020004" pitchFamily="50" charset="-127"/>
              </a:rPr>
              <a:t>)</a:t>
            </a:r>
            <a:r>
              <a:rPr lang="ko-KR" altLang="en-US" sz="1600" b="1" dirty="0">
                <a:ea typeface="맑은 고딕" panose="020B0503020000020004" pitchFamily="50" charset="-127"/>
              </a:rPr>
              <a:t>유사시 타국의 최소한 중립 유도</a:t>
            </a:r>
            <a:r>
              <a:rPr lang="en-US" altLang="ko-KR" sz="1600" b="1" dirty="0">
                <a:ea typeface="맑은 고딕" panose="020B0503020000020004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6770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5EA24A-0289-379F-FC2E-F59A7F8B481F}"/>
              </a:ext>
            </a:extLst>
          </p:cNvPr>
          <p:cNvSpPr txBox="1"/>
          <p:nvPr/>
        </p:nvSpPr>
        <p:spPr>
          <a:xfrm>
            <a:off x="1012718" y="2060848"/>
            <a:ext cx="10585176" cy="447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600" b="1" dirty="0">
                <a:ea typeface="맑은 고딕" panose="020B0503020000020004" pitchFamily="50" charset="-127"/>
              </a:rPr>
              <a:t>제</a:t>
            </a:r>
            <a:r>
              <a:rPr lang="en-US" altLang="ko-KR" sz="1600" b="1" dirty="0">
                <a:ea typeface="맑은 고딕" panose="020B0503020000020004" pitchFamily="50" charset="-127"/>
              </a:rPr>
              <a:t>1</a:t>
            </a:r>
            <a:r>
              <a:rPr lang="ko-KR" altLang="en-US" sz="1600" b="1" dirty="0">
                <a:ea typeface="맑은 고딕" panose="020B0503020000020004" pitchFamily="50" charset="-127"/>
              </a:rPr>
              <a:t>차 삼제협상</a:t>
            </a:r>
            <a:r>
              <a:rPr lang="en-US" altLang="ko-KR" sz="1600" b="1" dirty="0"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ea typeface="맑은 고딕" panose="020B0503020000020004" pitchFamily="50" charset="-127"/>
              </a:rPr>
              <a:t>三帝協商</a:t>
            </a:r>
            <a:r>
              <a:rPr lang="en-US" altLang="ko-KR" sz="1600" b="1" dirty="0">
                <a:ea typeface="맑은 고딕" panose="020B0503020000020004" pitchFamily="50" charset="-127"/>
              </a:rPr>
              <a:t>)</a:t>
            </a:r>
            <a:endParaRPr lang="en-US" altLang="ko-KR" sz="400" b="1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endParaRPr lang="en-US" altLang="ko-KR" sz="300" b="1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500" b="1" dirty="0">
                <a:ea typeface="맑은 고딕" panose="020B0503020000020004" pitchFamily="50" charset="-127"/>
              </a:rPr>
              <a:t>독일</a:t>
            </a:r>
            <a:r>
              <a:rPr lang="en-US" altLang="ko-KR" sz="1500" b="1" dirty="0">
                <a:ea typeface="맑은 고딕" panose="020B0503020000020004" pitchFamily="50" charset="-127"/>
              </a:rPr>
              <a:t>+</a:t>
            </a:r>
            <a:r>
              <a:rPr lang="ko-KR" altLang="en-US" sz="1500" b="1" dirty="0">
                <a:ea typeface="맑은 고딕" panose="020B0503020000020004" pitchFamily="50" charset="-127"/>
              </a:rPr>
              <a:t>오스트리아</a:t>
            </a:r>
            <a:r>
              <a:rPr lang="en-US" altLang="ko-KR" sz="1500" b="1" dirty="0">
                <a:ea typeface="맑은 고딕" panose="020B0503020000020004" pitchFamily="50" charset="-127"/>
              </a:rPr>
              <a:t>+</a:t>
            </a:r>
            <a:r>
              <a:rPr lang="ko-KR" altLang="en-US" sz="1500" b="1" dirty="0">
                <a:ea typeface="맑은 고딕" panose="020B0503020000020004" pitchFamily="50" charset="-127"/>
              </a:rPr>
              <a:t>러시아의 협상체제로 비스마르크 체제 구상의 최초 성과</a:t>
            </a:r>
            <a:r>
              <a:rPr lang="en-US" altLang="ko-KR" sz="1500" b="1" dirty="0">
                <a:ea typeface="맑은 고딕" panose="020B0503020000020004" pitchFamily="50" charset="-127"/>
              </a:rPr>
              <a:t>, </a:t>
            </a:r>
            <a:r>
              <a:rPr lang="ko-KR" altLang="en-US" sz="1500" b="1" dirty="0">
                <a:ea typeface="맑은 고딕" panose="020B0503020000020004" pitchFamily="50" charset="-127"/>
              </a:rPr>
              <a:t>협의체적 성격의 구속력 없는 느슨한 동맹</a:t>
            </a:r>
            <a:endParaRPr lang="en-US" altLang="ko-KR" sz="1500" b="1" dirty="0">
              <a:ea typeface="맑은 고딕" panose="020B0503020000020004" pitchFamily="50" charset="-127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ea typeface="맑은 고딕" panose="020B0503020000020004" pitchFamily="50" charset="-127"/>
              </a:rPr>
              <a:t>    </a:t>
            </a:r>
            <a:r>
              <a:rPr lang="en-US" altLang="ko-KR" sz="1500" b="1" dirty="0">
                <a:solidFill>
                  <a:srgbClr val="C00000"/>
                </a:solidFill>
                <a:ea typeface="맑은 고딕" panose="020B0503020000020004" pitchFamily="50" charset="-127"/>
              </a:rPr>
              <a:t>= </a:t>
            </a:r>
            <a:r>
              <a:rPr lang="ko-KR" altLang="en-US" sz="1500" b="1" dirty="0">
                <a:solidFill>
                  <a:srgbClr val="C00000"/>
                </a:solidFill>
                <a:ea typeface="맑은 고딕" panose="020B0503020000020004" pitchFamily="50" charset="-127"/>
              </a:rPr>
              <a:t>독일</a:t>
            </a:r>
            <a:r>
              <a:rPr lang="en-US" altLang="ko-KR" sz="1500" b="1" dirty="0">
                <a:solidFill>
                  <a:srgbClr val="C00000"/>
                </a:solidFill>
                <a:ea typeface="맑은 고딕" panose="020B0503020000020004" pitchFamily="50" charset="-127"/>
              </a:rPr>
              <a:t>-</a:t>
            </a:r>
            <a:r>
              <a:rPr lang="ko-KR" altLang="en-US" sz="1500" b="1" dirty="0">
                <a:solidFill>
                  <a:srgbClr val="C00000"/>
                </a:solidFill>
                <a:ea typeface="맑은 고딕" panose="020B0503020000020004" pitchFamily="50" charset="-127"/>
              </a:rPr>
              <a:t>러시아 군사협정 </a:t>
            </a:r>
            <a:r>
              <a:rPr lang="en-US" altLang="ko-KR" sz="1500" b="1" dirty="0">
                <a:solidFill>
                  <a:srgbClr val="C00000"/>
                </a:solidFill>
                <a:ea typeface="맑은 고딕" panose="020B0503020000020004" pitchFamily="50" charset="-127"/>
              </a:rPr>
              <a:t>+ </a:t>
            </a:r>
            <a:r>
              <a:rPr lang="ko-KR" altLang="en-US" sz="1500" b="1" dirty="0">
                <a:solidFill>
                  <a:srgbClr val="C00000"/>
                </a:solidFill>
                <a:ea typeface="맑은 고딕" panose="020B0503020000020004" pitchFamily="50" charset="-127"/>
              </a:rPr>
              <a:t>오스트리아</a:t>
            </a:r>
            <a:r>
              <a:rPr lang="en-US" altLang="ko-KR" sz="1500" b="1" dirty="0">
                <a:solidFill>
                  <a:srgbClr val="C00000"/>
                </a:solidFill>
                <a:ea typeface="맑은 고딕" panose="020B0503020000020004" pitchFamily="50" charset="-127"/>
              </a:rPr>
              <a:t>-</a:t>
            </a:r>
            <a:r>
              <a:rPr lang="ko-KR" altLang="en-US" sz="1500" b="1" dirty="0">
                <a:solidFill>
                  <a:srgbClr val="C00000"/>
                </a:solidFill>
                <a:ea typeface="맑은 고딕" panose="020B0503020000020004" pitchFamily="50" charset="-127"/>
              </a:rPr>
              <a:t>러시아 </a:t>
            </a:r>
            <a:r>
              <a:rPr lang="ko-KR" altLang="en-US" sz="1500" b="1" dirty="0" err="1">
                <a:solidFill>
                  <a:srgbClr val="C00000"/>
                </a:solidFill>
                <a:ea typeface="맑은 고딕" panose="020B0503020000020004" pitchFamily="50" charset="-127"/>
              </a:rPr>
              <a:t>쇤브룬협정</a:t>
            </a:r>
            <a:endParaRPr lang="en-US" altLang="ko-KR" sz="1500" b="1" dirty="0">
              <a:solidFill>
                <a:srgbClr val="C00000"/>
              </a:solidFill>
              <a:ea typeface="맑은 고딕" panose="020B0503020000020004" pitchFamily="50" charset="-127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ko-KR" altLang="en-US" sz="1600" dirty="0">
                <a:ea typeface="맑은 고딕" panose="020B0503020000020004" pitchFamily="50" charset="-127"/>
              </a:rPr>
              <a:t>독일</a:t>
            </a:r>
            <a:r>
              <a:rPr lang="en-US" altLang="ko-KR" sz="1600" dirty="0"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ea typeface="맑은 고딕" panose="020B0503020000020004" pitchFamily="50" charset="-127"/>
              </a:rPr>
              <a:t>러시아</a:t>
            </a:r>
            <a:r>
              <a:rPr lang="en-US" altLang="ko-KR" sz="1600" dirty="0"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ea typeface="맑은 고딕" panose="020B0503020000020004" pitchFamily="50" charset="-127"/>
              </a:rPr>
              <a:t>오스트리아가 프랑스와 동맹을 형성하는 것을 저지하려 함</a:t>
            </a:r>
            <a:endParaRPr lang="en-US" altLang="ko-KR" sz="1600" dirty="0">
              <a:ea typeface="맑은 고딕" panose="020B0503020000020004" pitchFamily="50" charset="-127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ko-KR" altLang="en-US" sz="1600" dirty="0">
                <a:ea typeface="맑은 고딕" panose="020B0503020000020004" pitchFamily="50" charset="-127"/>
              </a:rPr>
              <a:t>러시아</a:t>
            </a:r>
            <a:r>
              <a:rPr lang="en-US" altLang="ko-KR" sz="1600" dirty="0"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ea typeface="맑은 고딕" panose="020B0503020000020004" pitchFamily="50" charset="-127"/>
              </a:rPr>
              <a:t>오스트리아</a:t>
            </a:r>
            <a:r>
              <a:rPr lang="en-US" altLang="ko-KR" sz="1600" dirty="0"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ea typeface="맑은 고딕" panose="020B0503020000020004" pitchFamily="50" charset="-127"/>
              </a:rPr>
              <a:t>발칸에서 각자 유리한 입지를 구축하고자 독일의 지원 기대</a:t>
            </a:r>
            <a:endParaRPr lang="en-US" altLang="ko-KR" sz="1600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ko-KR" altLang="en-US" sz="1600" dirty="0">
                <a:ea typeface="맑은 고딕" panose="020B0503020000020004" pitchFamily="50" charset="-127"/>
              </a:rPr>
              <a:t>러시아는 독일과 오스트리아의 동맹을 저지하고 최종적으로 독일을 이용</a:t>
            </a:r>
            <a:r>
              <a:rPr lang="en-US" altLang="ko-KR" sz="1600" dirty="0"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ea typeface="맑은 고딕" panose="020B0503020000020004" pitchFamily="50" charset="-127"/>
              </a:rPr>
              <a:t>발칸에서의 오스트리아 저지를 목표</a:t>
            </a:r>
            <a:endParaRPr lang="en-US" altLang="ko-KR" sz="1600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ko-KR" altLang="en-US" sz="1600" dirty="0">
                <a:ea typeface="맑은 고딕" panose="020B0503020000020004" pitchFamily="50" charset="-127"/>
              </a:rPr>
              <a:t>오스트리아는 발칸 진출을 위해 러시아와 화해가 필요했고</a:t>
            </a:r>
            <a:r>
              <a:rPr lang="en-US" altLang="ko-KR" sz="1600" dirty="0"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ea typeface="맑은 고딕" panose="020B0503020000020004" pitchFamily="50" charset="-127"/>
              </a:rPr>
              <a:t>독일을 통해서 가능하리라고 판단</a:t>
            </a:r>
            <a:endParaRPr lang="en-US" altLang="ko-KR" sz="1600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600" dirty="0">
                <a:ea typeface="맑은 고딕" panose="020B0503020000020004" pitchFamily="50" charset="-127"/>
              </a:rPr>
              <a:t>&lt;</a:t>
            </a:r>
            <a:r>
              <a:rPr lang="ko-KR" altLang="en-US" sz="1600" dirty="0">
                <a:ea typeface="맑은 고딕" panose="020B0503020000020004" pitchFamily="50" charset="-127"/>
              </a:rPr>
              <a:t>독</a:t>
            </a:r>
            <a:r>
              <a:rPr lang="en-US" altLang="ko-KR" sz="1600" dirty="0">
                <a:ea typeface="맑은 고딕" panose="020B0503020000020004" pitchFamily="50" charset="-127"/>
              </a:rPr>
              <a:t>-</a:t>
            </a:r>
            <a:r>
              <a:rPr lang="ko-KR" altLang="en-US" sz="1600" dirty="0">
                <a:ea typeface="맑은 고딕" panose="020B0503020000020004" pitchFamily="50" charset="-127"/>
              </a:rPr>
              <a:t>러 군사협정</a:t>
            </a:r>
            <a:r>
              <a:rPr lang="en-US" altLang="ko-KR" sz="1600" dirty="0">
                <a:ea typeface="맑은 고딕" panose="020B0503020000020004" pitchFamily="50" charset="-127"/>
              </a:rPr>
              <a:t>&gt;(1873.05.) </a:t>
            </a:r>
            <a:r>
              <a:rPr lang="ko-KR" altLang="en-US" sz="1600" dirty="0">
                <a:ea typeface="맑은 고딕" panose="020B0503020000020004" pitchFamily="50" charset="-127"/>
              </a:rPr>
              <a:t>일방이 타국으로부터 공격받을 경우 다른 일방이 </a:t>
            </a:r>
            <a:r>
              <a:rPr lang="en-US" altLang="ko-KR" sz="1600" dirty="0">
                <a:ea typeface="맑은 고딕" panose="020B0503020000020004" pitchFamily="50" charset="-127"/>
              </a:rPr>
              <a:t>20</a:t>
            </a:r>
            <a:r>
              <a:rPr lang="ko-KR" altLang="en-US" sz="1600" dirty="0">
                <a:ea typeface="맑은 고딕" panose="020B0503020000020004" pitchFamily="50" charset="-127"/>
              </a:rPr>
              <a:t>만 병력으로 지원</a:t>
            </a:r>
            <a:endParaRPr lang="en-US" altLang="ko-KR" sz="1600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600" dirty="0">
                <a:ea typeface="맑은 고딕" panose="020B0503020000020004" pitchFamily="50" charset="-127"/>
              </a:rPr>
              <a:t>&lt;</a:t>
            </a:r>
            <a:r>
              <a:rPr lang="ko-KR" altLang="en-US" sz="1600" dirty="0">
                <a:ea typeface="맑은 고딕" panose="020B0503020000020004" pitchFamily="50" charset="-127"/>
              </a:rPr>
              <a:t>오</a:t>
            </a:r>
            <a:r>
              <a:rPr lang="en-US" altLang="ko-KR" sz="1600" dirty="0">
                <a:ea typeface="맑은 고딕" panose="020B0503020000020004" pitchFamily="50" charset="-127"/>
              </a:rPr>
              <a:t>-</a:t>
            </a:r>
            <a:r>
              <a:rPr lang="ko-KR" altLang="en-US" sz="1600" dirty="0">
                <a:ea typeface="맑은 고딕" panose="020B0503020000020004" pitchFamily="50" charset="-127"/>
              </a:rPr>
              <a:t>러 </a:t>
            </a:r>
            <a:r>
              <a:rPr lang="ko-KR" altLang="en-US" sz="1600" dirty="0" err="1">
                <a:ea typeface="맑은 고딕" panose="020B0503020000020004" pitchFamily="50" charset="-127"/>
              </a:rPr>
              <a:t>쇤브룬조약</a:t>
            </a:r>
            <a:r>
              <a:rPr lang="en-US" altLang="ko-KR" sz="1600" dirty="0">
                <a:ea typeface="맑은 고딕" panose="020B0503020000020004" pitchFamily="50" charset="-127"/>
              </a:rPr>
              <a:t>&gt;(1873.06.) </a:t>
            </a:r>
            <a:r>
              <a:rPr lang="ko-KR" altLang="en-US" sz="1600" dirty="0">
                <a:ea typeface="맑은 고딕" panose="020B0503020000020004" pitchFamily="50" charset="-127"/>
              </a:rPr>
              <a:t>양국 간 주요 문제 대해 협의하기로 합의</a:t>
            </a:r>
            <a:r>
              <a:rPr lang="en-US" altLang="ko-KR" sz="1600" dirty="0"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ea typeface="맑은 고딕" panose="020B0503020000020004" pitchFamily="50" charset="-127"/>
              </a:rPr>
              <a:t>독일이 추가 서명하며 삼제협상 형성</a:t>
            </a:r>
            <a:endParaRPr lang="en-US" altLang="ko-KR" sz="1500" dirty="0"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FCB62B-97B4-15B3-CBEE-EC0AA9F79FFB}"/>
              </a:ext>
            </a:extLst>
          </p:cNvPr>
          <p:cNvSpPr/>
          <p:nvPr/>
        </p:nvSpPr>
        <p:spPr>
          <a:xfrm>
            <a:off x="1127448" y="1498598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(1) </a:t>
            </a: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삼제협상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D1615A-BB48-8DDC-1AC9-EC1E9E66141C}"/>
              </a:ext>
            </a:extLst>
          </p:cNvPr>
          <p:cNvSpPr/>
          <p:nvPr/>
        </p:nvSpPr>
        <p:spPr>
          <a:xfrm>
            <a:off x="6305306" y="528271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03FE6-92A6-97CF-501D-6A1FD2F58BBE}"/>
              </a:ext>
            </a:extLst>
          </p:cNvPr>
          <p:cNvSpPr txBox="1"/>
          <p:nvPr/>
        </p:nvSpPr>
        <p:spPr>
          <a:xfrm>
            <a:off x="4511824" y="765504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8338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703512" y="2148018"/>
            <a:ext cx="10585176" cy="445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rgbClr val="C00000"/>
                </a:solidFill>
                <a:latin typeface="굴림" panose="020B0600000101010101" pitchFamily="50" charset="-127"/>
              </a:rPr>
              <a:t>① </a:t>
            </a:r>
            <a:r>
              <a:rPr lang="ko-KR" altLang="en-US" sz="1600" b="1" dirty="0">
                <a:solidFill>
                  <a:srgbClr val="C00000"/>
                </a:solidFill>
                <a:ea typeface="맑은 고딕" panose="020B0503020000020004" pitchFamily="50" charset="-127"/>
              </a:rPr>
              <a:t>예방전쟁 사건 </a:t>
            </a:r>
            <a:r>
              <a:rPr lang="en-US" altLang="ko-KR" sz="1600" b="1" dirty="0">
                <a:solidFill>
                  <a:srgbClr val="C00000"/>
                </a:solidFill>
                <a:ea typeface="맑은 고딕" panose="020B0503020000020004" pitchFamily="50" charset="-127"/>
              </a:rPr>
              <a:t>(1875) </a:t>
            </a: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ea typeface="맑은 고딕" panose="020B0503020000020004" pitchFamily="50" charset="-127"/>
              </a:rPr>
              <a:t>1873</a:t>
            </a:r>
            <a:r>
              <a:rPr lang="ko-KR" altLang="en-US" sz="1400" dirty="0">
                <a:ea typeface="맑은 고딕" panose="020B0503020000020004" pitchFamily="50" charset="-127"/>
              </a:rPr>
              <a:t>년 이후 프랑스가 군비 증강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프랑스의 회복에 불안을 느낀 독일이 예방전쟁론을 주장하며 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dirty="0"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ea typeface="맑은 고딕" panose="020B0503020000020004" pitchFamily="50" charset="-127"/>
              </a:rPr>
              <a:t>독</a:t>
            </a:r>
            <a:r>
              <a:rPr lang="en-US" altLang="ko-KR" sz="1400" dirty="0">
                <a:ea typeface="맑은 고딕" panose="020B0503020000020004" pitchFamily="50" charset="-127"/>
              </a:rPr>
              <a:t>-</a:t>
            </a:r>
            <a:r>
              <a:rPr lang="ko-KR" altLang="en-US" sz="1400" dirty="0">
                <a:ea typeface="맑은 고딕" panose="020B0503020000020004" pitchFamily="50" charset="-127"/>
              </a:rPr>
              <a:t>불 관계가  악화되자 러시아가 개입하여 일단락되었으나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독일은 프랑스와 전쟁 시 러시아의 지원을 받기 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dirty="0"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ea typeface="맑은 고딕" panose="020B0503020000020004" pitchFamily="50" charset="-127"/>
              </a:rPr>
              <a:t>어렵다고 판단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400" dirty="0"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600" b="1" dirty="0">
                <a:solidFill>
                  <a:srgbClr val="C00000"/>
                </a:solidFill>
                <a:latin typeface="굴림" panose="020B0600000101010101" pitchFamily="50" charset="-127"/>
              </a:rPr>
              <a:t>② </a:t>
            </a:r>
            <a:r>
              <a:rPr lang="ko-KR" altLang="en-US" sz="1600" b="1" dirty="0">
                <a:solidFill>
                  <a:srgbClr val="C00000"/>
                </a:solidFill>
                <a:ea typeface="맑은 고딕" panose="020B0503020000020004" pitchFamily="50" charset="-127"/>
              </a:rPr>
              <a:t>발칸위기 </a:t>
            </a:r>
            <a:endParaRPr lang="en-US" altLang="ko-KR" sz="1600" b="1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터키 지배 하의 발칸 민족들이 반란을 일으키고 터키가 무자비하게 진압하자 러시아가 개입 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400" dirty="0">
                <a:ea typeface="맑은 고딕" panose="020B0503020000020004" pitchFamily="50" charset="-127"/>
              </a:rPr>
              <a:t>     =&gt; </a:t>
            </a:r>
            <a:r>
              <a:rPr lang="ko-KR" altLang="en-US" sz="1400" dirty="0">
                <a:ea typeface="맑은 고딕" panose="020B0503020000020004" pitchFamily="50" charset="-127"/>
              </a:rPr>
              <a:t>이는 러시아</a:t>
            </a:r>
            <a:r>
              <a:rPr lang="en-US" altLang="ko-KR" sz="1400" dirty="0">
                <a:ea typeface="맑은 고딕" panose="020B0503020000020004" pitchFamily="50" charset="-127"/>
              </a:rPr>
              <a:t>-</a:t>
            </a:r>
            <a:r>
              <a:rPr lang="ko-KR" altLang="en-US" sz="1400" dirty="0">
                <a:ea typeface="맑은 고딕" panose="020B0503020000020004" pitchFamily="50" charset="-127"/>
              </a:rPr>
              <a:t>터키</a:t>
            </a:r>
            <a:r>
              <a:rPr lang="en-US" altLang="ko-KR" sz="1400" dirty="0"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ea typeface="맑은 고딕" panose="020B0503020000020004" pitchFamily="50" charset="-127"/>
              </a:rPr>
              <a:t>투르크</a:t>
            </a:r>
            <a:r>
              <a:rPr lang="en-US" altLang="ko-KR" sz="1400" dirty="0"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ea typeface="맑은 고딕" panose="020B0503020000020004" pitchFamily="50" charset="-127"/>
              </a:rPr>
              <a:t> 전쟁으로 확대되어 러시아가 승리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발칸의 현상유지를 원한 영국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오스트리아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독일이 개입해 러시아에 압력 </a:t>
            </a:r>
            <a:r>
              <a:rPr lang="en-US" altLang="ko-KR" sz="1400" dirty="0"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ea typeface="맑은 고딕" panose="020B0503020000020004" pitchFamily="50" charset="-127"/>
              </a:rPr>
              <a:t>베를린회의</a:t>
            </a:r>
            <a:r>
              <a:rPr lang="en-US" altLang="ko-KR" sz="1400" dirty="0">
                <a:ea typeface="맑은 고딕" panose="020B0503020000020004" pitchFamily="50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독일의 정직한 중재를 기대했던 러시아는 불만을 갖게 되고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이로 인해 </a:t>
            </a:r>
            <a:r>
              <a:rPr lang="en-US" altLang="ko-KR" sz="1400" dirty="0"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ea typeface="맑은 고딕" panose="020B0503020000020004" pitchFamily="50" charset="-127"/>
              </a:rPr>
              <a:t>차 삼제협상은 사실상 와해</a:t>
            </a:r>
            <a:endParaRPr lang="en-US" altLang="ko-KR" sz="1400" dirty="0"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5FFD61-CF17-6CB1-4FBF-1C59D11F7B22}"/>
              </a:ext>
            </a:extLst>
          </p:cNvPr>
          <p:cNvSpPr txBox="1"/>
          <p:nvPr/>
        </p:nvSpPr>
        <p:spPr>
          <a:xfrm>
            <a:off x="1703512" y="1753201"/>
            <a:ext cx="6143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/>
              <a:t>제</a:t>
            </a:r>
            <a:r>
              <a:rPr lang="en-US" altLang="ko-KR" b="1" dirty="0"/>
              <a:t>1</a:t>
            </a:r>
            <a:r>
              <a:rPr lang="ko-KR" altLang="en-US" b="1" dirty="0"/>
              <a:t>차 삼제협상의 와해와 비스마르크 구상의 위기</a:t>
            </a:r>
          </a:p>
        </p:txBody>
      </p:sp>
    </p:spTree>
    <p:extLst>
      <p:ext uri="{BB962C8B-B14F-4D97-AF65-F5344CB8AC3E}">
        <p14:creationId xmlns:p14="http://schemas.microsoft.com/office/powerpoint/2010/main" val="2933217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167014" y="352534"/>
            <a:ext cx="10585176" cy="1096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ea typeface="맑은 고딕" panose="020B0503020000020004" pitchFamily="50" charset="-127"/>
              </a:rPr>
              <a:t>② 발칸위기 </a:t>
            </a:r>
            <a:endParaRPr lang="en-US" altLang="ko-KR" sz="2000" b="1" dirty="0">
              <a:ea typeface="맑은 고딕" panose="020B0503020000020004" pitchFamily="50" charset="-127"/>
            </a:endParaRPr>
          </a:p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ko-KR" sz="1500" dirty="0"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21342-49B0-F049-F061-DD71B1F18ADC}"/>
              </a:ext>
            </a:extLst>
          </p:cNvPr>
          <p:cNvSpPr txBox="1"/>
          <p:nvPr/>
        </p:nvSpPr>
        <p:spPr>
          <a:xfrm>
            <a:off x="1199456" y="1340768"/>
            <a:ext cx="10225136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발칸 반도 상황</a:t>
            </a: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ko-KR" alt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오스만의 쇠퇴에 따라 발칸 諸 민족</a:t>
            </a:r>
            <a:r>
              <a:rPr lang="en-US" altLang="ko-KR" sz="1600" dirty="0"/>
              <a:t>(</a:t>
            </a:r>
            <a:r>
              <a:rPr lang="ko-KR" altLang="en-US" sz="1600" dirty="0"/>
              <a:t>민족</a:t>
            </a:r>
            <a:r>
              <a:rPr lang="en-US" altLang="ko-KR" sz="1600" dirty="0"/>
              <a:t>, </a:t>
            </a:r>
            <a:r>
              <a:rPr lang="ko-KR" altLang="en-US" sz="1600" dirty="0"/>
              <a:t>종교문제로 사이가 불편</a:t>
            </a:r>
            <a:r>
              <a:rPr lang="en-US" altLang="ko-KR" sz="1600" dirty="0"/>
              <a:t>)</a:t>
            </a:r>
            <a:r>
              <a:rPr lang="ko-KR" altLang="en-US" sz="1600" dirty="0"/>
              <a:t>간 독립을 위한 봉기 발생</a:t>
            </a: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러시아는 슬라브계 지지하며 영향력 확대를 추구</a:t>
            </a: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독일</a:t>
            </a:r>
            <a:r>
              <a:rPr lang="en-US" altLang="ko-KR" sz="1600" dirty="0"/>
              <a:t>(</a:t>
            </a:r>
            <a:r>
              <a:rPr lang="ko-KR" altLang="en-US" sz="1600" dirty="0"/>
              <a:t>프로이센</a:t>
            </a:r>
            <a:r>
              <a:rPr lang="en-US" altLang="ko-KR" sz="1600" dirty="0"/>
              <a:t>)</a:t>
            </a:r>
            <a:r>
              <a:rPr lang="ko-KR" altLang="en-US" sz="1600" dirty="0"/>
              <a:t>은 발칸에 큰 관심 없었으나 프랑스 고립을 위해 오스트리아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러시아와 관계 유지 필요</a:t>
            </a: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오스트리아는 다민족 국가인 자국에 대한 영향과</a:t>
            </a:r>
            <a:r>
              <a:rPr lang="en-US" altLang="ko-KR" sz="1600" dirty="0"/>
              <a:t> </a:t>
            </a:r>
            <a:r>
              <a:rPr lang="ko-KR" altLang="en-US" sz="1600" dirty="0"/>
              <a:t>과거 독일 통일전쟁시의 관계 때문에 독일을 신뢰하기 어려웠으나  독일이 러시아와 동맹을 맺고 오스트리아를 견제할 것을 우려</a:t>
            </a:r>
            <a:r>
              <a:rPr lang="en-US" altLang="ko-KR" sz="1600" dirty="0"/>
              <a:t>, </a:t>
            </a:r>
            <a:r>
              <a:rPr lang="ko-KR" altLang="en-US" sz="1600" dirty="0"/>
              <a:t>또 발칸 진출을 위해 러시아와 관계 강화가 필요</a:t>
            </a:r>
            <a:r>
              <a:rPr lang="en-US" altLang="ko-KR" sz="1600" dirty="0"/>
              <a:t>, </a:t>
            </a:r>
            <a:r>
              <a:rPr lang="ko-KR" altLang="en-US" sz="1600" dirty="0"/>
              <a:t>독일이 이를 지지해 줄 것을 기대</a:t>
            </a:r>
            <a:r>
              <a:rPr lang="en-US" altLang="ko-KR" sz="1600" dirty="0"/>
              <a:t>&gt;&gt;</a:t>
            </a:r>
            <a:r>
              <a:rPr lang="ko-KR" altLang="en-US" sz="1600" dirty="0"/>
              <a:t>따라서 먼저 독일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러시아에 동맹 제의</a:t>
            </a:r>
            <a:r>
              <a:rPr lang="en-US" altLang="ko-KR" sz="1600" dirty="0"/>
              <a:t>(</a:t>
            </a:r>
            <a:r>
              <a:rPr lang="ko-KR" altLang="en-US" sz="1600" dirty="0"/>
              <a:t>삼제협상</a:t>
            </a:r>
            <a:r>
              <a:rPr lang="en-US" altLang="ko-KR" sz="16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헤르체고비나에서 </a:t>
            </a:r>
            <a:r>
              <a:rPr lang="en-US" altLang="ko-KR" b="1" dirty="0"/>
              <a:t>1875</a:t>
            </a:r>
            <a:r>
              <a:rPr lang="ko-KR" altLang="en-US" b="1" dirty="0"/>
              <a:t>년 기독교 농민 반란 발생</a:t>
            </a:r>
            <a:r>
              <a:rPr lang="en-US" altLang="ko-KR" b="1" dirty="0"/>
              <a:t>, </a:t>
            </a:r>
            <a:r>
              <a:rPr lang="ko-KR" altLang="en-US" b="1" dirty="0"/>
              <a:t>보스니아</a:t>
            </a:r>
            <a:r>
              <a:rPr lang="en-US" altLang="ko-KR" b="1" dirty="0"/>
              <a:t>(</a:t>
            </a:r>
            <a:r>
              <a:rPr lang="ko-KR" altLang="en-US" b="1" dirty="0"/>
              <a:t>당시 오스만제국이 지배</a:t>
            </a:r>
            <a:r>
              <a:rPr lang="en-US" altLang="ko-KR" b="1" dirty="0"/>
              <a:t>)</a:t>
            </a:r>
            <a:r>
              <a:rPr lang="ko-KR" altLang="en-US" b="1" dirty="0"/>
              <a:t>로 확산</a:t>
            </a: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ko-KR" alt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반란은 슬라브계 민족 거주지역으로 확산</a:t>
            </a:r>
            <a:r>
              <a:rPr lang="en-US" altLang="ko-KR" sz="1600" dirty="0"/>
              <a:t>, </a:t>
            </a:r>
            <a:r>
              <a:rPr lang="ko-KR" altLang="en-US" sz="1600" dirty="0"/>
              <a:t>오스만정부에 의해 가혹하게 진압됨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1875</a:t>
            </a:r>
            <a:r>
              <a:rPr lang="ko-KR" altLang="en-US" sz="1600" dirty="0"/>
              <a:t>년 </a:t>
            </a:r>
            <a:r>
              <a:rPr lang="en-US" altLang="ko-KR" sz="1600" dirty="0"/>
              <a:t>10</a:t>
            </a:r>
            <a:r>
              <a:rPr lang="ko-KR" altLang="en-US" sz="1600" dirty="0"/>
              <a:t>월 경제 위기로 국가 파산을 선포하였던 오스만제국은 반란 진압 후 유럽 열강의 지원 없이 이들 지역의 통치가 불가능하다고 인식</a:t>
            </a:r>
            <a:r>
              <a:rPr lang="en-US" altLang="ko-KR" sz="1600" dirty="0"/>
              <a:t>,  </a:t>
            </a:r>
            <a:r>
              <a:rPr lang="ko-KR" altLang="en-US" sz="1600" dirty="0"/>
              <a:t>이 지역의 자치</a:t>
            </a:r>
            <a:r>
              <a:rPr lang="en-US" altLang="ko-KR" sz="1600" dirty="0"/>
              <a:t>, </a:t>
            </a:r>
            <a:r>
              <a:rPr lang="ko-KR" altLang="en-US" sz="1600" dirty="0"/>
              <a:t>의회제 도입</a:t>
            </a:r>
            <a:r>
              <a:rPr lang="en-US" altLang="ko-KR" sz="1600" dirty="0"/>
              <a:t>, </a:t>
            </a:r>
            <a:r>
              <a:rPr lang="ko-KR" altLang="en-US" sz="1600" dirty="0"/>
              <a:t>종교의 자유를 선언하고 유럽 열강의 지지를 촉구</a:t>
            </a: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러시아는 발칸 반도에서의 영향력을 강화</a:t>
            </a:r>
            <a:r>
              <a:rPr lang="en-US" altLang="ko-KR" sz="1600" dirty="0"/>
              <a:t>(</a:t>
            </a:r>
            <a:r>
              <a:rPr lang="ko-KR" altLang="en-US" sz="1600" dirty="0" err="1"/>
              <a:t>범슬라브주의</a:t>
            </a:r>
            <a:r>
              <a:rPr lang="en-US" altLang="ko-KR" sz="1600" dirty="0"/>
              <a:t>)</a:t>
            </a:r>
            <a:r>
              <a:rPr lang="ko-KR" altLang="en-US" sz="1600" dirty="0"/>
              <a:t>하기 위해 독일의 협력을 요구</a:t>
            </a: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독일은 러시아의 팽창과 국제적 긴장 관계 가중을 우려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러시아의 요구를 거절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664930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210712" y="2572017"/>
            <a:ext cx="10585176" cy="558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b="1" dirty="0">
                <a:ea typeface="맑은 고딕" panose="020B0503020000020004" pitchFamily="50" charset="-127"/>
              </a:rPr>
              <a:t>&lt;</a:t>
            </a:r>
            <a:r>
              <a:rPr lang="ko-KR" altLang="en-US" b="1" dirty="0" err="1">
                <a:ea typeface="맑은 고딕" panose="020B0503020000020004" pitchFamily="50" charset="-127"/>
              </a:rPr>
              <a:t>산스테파노</a:t>
            </a:r>
            <a:r>
              <a:rPr lang="ko-KR" altLang="en-US" b="1" dirty="0">
                <a:ea typeface="맑은 고딕" panose="020B0503020000020004" pitchFamily="50" charset="-127"/>
              </a:rPr>
              <a:t> 조약</a:t>
            </a:r>
            <a:r>
              <a:rPr lang="en-US" altLang="ko-KR" b="1" dirty="0">
                <a:ea typeface="맑은 고딕" panose="020B0503020000020004" pitchFamily="50" charset="-127"/>
              </a:rPr>
              <a:t>&gt;</a:t>
            </a:r>
            <a:r>
              <a:rPr lang="ko-KR" altLang="en-US" b="1" dirty="0">
                <a:ea typeface="맑은 고딕" panose="020B0503020000020004" pitchFamily="50" charset="-127"/>
              </a:rPr>
              <a:t>의 결과와 그 수정안</a:t>
            </a:r>
            <a:r>
              <a:rPr lang="en-US" altLang="ko-KR" b="1" dirty="0">
                <a:ea typeface="맑은 고딕" panose="020B0503020000020004" pitchFamily="50" charset="-127"/>
              </a:rPr>
              <a:t>&lt;</a:t>
            </a:r>
            <a:r>
              <a:rPr lang="ko-KR" altLang="en-US" b="1" dirty="0">
                <a:ea typeface="맑은 고딕" panose="020B0503020000020004" pitchFamily="50" charset="-127"/>
              </a:rPr>
              <a:t>베를린조약</a:t>
            </a:r>
            <a:r>
              <a:rPr lang="en-US" altLang="ko-KR" b="1" dirty="0">
                <a:ea typeface="맑은 고딕" panose="020B0503020000020004" pitchFamily="50" charset="-127"/>
              </a:rPr>
              <a:t>&gt;(1878.7) </a:t>
            </a:r>
            <a:r>
              <a:rPr lang="ko-KR" altLang="en-US" b="1" dirty="0">
                <a:ea typeface="맑은 고딕" panose="020B0503020000020004" pitchFamily="50" charset="-127"/>
              </a:rPr>
              <a:t>체결</a:t>
            </a:r>
            <a:endParaRPr lang="en-US" altLang="ko-KR" b="1" dirty="0"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878C6-C278-549F-75C0-5F86D58B14A1}"/>
              </a:ext>
            </a:extLst>
          </p:cNvPr>
          <p:cNvSpPr txBox="1"/>
          <p:nvPr/>
        </p:nvSpPr>
        <p:spPr>
          <a:xfrm>
            <a:off x="1195854" y="3353955"/>
            <a:ext cx="102251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조약에 따라 오스만은 배상금 지급 및 세르비아</a:t>
            </a:r>
            <a:r>
              <a:rPr lang="en-US" altLang="ko-KR" dirty="0"/>
              <a:t>, </a:t>
            </a:r>
            <a:r>
              <a:rPr lang="ko-KR" altLang="en-US" dirty="0"/>
              <a:t>몬테네그로</a:t>
            </a:r>
            <a:r>
              <a:rPr lang="en-US" altLang="ko-KR" dirty="0"/>
              <a:t>, </a:t>
            </a:r>
            <a:r>
              <a:rPr lang="ko-KR" altLang="en-US" dirty="0"/>
              <a:t>루마니아의 각 공국의 독립과 불가리아 공국의 영토축소를 승인해야 했음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즉 러시아의 세력 확대를 가져올 발칸 정치지형 변화 초래</a:t>
            </a:r>
            <a:r>
              <a:rPr lang="en-US" altLang="ko-KR" dirty="0"/>
              <a:t>, </a:t>
            </a:r>
            <a:r>
              <a:rPr lang="ko-KR" altLang="en-US" dirty="0"/>
              <a:t>이에 유럽 각국</a:t>
            </a:r>
            <a:r>
              <a:rPr lang="en-US" altLang="ko-KR" dirty="0"/>
              <a:t>(</a:t>
            </a:r>
            <a:r>
              <a:rPr lang="ko-KR" altLang="en-US" dirty="0"/>
              <a:t>영국</a:t>
            </a:r>
            <a:r>
              <a:rPr lang="en-US" altLang="ko-KR" dirty="0"/>
              <a:t>, </a:t>
            </a:r>
            <a:r>
              <a:rPr lang="ko-KR" altLang="en-US" dirty="0"/>
              <a:t>오스트리아</a:t>
            </a:r>
            <a:r>
              <a:rPr lang="en-US" altLang="ko-KR" dirty="0"/>
              <a:t>)</a:t>
            </a:r>
            <a:r>
              <a:rPr lang="ko-KR" altLang="en-US" dirty="0"/>
              <a:t>이 반발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베를린 회의</a:t>
            </a:r>
            <a:r>
              <a:rPr lang="en-US" altLang="ko-KR" dirty="0"/>
              <a:t>(1878.6.13~7.13)</a:t>
            </a:r>
            <a:r>
              <a:rPr lang="ko-KR" altLang="en-US" dirty="0"/>
              <a:t>를 통해 </a:t>
            </a:r>
            <a:r>
              <a:rPr lang="ko-KR" altLang="en-US" dirty="0" err="1"/>
              <a:t>산스테파노</a:t>
            </a:r>
            <a:r>
              <a:rPr lang="ko-KR" altLang="en-US" dirty="0"/>
              <a:t> 조약을 수정한 </a:t>
            </a:r>
            <a:r>
              <a:rPr lang="en-US" altLang="ko-KR" b="1" dirty="0"/>
              <a:t>&lt;</a:t>
            </a:r>
            <a:r>
              <a:rPr lang="ko-KR" altLang="en-US" b="1" dirty="0"/>
              <a:t>베를린 조약</a:t>
            </a:r>
            <a:r>
              <a:rPr lang="en-US" altLang="ko-KR" b="1" dirty="0"/>
              <a:t>&gt;</a:t>
            </a:r>
            <a:r>
              <a:rPr lang="ko-KR" altLang="en-US" dirty="0"/>
              <a:t>체결</a:t>
            </a:r>
            <a:endParaRPr lang="en-US" altLang="ko-KR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오스만제국이 러시아에게 뺏긴 영토 일부 회복</a:t>
            </a:r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202122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오스트리아는 </a:t>
            </a:r>
            <a:r>
              <a:rPr lang="ko-KR" altLang="en-US" dirty="0" err="1">
                <a:solidFill>
                  <a:srgbClr val="202122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오스만으로부터</a:t>
            </a:r>
            <a:r>
              <a:rPr lang="ko-KR" altLang="en-US" dirty="0">
                <a:solidFill>
                  <a:srgbClr val="202122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 </a:t>
            </a:r>
            <a:r>
              <a:rPr lang="ko-KR" altLang="en-US" dirty="0" err="1">
                <a:solidFill>
                  <a:srgbClr val="202122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부스니아</a:t>
            </a:r>
            <a:r>
              <a:rPr lang="en-US" altLang="ko-KR" dirty="0">
                <a:solidFill>
                  <a:srgbClr val="202122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-</a:t>
            </a:r>
            <a:r>
              <a:rPr lang="ko-KR" altLang="en-US" dirty="0">
                <a:solidFill>
                  <a:srgbClr val="202122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헤르체고비나의 관할권</a:t>
            </a:r>
            <a:r>
              <a:rPr lang="en-US" altLang="ko-KR" dirty="0">
                <a:solidFill>
                  <a:srgbClr val="202122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(</a:t>
            </a:r>
            <a:r>
              <a:rPr lang="ko-KR" altLang="en-US" dirty="0">
                <a:solidFill>
                  <a:srgbClr val="202122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주권은 오스만제국</a:t>
            </a:r>
            <a:r>
              <a:rPr lang="en-US" altLang="ko-KR" dirty="0">
                <a:solidFill>
                  <a:srgbClr val="202122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) </a:t>
            </a:r>
            <a:r>
              <a:rPr lang="ko-KR" altLang="en-US" dirty="0">
                <a:solidFill>
                  <a:srgbClr val="202122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획득</a:t>
            </a:r>
            <a:r>
              <a:rPr lang="en-US" altLang="ko-KR" dirty="0">
                <a:solidFill>
                  <a:srgbClr val="202122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(1908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년 완전 병합</a:t>
            </a:r>
            <a:r>
              <a:rPr lang="en-US" altLang="ko-KR" sz="1400" dirty="0">
                <a:solidFill>
                  <a:srgbClr val="202122"/>
                </a:solidFill>
                <a:highlight>
                  <a:srgbClr val="00FF00"/>
                </a:highlight>
                <a:latin typeface="Arial" panose="020B0604020202020204" pitchFamily="34" charset="0"/>
              </a:rPr>
              <a:t>)</a:t>
            </a:r>
            <a:r>
              <a:rPr lang="ko-KR" altLang="en-US" sz="1400" dirty="0">
                <a:solidFill>
                  <a:srgbClr val="20212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endParaRPr lang="en-US" altLang="ko-KR" sz="1400" dirty="0">
              <a:solidFill>
                <a:srgbClr val="202122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영국은 </a:t>
            </a:r>
            <a:r>
              <a:rPr lang="ko-KR" alt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오스만으로부터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키프로스 관할권 획득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1914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년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완전 병합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009DED-DD44-A755-85EA-41771C7AA0B5}"/>
              </a:ext>
            </a:extLst>
          </p:cNvPr>
          <p:cNvSpPr txBox="1"/>
          <p:nvPr/>
        </p:nvSpPr>
        <p:spPr>
          <a:xfrm>
            <a:off x="1208752" y="286142"/>
            <a:ext cx="1049457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endParaRPr lang="ko-KR" alt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러시아는 </a:t>
            </a:r>
            <a:r>
              <a:rPr lang="ko-KR" altLang="en-US" sz="2000" b="1" dirty="0" err="1"/>
              <a:t>범슬라브계</a:t>
            </a:r>
            <a:r>
              <a:rPr lang="ko-KR" altLang="en-US" sz="2000" b="1" dirty="0"/>
              <a:t> 지원을 명분으로 오스만 제국을 공격</a:t>
            </a:r>
            <a:r>
              <a:rPr lang="en-US" altLang="ko-KR" sz="2000" b="1" dirty="0">
                <a:highlight>
                  <a:srgbClr val="00FF00"/>
                </a:highlight>
              </a:rPr>
              <a:t>(1877.1 </a:t>
            </a:r>
            <a:r>
              <a:rPr lang="ko-KR" altLang="en-US" sz="2000" b="1" dirty="0">
                <a:highlight>
                  <a:srgbClr val="00FF00"/>
                </a:highlight>
              </a:rPr>
              <a:t>러시아</a:t>
            </a:r>
            <a:r>
              <a:rPr lang="en-US" altLang="ko-KR" sz="2000" b="1" dirty="0">
                <a:highlight>
                  <a:srgbClr val="00FF00"/>
                </a:highlight>
              </a:rPr>
              <a:t>-</a:t>
            </a:r>
            <a:r>
              <a:rPr lang="ko-KR" altLang="en-US" sz="2000" b="1" dirty="0" err="1">
                <a:highlight>
                  <a:srgbClr val="00FF00"/>
                </a:highlight>
              </a:rPr>
              <a:t>투르크전쟁</a:t>
            </a:r>
            <a:r>
              <a:rPr lang="en-US" altLang="ko-KR" sz="2000" b="1" dirty="0">
                <a:highlight>
                  <a:srgbClr val="00FF00"/>
                </a:highlight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러시아의 승리로</a:t>
            </a:r>
            <a:r>
              <a:rPr lang="en-US" altLang="ko-KR" b="1" dirty="0"/>
              <a:t>, 1878</a:t>
            </a:r>
            <a:r>
              <a:rPr lang="ko-KR" altLang="en-US" b="1" dirty="0"/>
              <a:t>년 </a:t>
            </a:r>
            <a:r>
              <a:rPr lang="en-US" altLang="ko-KR" b="1" dirty="0"/>
              <a:t>3</a:t>
            </a:r>
            <a:r>
              <a:rPr lang="ko-KR" altLang="en-US" b="1" dirty="0"/>
              <a:t>월 </a:t>
            </a:r>
            <a:r>
              <a:rPr lang="en-US" altLang="ko-KR" b="1" dirty="0"/>
              <a:t>3</a:t>
            </a:r>
            <a:r>
              <a:rPr lang="ko-KR" altLang="en-US" b="1" dirty="0"/>
              <a:t>일 </a:t>
            </a:r>
            <a:r>
              <a:rPr lang="en-US" altLang="ko-KR" b="1" dirty="0"/>
              <a:t>&lt;</a:t>
            </a:r>
            <a:r>
              <a:rPr lang="ko-KR" altLang="en-US" b="1" dirty="0" err="1"/>
              <a:t>산스테파노</a:t>
            </a:r>
            <a:r>
              <a:rPr lang="ko-KR" altLang="en-US" b="1" dirty="0"/>
              <a:t> 조약</a:t>
            </a:r>
            <a:r>
              <a:rPr lang="en-US" altLang="ko-KR" b="1" dirty="0"/>
              <a:t>&gt; </a:t>
            </a:r>
            <a:r>
              <a:rPr lang="ko-KR" altLang="en-US" dirty="0"/>
              <a:t>체결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오스만 제국은 유럽의 거의 모든 영토 상실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러시아의 세력 팽창을 우려한 오스트리아와 영국이 반발</a:t>
            </a:r>
            <a:r>
              <a:rPr lang="en-US" altLang="ko-KR" dirty="0"/>
              <a:t>, </a:t>
            </a:r>
            <a:r>
              <a:rPr lang="ko-KR" altLang="en-US" dirty="0"/>
              <a:t>결국 독일은 </a:t>
            </a:r>
            <a:r>
              <a:rPr lang="en-US" altLang="ko-KR" dirty="0"/>
              <a:t>1873</a:t>
            </a:r>
            <a:r>
              <a:rPr lang="ko-KR" altLang="en-US" dirty="0"/>
              <a:t>년의 삼제 동맹을 근거로 중재</a:t>
            </a:r>
            <a:r>
              <a:rPr lang="en-US" altLang="ko-KR" dirty="0"/>
              <a:t>(</a:t>
            </a:r>
            <a:r>
              <a:rPr lang="ko-KR" altLang="en-US" dirty="0"/>
              <a:t>베를린회의</a:t>
            </a:r>
            <a:r>
              <a:rPr lang="en-US" altLang="ko-KR" dirty="0"/>
              <a:t>)</a:t>
            </a:r>
            <a:r>
              <a:rPr lang="ko-KR" altLang="en-US" dirty="0"/>
              <a:t>에 나서게 되나</a:t>
            </a:r>
            <a:r>
              <a:rPr lang="en-US" altLang="ko-KR" dirty="0"/>
              <a:t>, </a:t>
            </a:r>
            <a:r>
              <a:rPr lang="ko-KR" altLang="en-US" dirty="0"/>
              <a:t>러시아가 불만을 품으며 </a:t>
            </a:r>
            <a:r>
              <a:rPr lang="en-US" altLang="ko-KR" dirty="0"/>
              <a:t>1</a:t>
            </a:r>
            <a:r>
              <a:rPr lang="ko-KR" altLang="en-US" dirty="0"/>
              <a:t>차 삼제협상은 와해됨</a:t>
            </a:r>
          </a:p>
        </p:txBody>
      </p:sp>
    </p:spTree>
    <p:extLst>
      <p:ext uri="{BB962C8B-B14F-4D97-AF65-F5344CB8AC3E}">
        <p14:creationId xmlns:p14="http://schemas.microsoft.com/office/powerpoint/2010/main" val="108875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2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445330" y="1606945"/>
            <a:ext cx="10585176" cy="5317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ko-KR" b="1" dirty="0">
                <a:ea typeface="맑은 고딕" panose="020B0503020000020004" pitchFamily="50" charset="-127"/>
              </a:rPr>
              <a:t>2</a:t>
            </a:r>
            <a:r>
              <a:rPr lang="ko-KR" altLang="en-US" b="1" dirty="0">
                <a:ea typeface="맑은 고딕" panose="020B0503020000020004" pitchFamily="50" charset="-127"/>
              </a:rPr>
              <a:t>차 삼제협상 </a:t>
            </a:r>
            <a:r>
              <a:rPr lang="en-US" altLang="ko-KR" b="1" dirty="0">
                <a:ea typeface="맑은 고딕" panose="020B0503020000020004" pitchFamily="50" charset="-127"/>
              </a:rPr>
              <a:t>(1881~1887)</a:t>
            </a:r>
            <a:endParaRPr lang="en-US" altLang="ko-KR" sz="700" b="1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highlight>
                  <a:srgbClr val="00FF00"/>
                </a:highlight>
                <a:ea typeface="맑은 고딕" panose="020B0503020000020004" pitchFamily="50" charset="-127"/>
              </a:rPr>
              <a:t>러시아</a:t>
            </a:r>
            <a:r>
              <a:rPr lang="en-US" altLang="ko-KR" sz="1400" dirty="0">
                <a:highlight>
                  <a:srgbClr val="00FF00"/>
                </a:highlight>
                <a:ea typeface="맑은 고딕" panose="020B0503020000020004" pitchFamily="50" charset="-127"/>
              </a:rPr>
              <a:t>-</a:t>
            </a:r>
            <a:r>
              <a:rPr lang="ko-KR" altLang="en-US" sz="1400" dirty="0">
                <a:highlight>
                  <a:srgbClr val="00FF00"/>
                </a:highlight>
                <a:ea typeface="맑은 고딕" panose="020B0503020000020004" pitchFamily="50" charset="-127"/>
              </a:rPr>
              <a:t>투르크 전쟁</a:t>
            </a:r>
            <a:r>
              <a:rPr lang="en-US" altLang="ko-KR" sz="1400" dirty="0">
                <a:highlight>
                  <a:srgbClr val="00FF00"/>
                </a:highlight>
                <a:ea typeface="맑은 고딕" panose="020B0503020000020004" pitchFamily="50" charset="-127"/>
              </a:rPr>
              <a:t>(1877)</a:t>
            </a:r>
            <a:r>
              <a:rPr lang="ko-KR" altLang="en-US" sz="1400" dirty="0">
                <a:highlight>
                  <a:srgbClr val="00FF00"/>
                </a:highlight>
                <a:ea typeface="맑은 고딕" panose="020B0503020000020004" pitchFamily="50" charset="-127"/>
              </a:rPr>
              <a:t>을 중재한 베를린회의</a:t>
            </a:r>
            <a:r>
              <a:rPr lang="en-US" altLang="ko-KR" sz="1400" dirty="0">
                <a:highlight>
                  <a:srgbClr val="00FF00"/>
                </a:highlight>
                <a:ea typeface="맑은 고딕" panose="020B0503020000020004" pitchFamily="50" charset="-127"/>
              </a:rPr>
              <a:t>(1878)</a:t>
            </a:r>
            <a:r>
              <a:rPr lang="ko-KR" altLang="en-US" sz="1400" dirty="0">
                <a:highlight>
                  <a:srgbClr val="00FF00"/>
                </a:highlight>
                <a:ea typeface="맑은 고딕" panose="020B0503020000020004" pitchFamily="50" charset="-127"/>
              </a:rPr>
              <a:t> 이후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독일과 관계가 악화된 러시아가 프랑스에 접근할 우려에 따라 독일은 러시아를 </a:t>
            </a:r>
            <a:r>
              <a:rPr lang="ko-KR" altLang="en-US" sz="1400" dirty="0" err="1">
                <a:ea typeface="맑은 고딕" panose="020B0503020000020004" pitchFamily="50" charset="-127"/>
              </a:rPr>
              <a:t>묶어두려</a:t>
            </a:r>
            <a:r>
              <a:rPr lang="ko-KR" altLang="en-US" sz="1400" dirty="0">
                <a:ea typeface="맑은 고딕" panose="020B0503020000020004" pitchFamily="50" charset="-127"/>
              </a:rPr>
              <a:t> 다시 삼제협상을 추진</a:t>
            </a:r>
            <a:r>
              <a:rPr lang="en-US" altLang="ko-KR" sz="1400" dirty="0">
                <a:ea typeface="맑은 고딕" panose="020B0503020000020004" pitchFamily="50" charset="-127"/>
              </a:rPr>
              <a:t> (1881) 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1400" dirty="0">
                <a:ea typeface="맑은 고딕" panose="020B0503020000020004" pitchFamily="50" charset="-127"/>
              </a:rPr>
              <a:t>      “3</a:t>
            </a:r>
            <a:r>
              <a:rPr lang="ko-KR" altLang="en-US" sz="1400" dirty="0">
                <a:ea typeface="맑은 고딕" panose="020B0503020000020004" pitchFamily="50" charset="-127"/>
              </a:rPr>
              <a:t>국 중 어느 하나가 다른 제</a:t>
            </a:r>
            <a:r>
              <a:rPr lang="en-US" altLang="ko-KR" sz="1400" dirty="0">
                <a:ea typeface="맑은 고딕" panose="020B0503020000020004" pitchFamily="50" charset="-127"/>
              </a:rPr>
              <a:t>4</a:t>
            </a:r>
            <a:r>
              <a:rPr lang="ko-KR" altLang="en-US" sz="1400" dirty="0">
                <a:ea typeface="맑은 고딕" panose="020B0503020000020004" pitchFamily="50" charset="-127"/>
              </a:rPr>
              <a:t>국과 전쟁할 때 나머지 </a:t>
            </a:r>
            <a:r>
              <a:rPr lang="en-US" altLang="ko-KR" sz="1400" dirty="0">
                <a:ea typeface="맑은 고딕" panose="020B0503020000020004" pitchFamily="50" charset="-127"/>
              </a:rPr>
              <a:t>2</a:t>
            </a:r>
            <a:r>
              <a:rPr lang="ko-KR" altLang="en-US" sz="1400" dirty="0">
                <a:ea typeface="맑은 고딕" panose="020B0503020000020004" pitchFamily="50" charset="-127"/>
              </a:rPr>
              <a:t>국은 중립을 지키고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전쟁의 국지화를 위해 노력한다</a:t>
            </a:r>
            <a:r>
              <a:rPr lang="en-US" altLang="ko-KR" sz="1400" dirty="0">
                <a:ea typeface="맑은 고딕" panose="020B0503020000020004" pitchFamily="50" charset="-127"/>
              </a:rPr>
              <a:t>”</a:t>
            </a:r>
          </a:p>
          <a:p>
            <a:pPr marL="342900" indent="-342900" eaLnBrk="1" hangingPunct="1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독일</a:t>
            </a:r>
            <a:r>
              <a:rPr lang="en-US" altLang="ko-KR" sz="1400" b="1" dirty="0"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ea typeface="맑은 고딕" panose="020B0503020000020004" pitchFamily="50" charset="-127"/>
              </a:rPr>
              <a:t> 오스트리아와 동맹 체결</a:t>
            </a:r>
            <a:r>
              <a:rPr lang="en-US" altLang="ko-KR" sz="1400" dirty="0">
                <a:ea typeface="맑은 고딕" panose="020B0503020000020004" pitchFamily="50" charset="-127"/>
              </a:rPr>
              <a:t>,</a:t>
            </a:r>
            <a:r>
              <a:rPr lang="ko-KR" altLang="en-US" sz="1400" dirty="0">
                <a:ea typeface="맑은 고딕" panose="020B0503020000020004" pitchFamily="50" charset="-127"/>
              </a:rPr>
              <a:t> 영국과 동맹교섭 </a:t>
            </a:r>
            <a:r>
              <a:rPr lang="en-US" altLang="ko-KR" sz="1400" dirty="0">
                <a:ea typeface="맑은 고딕" panose="020B0503020000020004" pitchFamily="50" charset="-127"/>
              </a:rPr>
              <a:t>&gt;&gt;&gt;</a:t>
            </a:r>
            <a:r>
              <a:rPr lang="ko-KR" altLang="en-US" sz="1400" dirty="0">
                <a:ea typeface="맑은 고딕" panose="020B0503020000020004" pitchFamily="50" charset="-127"/>
              </a:rPr>
              <a:t>이를 통해 러시아가 먼저 자국에 접근하도록 유도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342900" indent="-342900" eaLnBrk="1" hangingPunct="1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러시아</a:t>
            </a:r>
            <a:r>
              <a:rPr lang="en-US" altLang="ko-KR" sz="1400" b="1" dirty="0"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ea typeface="맑은 고딕" panose="020B0503020000020004" pitchFamily="50" charset="-127"/>
              </a:rPr>
              <a:t> 영국과의 갈등에서 독일과 오스트리아의 중립 확보를 추구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342900" indent="-342900" eaLnBrk="1" hangingPunct="1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오스트리아</a:t>
            </a:r>
            <a:r>
              <a:rPr lang="en-US" altLang="ko-KR" sz="1400" b="1" dirty="0"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ea typeface="맑은 고딕" panose="020B0503020000020004" pitchFamily="50" charset="-127"/>
              </a:rPr>
              <a:t> 실지회복을 위해서는 이태리와의 동맹이 필요하다고 보았으나 독일의 위협에 굴복</a:t>
            </a:r>
            <a:r>
              <a:rPr lang="en-US" altLang="ko-KR" sz="1400" dirty="0">
                <a:ea typeface="맑은 고딕" panose="020B0503020000020004" pitchFamily="50" charset="-127"/>
              </a:rPr>
              <a:t>,</a:t>
            </a:r>
            <a:r>
              <a:rPr lang="ko-KR" altLang="en-US" sz="1400" dirty="0">
                <a:ea typeface="맑은 고딕" panose="020B0503020000020004" pitchFamily="50" charset="-127"/>
              </a:rPr>
              <a:t> 결국 동의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독일은 프랑스 고립과 유럽질서의 현상유지라는 목표를 </a:t>
            </a:r>
            <a:r>
              <a:rPr lang="ko-KR" altLang="en-US" sz="1400" dirty="0" err="1">
                <a:highlight>
                  <a:srgbClr val="FFFF00"/>
                </a:highlight>
                <a:ea typeface="맑은 고딕" panose="020B0503020000020004" pitchFamily="50" charset="-127"/>
              </a:rPr>
              <a:t>재달성</a:t>
            </a:r>
            <a:endParaRPr lang="en-US" altLang="ko-KR" sz="1400" dirty="0">
              <a:highlight>
                <a:srgbClr val="FFFF00"/>
              </a:highlight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러시아는 발칸에서의 일부 이익</a:t>
            </a:r>
            <a:r>
              <a:rPr lang="en-US" altLang="ko-KR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불가리아 등 합병</a:t>
            </a:r>
            <a:r>
              <a:rPr lang="en-US" altLang="ko-KR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과 영국과의 </a:t>
            </a:r>
            <a:r>
              <a:rPr lang="ko-KR" altLang="en-US" sz="1400" dirty="0" err="1">
                <a:highlight>
                  <a:srgbClr val="FFFF00"/>
                </a:highlight>
                <a:ea typeface="맑은 고딕" panose="020B0503020000020004" pitchFamily="50" charset="-127"/>
              </a:rPr>
              <a:t>전쟁시</a:t>
            </a: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 독일과 오스트리아의 중립을 확보</a:t>
            </a:r>
            <a:endParaRPr lang="en-US" altLang="ko-KR" sz="1400" dirty="0">
              <a:highlight>
                <a:srgbClr val="FFFF00"/>
              </a:highlight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highlight>
                  <a:srgbClr val="00FF00"/>
                </a:highlight>
                <a:ea typeface="맑은 고딕" panose="020B0503020000020004" pitchFamily="50" charset="-127"/>
              </a:rPr>
              <a:t>오스트리아도 이태리와의 </a:t>
            </a:r>
            <a:r>
              <a:rPr lang="ko-KR" altLang="en-US" sz="1400" dirty="0" err="1">
                <a:highlight>
                  <a:srgbClr val="00FF00"/>
                </a:highlight>
                <a:ea typeface="맑은 고딕" panose="020B0503020000020004" pitchFamily="50" charset="-127"/>
              </a:rPr>
              <a:t>전쟁시</a:t>
            </a:r>
            <a:r>
              <a:rPr lang="ko-KR" altLang="en-US" sz="1400" dirty="0">
                <a:highlight>
                  <a:srgbClr val="00FF00"/>
                </a:highlight>
                <a:ea typeface="맑은 고딕" panose="020B0503020000020004" pitchFamily="50" charset="-127"/>
              </a:rPr>
              <a:t> 최소한 러시아의 중립은 확보하고 </a:t>
            </a:r>
            <a:r>
              <a:rPr lang="en-US" altLang="ko-KR" sz="1400" dirty="0">
                <a:highlight>
                  <a:srgbClr val="00FF00"/>
                </a:highlight>
                <a:ea typeface="맑은 고딕" panose="020B0503020000020004" pitchFamily="50" charset="-127"/>
              </a:rPr>
              <a:t>1878</a:t>
            </a:r>
            <a:r>
              <a:rPr lang="ko-KR" altLang="en-US" sz="1400" dirty="0">
                <a:highlight>
                  <a:srgbClr val="00FF00"/>
                </a:highlight>
                <a:ea typeface="맑은 고딕" panose="020B0503020000020004" pitchFamily="50" charset="-127"/>
              </a:rPr>
              <a:t>년 베를린 회의에서 합의한 보스니아 헤르체고비나의 병합을 재확인</a:t>
            </a:r>
            <a:endParaRPr lang="en-US" altLang="ko-KR" sz="1400" dirty="0">
              <a:highlight>
                <a:srgbClr val="00FF00"/>
              </a:highlight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1887.06.18.</a:t>
            </a: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 독</a:t>
            </a:r>
            <a:r>
              <a:rPr lang="en-US" altLang="ko-KR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러가 오스트리아를 빼고 양국간에  </a:t>
            </a:r>
            <a:r>
              <a:rPr lang="en-US" altLang="ko-KR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&lt;</a:t>
            </a:r>
            <a:r>
              <a:rPr lang="ko-KR" altLang="en-US" sz="1400" dirty="0" err="1">
                <a:highlight>
                  <a:srgbClr val="FFFF00"/>
                </a:highlight>
                <a:ea typeface="맑은 고딕" panose="020B0503020000020004" pitchFamily="50" charset="-127"/>
              </a:rPr>
              <a:t>독러재보장조약</a:t>
            </a:r>
            <a:r>
              <a:rPr lang="en-US" altLang="ko-KR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&gt;</a:t>
            </a: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을 체결</a:t>
            </a:r>
            <a:r>
              <a:rPr lang="en-US" altLang="ko-KR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삼제협상은 완전히 붕괴</a:t>
            </a:r>
            <a:endParaRPr lang="en-US" altLang="ko-KR" sz="1400" dirty="0">
              <a:highlight>
                <a:srgbClr val="FFFF00"/>
              </a:highlight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2599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475582" y="2305939"/>
            <a:ext cx="10524671" cy="4024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ko-KR" b="1" dirty="0">
                <a:ea typeface="맑은 고딕" panose="020B0503020000020004" pitchFamily="50" charset="-127"/>
              </a:rPr>
              <a:t>3</a:t>
            </a:r>
            <a:r>
              <a:rPr lang="ko-KR" altLang="en-US" b="1" dirty="0" err="1">
                <a:ea typeface="맑은 고딕" panose="020B0503020000020004" pitchFamily="50" charset="-127"/>
              </a:rPr>
              <a:t>국동맹</a:t>
            </a:r>
            <a:endParaRPr lang="en-US" altLang="ko-KR" b="1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독일</a:t>
            </a:r>
            <a:r>
              <a:rPr lang="en-US" altLang="ko-KR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+</a:t>
            </a: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오스트리아</a:t>
            </a:r>
            <a:r>
              <a:rPr lang="en-US" altLang="ko-KR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+</a:t>
            </a: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이태리의 동맹</a:t>
            </a:r>
            <a:r>
              <a:rPr lang="ko-KR" altLang="en-US" sz="1400" dirty="0">
                <a:ea typeface="맑은 고딕" panose="020B0503020000020004" pitchFamily="50" charset="-127"/>
              </a:rPr>
              <a:t>으로 </a:t>
            </a:r>
            <a:r>
              <a:rPr lang="en-US" altLang="ko-KR" sz="1400" dirty="0">
                <a:ea typeface="맑은 고딕" panose="020B0503020000020004" pitchFamily="50" charset="-127"/>
              </a:rPr>
              <a:t>1882</a:t>
            </a:r>
            <a:r>
              <a:rPr lang="ko-KR" altLang="en-US" sz="1400" dirty="0">
                <a:ea typeface="맑은 고딕" panose="020B0503020000020004" pitchFamily="50" charset="-127"/>
              </a:rPr>
              <a:t>년 체결</a:t>
            </a:r>
            <a:r>
              <a:rPr lang="en-US" altLang="ko-KR" sz="1400" dirty="0">
                <a:ea typeface="맑은 고딕" panose="020B0503020000020004" pitchFamily="50" charset="-127"/>
              </a:rPr>
              <a:t>, 1887. 1891. 1902. 1912. </a:t>
            </a:r>
            <a:r>
              <a:rPr lang="ko-KR" altLang="en-US" sz="1400" dirty="0">
                <a:ea typeface="맑은 고딕" panose="020B0503020000020004" pitchFamily="50" charset="-127"/>
              </a:rPr>
              <a:t>조금씩 수정되며 연장</a:t>
            </a:r>
            <a:r>
              <a:rPr lang="en-US" altLang="ko-KR" sz="1400" dirty="0">
                <a:ea typeface="맑은 고딕" panose="020B0503020000020004" pitchFamily="50" charset="-127"/>
              </a:rPr>
              <a:t>    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ea typeface="맑은 고딕" panose="020B0503020000020004" pitchFamily="50" charset="-127"/>
              </a:rPr>
              <a:t>“</a:t>
            </a:r>
            <a:r>
              <a:rPr lang="ko-KR" altLang="en-US" sz="1400" b="1" dirty="0">
                <a:ea typeface="맑은 고딕" panose="020B0503020000020004" pitchFamily="50" charset="-127"/>
              </a:rPr>
              <a:t>체약국은 다른 체약국에게 적대하는 동맹에는 가입하지 않으며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어느 일국이 프랑스의 공격을 받으면 이를 지원하고</a:t>
            </a:r>
            <a:r>
              <a:rPr lang="en-US" altLang="ko-KR" sz="1400" b="1" dirty="0">
                <a:ea typeface="맑은 고딕" panose="020B0503020000020004" pitchFamily="50" charset="-127"/>
              </a:rPr>
              <a:t>,    </a:t>
            </a:r>
            <a:r>
              <a:rPr lang="ko-KR" altLang="en-US" sz="1400" b="1" dirty="0">
                <a:ea typeface="맑은 고딕" panose="020B0503020000020004" pitchFamily="50" charset="-127"/>
              </a:rPr>
              <a:t>공동전쟁시 단독강화를 금지한다</a:t>
            </a:r>
            <a:r>
              <a:rPr lang="en-US" altLang="ko-KR" sz="1400" b="1" dirty="0">
                <a:ea typeface="맑은 고딕" panose="020B0503020000020004" pitchFamily="50" charset="-127"/>
              </a:rPr>
              <a:t>.”</a:t>
            </a:r>
          </a:p>
          <a:p>
            <a:pPr marL="342900" indent="-342900" eaLnBrk="1" hangingPunct="1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독일</a:t>
            </a:r>
            <a:r>
              <a:rPr lang="en-US" altLang="ko-KR" sz="1400" b="1" dirty="0">
                <a:ea typeface="맑은 고딕" panose="020B0503020000020004" pitchFamily="50" charset="-127"/>
              </a:rPr>
              <a:t>)</a:t>
            </a:r>
            <a:r>
              <a:rPr lang="ko-KR" altLang="en-US" sz="1400" b="1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ea typeface="맑은 고딕" panose="020B0503020000020004" pitchFamily="50" charset="-127"/>
              </a:rPr>
              <a:t>이태리를 가입시킴으로써 프랑스에 대항하는 동맹을 강화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342900" indent="-342900" eaLnBrk="1" hangingPunct="1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오스트리아</a:t>
            </a:r>
            <a:r>
              <a:rPr lang="en-US" altLang="ko-KR" sz="1400" b="1" dirty="0"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ea typeface="맑은 고딕" panose="020B0503020000020004" pitchFamily="50" charset="-127"/>
              </a:rPr>
              <a:t> 이태리와의 관계악화나 전쟁을 방지하는 데에 역점을 둠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342900" indent="-342900" eaLnBrk="1" hangingPunct="1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이태리</a:t>
            </a:r>
            <a:r>
              <a:rPr lang="en-US" altLang="ko-KR" sz="1400" b="1" dirty="0"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ea typeface="맑은 고딕" panose="020B0503020000020004" pitchFamily="50" charset="-127"/>
              </a:rPr>
              <a:t> 프랑스와의 갈등 </a:t>
            </a:r>
            <a:r>
              <a:rPr lang="en-US" altLang="ko-KR" sz="1400" dirty="0">
                <a:ea typeface="맑은 고딕" panose="020B0503020000020004" pitchFamily="50" charset="-127"/>
              </a:rPr>
              <a:t>(</a:t>
            </a:r>
            <a:r>
              <a:rPr lang="ko-KR" altLang="en-US" sz="1400" dirty="0" err="1">
                <a:ea typeface="맑은 고딕" panose="020B0503020000020004" pitchFamily="50" charset="-127"/>
              </a:rPr>
              <a:t>보불전쟁에서</a:t>
            </a:r>
            <a:r>
              <a:rPr lang="ko-KR" altLang="en-US" sz="1400" dirty="0">
                <a:ea typeface="맑은 고딕" panose="020B0503020000020004" pitchFamily="50" charset="-127"/>
              </a:rPr>
              <a:t> 교황청이 속한 로마를 이태리에 편입시켜 프랑스와 관계가 악화</a:t>
            </a:r>
            <a:r>
              <a:rPr lang="en-US" altLang="ko-KR" sz="1400" dirty="0"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ea typeface="맑은 고딕" panose="020B0503020000020004" pitchFamily="50" charset="-127"/>
              </a:rPr>
              <a:t>에 대한 지원이 필요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50" indent="-285750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ea typeface="맑은 고딕" panose="020B0503020000020004" pitchFamily="50" charset="-127"/>
              </a:rPr>
              <a:t>3</a:t>
            </a:r>
            <a:r>
              <a:rPr lang="ko-KR" altLang="en-US" sz="1400" dirty="0">
                <a:ea typeface="맑은 고딕" panose="020B0503020000020004" pitchFamily="50" charset="-127"/>
              </a:rPr>
              <a:t>국동맹은 역시 비스마르크 동맹체제의 한 축으로 프랑스 고립과 유럽질서 현상유지에 중요한 역할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50" indent="-285750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삼제협상이 </a:t>
            </a:r>
            <a:r>
              <a:rPr lang="en-US" altLang="ko-KR" sz="1400" dirty="0">
                <a:ea typeface="맑은 고딕" panose="020B0503020000020004" pitchFamily="50" charset="-127"/>
              </a:rPr>
              <a:t>1887.06. </a:t>
            </a:r>
            <a:r>
              <a:rPr lang="ko-KR" altLang="en-US" sz="1400" dirty="0">
                <a:ea typeface="맑은 고딕" panose="020B0503020000020004" pitchFamily="50" charset="-127"/>
              </a:rPr>
              <a:t>종료된 것과는 달리 </a:t>
            </a:r>
            <a:r>
              <a:rPr lang="en-US" altLang="ko-KR" sz="1400" dirty="0">
                <a:ea typeface="맑은 고딕" panose="020B0503020000020004" pitchFamily="50" charset="-127"/>
              </a:rPr>
              <a:t>3</a:t>
            </a:r>
            <a:r>
              <a:rPr lang="ko-KR" altLang="en-US" sz="1400" dirty="0">
                <a:ea typeface="맑은 고딕" panose="020B0503020000020004" pitchFamily="50" charset="-127"/>
              </a:rPr>
              <a:t>국동맹은 형식적이나마 </a:t>
            </a:r>
            <a:r>
              <a:rPr lang="en-US" altLang="ko-KR" sz="1400" dirty="0"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ea typeface="맑은 고딕" panose="020B0503020000020004" pitchFamily="50" charset="-127"/>
              </a:rPr>
              <a:t>차대전 전까지 유지됨</a:t>
            </a:r>
            <a:endParaRPr lang="en-US" altLang="ko-KR" sz="1400" dirty="0"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2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126E4-88F5-30A0-6E58-BE87D6D73CA6}"/>
              </a:ext>
            </a:extLst>
          </p:cNvPr>
          <p:cNvSpPr/>
          <p:nvPr/>
        </p:nvSpPr>
        <p:spPr>
          <a:xfrm>
            <a:off x="1667329" y="1636137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(2) 3</a:t>
            </a:r>
            <a:r>
              <a:rPr lang="ko-KR" altLang="en-US" b="1" dirty="0" err="1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국동맹</a:t>
            </a:r>
            <a:endParaRPr kumimoji="0" lang="ko-KR" altLang="en-US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6918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596091" y="1863619"/>
            <a:ext cx="10585176" cy="488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ko-KR" b="1" dirty="0">
                <a:ea typeface="맑은 고딕" panose="020B0503020000020004" pitchFamily="50" charset="-127"/>
              </a:rPr>
              <a:t>1</a:t>
            </a:r>
            <a:r>
              <a:rPr lang="ko-KR" altLang="en-US" b="1" dirty="0">
                <a:ea typeface="맑은 고딕" panose="020B0503020000020004" pitchFamily="50" charset="-127"/>
              </a:rPr>
              <a:t>차 지중해협정 </a:t>
            </a:r>
            <a:r>
              <a:rPr lang="en-US" altLang="ko-KR" b="1" dirty="0">
                <a:ea typeface="맑은 고딕" panose="020B0503020000020004" pitchFamily="50" charset="-127"/>
              </a:rPr>
              <a:t>(1887.02.)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지중해에서 영</a:t>
            </a:r>
            <a:r>
              <a:rPr lang="en-US" altLang="ko-KR" sz="1400" dirty="0">
                <a:ea typeface="맑은 고딕" panose="020B0503020000020004" pitchFamily="50" charset="-127"/>
              </a:rPr>
              <a:t>vs</a:t>
            </a:r>
            <a:r>
              <a:rPr lang="ko-KR" altLang="en-US" sz="1400" dirty="0" err="1">
                <a:ea typeface="맑은 고딕" panose="020B0503020000020004" pitchFamily="50" charset="-127"/>
              </a:rPr>
              <a:t>프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이</a:t>
            </a:r>
            <a:r>
              <a:rPr lang="en-US" altLang="ko-KR" sz="1400" dirty="0">
                <a:ea typeface="맑은 고딕" panose="020B0503020000020004" pitchFamily="50" charset="-127"/>
              </a:rPr>
              <a:t>vs</a:t>
            </a:r>
            <a:r>
              <a:rPr lang="ko-KR" altLang="en-US" sz="1400" dirty="0" err="1">
                <a:ea typeface="맑은 고딕" panose="020B0503020000020004" pitchFamily="50" charset="-127"/>
              </a:rPr>
              <a:t>프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영</a:t>
            </a:r>
            <a:r>
              <a:rPr lang="en-US" altLang="ko-KR" sz="1400" dirty="0">
                <a:ea typeface="맑은 고딕" panose="020B0503020000020004" pitchFamily="50" charset="-127"/>
              </a:rPr>
              <a:t>vs</a:t>
            </a:r>
            <a:r>
              <a:rPr lang="ko-KR" altLang="en-US" sz="1400" dirty="0">
                <a:ea typeface="맑은 고딕" panose="020B0503020000020004" pitchFamily="50" charset="-127"/>
              </a:rPr>
              <a:t>러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러</a:t>
            </a:r>
            <a:r>
              <a:rPr lang="en-US" altLang="ko-KR" sz="1400" dirty="0">
                <a:ea typeface="맑은 고딕" panose="020B0503020000020004" pitchFamily="50" charset="-127"/>
              </a:rPr>
              <a:t>vs</a:t>
            </a:r>
            <a:r>
              <a:rPr lang="ko-KR" altLang="en-US" sz="1400" dirty="0">
                <a:ea typeface="맑은 고딕" panose="020B0503020000020004" pitchFamily="50" charset="-127"/>
              </a:rPr>
              <a:t>오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ea typeface="맑은 고딕" panose="020B0503020000020004" pitchFamily="50" charset="-127"/>
              </a:rPr>
              <a:t>대립문제를 놓고 영</a:t>
            </a:r>
            <a:r>
              <a:rPr lang="en-US" altLang="ko-KR" sz="1400" dirty="0">
                <a:ea typeface="맑은 고딕" panose="020B0503020000020004" pitchFamily="50" charset="-127"/>
              </a:rPr>
              <a:t>•</a:t>
            </a:r>
            <a:r>
              <a:rPr lang="ko-KR" altLang="en-US" sz="1400" dirty="0">
                <a:ea typeface="맑은 고딕" panose="020B0503020000020004" pitchFamily="50" charset="-127"/>
              </a:rPr>
              <a:t>이</a:t>
            </a:r>
            <a:r>
              <a:rPr lang="en-US" altLang="ko-KR" sz="1400" dirty="0">
                <a:ea typeface="맑은 고딕" panose="020B0503020000020004" pitchFamily="50" charset="-127"/>
              </a:rPr>
              <a:t>•</a:t>
            </a:r>
            <a:r>
              <a:rPr lang="ko-KR" altLang="en-US" sz="1400" dirty="0">
                <a:ea typeface="맑은 고딕" panose="020B0503020000020004" pitchFamily="50" charset="-127"/>
              </a:rPr>
              <a:t>오 </a:t>
            </a:r>
            <a:r>
              <a:rPr lang="en-US" altLang="ko-KR" sz="1400" dirty="0">
                <a:ea typeface="맑은 고딕" panose="020B0503020000020004" pitchFamily="50" charset="-127"/>
              </a:rPr>
              <a:t>3</a:t>
            </a:r>
            <a:r>
              <a:rPr lang="ko-KR" altLang="en-US" sz="1400" dirty="0">
                <a:ea typeface="맑은 고딕" panose="020B0503020000020004" pitchFamily="50" charset="-127"/>
              </a:rPr>
              <a:t>국 간의 협상체제를 형성시킨 일련의 조약들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50" indent="-285750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독일은 여기 가입하지 않았으나</a:t>
            </a:r>
            <a:r>
              <a:rPr lang="en-US" altLang="ko-KR" sz="1400" dirty="0">
                <a:ea typeface="맑은 고딕" panose="020B0503020000020004" pitchFamily="50" charset="-127"/>
              </a:rPr>
              <a:t>, 1</a:t>
            </a:r>
            <a:r>
              <a:rPr lang="ko-KR" altLang="en-US" sz="1400" dirty="0">
                <a:ea typeface="맑은 고딕" panose="020B0503020000020004" pitchFamily="50" charset="-127"/>
              </a:rPr>
              <a:t>차 지중해협정이 對프랑스 봉쇄의 성격을 띰으로써 비스마르크 동맹체제를 더욱 견고히                해주는 역할을 함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50" indent="-285750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ea typeface="맑은 고딕" panose="020B0503020000020004" pitchFamily="50" charset="-127"/>
              </a:rPr>
              <a:t>차 지중해협정 </a:t>
            </a:r>
            <a:r>
              <a:rPr lang="en-US" altLang="ko-KR" sz="1400" dirty="0">
                <a:ea typeface="맑은 고딕" panose="020B0503020000020004" pitchFamily="50" charset="-127"/>
              </a:rPr>
              <a:t>(1887.02.)</a:t>
            </a:r>
          </a:p>
          <a:p>
            <a:pPr marL="285750" indent="-285750" eaLnBrk="1" hangingPunct="1">
              <a:lnSpc>
                <a:spcPct val="200000"/>
              </a:lnSpc>
              <a:buFontTx/>
              <a:buChar char="-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영국</a:t>
            </a:r>
            <a:r>
              <a:rPr lang="en-US" altLang="ko-KR" sz="1400" b="1" dirty="0">
                <a:ea typeface="맑은 고딕" panose="020B0503020000020004" pitchFamily="50" charset="-127"/>
              </a:rPr>
              <a:t>vs</a:t>
            </a:r>
            <a:r>
              <a:rPr lang="ko-KR" altLang="en-US" sz="1400" b="1" dirty="0">
                <a:ea typeface="맑은 고딕" panose="020B0503020000020004" pitchFamily="50" charset="-127"/>
              </a:rPr>
              <a:t>프랑스</a:t>
            </a:r>
            <a:r>
              <a:rPr lang="en-US" altLang="ko-KR" sz="1400" b="1" dirty="0">
                <a:ea typeface="맑은 고딕" panose="020B0503020000020004" pitchFamily="50" charset="-127"/>
              </a:rPr>
              <a:t>) </a:t>
            </a:r>
            <a:r>
              <a:rPr lang="ko-KR" altLang="en-US" sz="1400" dirty="0">
                <a:ea typeface="맑은 고딕" panose="020B0503020000020004" pitchFamily="50" charset="-127"/>
              </a:rPr>
              <a:t>이집트 문제로 대립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50" indent="-285750" eaLnBrk="1" hangingPunct="1">
              <a:lnSpc>
                <a:spcPct val="200000"/>
              </a:lnSpc>
              <a:buFontTx/>
              <a:buChar char="-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프랑스</a:t>
            </a:r>
            <a:r>
              <a:rPr lang="en-US" altLang="ko-KR" sz="1400" b="1" dirty="0">
                <a:ea typeface="맑은 고딕" panose="020B0503020000020004" pitchFamily="50" charset="-127"/>
              </a:rPr>
              <a:t>vs</a:t>
            </a:r>
            <a:r>
              <a:rPr lang="ko-KR" altLang="en-US" sz="1400" b="1" dirty="0">
                <a:ea typeface="맑은 고딕" panose="020B0503020000020004" pitchFamily="50" charset="-127"/>
              </a:rPr>
              <a:t>이태리</a:t>
            </a:r>
            <a:r>
              <a:rPr lang="en-US" altLang="ko-KR" sz="1400" b="1" dirty="0">
                <a:ea typeface="맑은 고딕" panose="020B0503020000020004" pitchFamily="50" charset="-127"/>
              </a:rPr>
              <a:t>) </a:t>
            </a:r>
            <a:r>
              <a:rPr lang="ko-KR" altLang="en-US" sz="1400" dirty="0">
                <a:ea typeface="맑은 고딕" panose="020B0503020000020004" pitchFamily="50" charset="-127"/>
              </a:rPr>
              <a:t>프랑스의 튀니지 점령 문제로 대립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50" indent="-285750" eaLnBrk="1" hangingPunct="1">
              <a:lnSpc>
                <a:spcPct val="200000"/>
              </a:lnSpc>
              <a:buFontTx/>
              <a:buChar char="-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영국</a:t>
            </a:r>
            <a:r>
              <a:rPr lang="en-US" altLang="ko-KR" sz="1400" b="1" dirty="0">
                <a:ea typeface="맑은 고딕" panose="020B0503020000020004" pitchFamily="50" charset="-127"/>
              </a:rPr>
              <a:t>vs</a:t>
            </a:r>
            <a:r>
              <a:rPr lang="ko-KR" altLang="en-US" sz="1400" b="1" dirty="0">
                <a:ea typeface="맑은 고딕" panose="020B0503020000020004" pitchFamily="50" charset="-127"/>
              </a:rPr>
              <a:t>오스트리아</a:t>
            </a:r>
            <a:r>
              <a:rPr lang="en-US" altLang="ko-KR" sz="1400" b="1" dirty="0">
                <a:ea typeface="맑은 고딕" panose="020B0503020000020004" pitchFamily="50" charset="-127"/>
              </a:rPr>
              <a:t>) </a:t>
            </a:r>
            <a:r>
              <a:rPr lang="ko-KR" altLang="en-US" sz="1400" dirty="0">
                <a:ea typeface="맑은 고딕" panose="020B0503020000020004" pitchFamily="50" charset="-127"/>
              </a:rPr>
              <a:t>러시아의 남하 견제에 이해가 일치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50" indent="-285750" eaLnBrk="1" hangingPunct="1">
              <a:lnSpc>
                <a:spcPct val="200000"/>
              </a:lnSpc>
              <a:buFontTx/>
              <a:buChar char="-"/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후에 스페인도 가입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eaLnBrk="1" hangingPunct="1">
              <a:lnSpc>
                <a:spcPct val="200000"/>
              </a:lnSpc>
              <a:defRPr/>
            </a:pPr>
            <a:r>
              <a:rPr lang="en-US" altLang="ko-KR" sz="1400" b="1" dirty="0">
                <a:ea typeface="맑은 고딕" panose="020B0503020000020004" pitchFamily="50" charset="-127"/>
              </a:rPr>
              <a:t>“</a:t>
            </a:r>
            <a:r>
              <a:rPr lang="ko-KR" altLang="en-US" sz="1400" b="1" dirty="0">
                <a:ea typeface="맑은 고딕" panose="020B0503020000020004" pitchFamily="50" charset="-127"/>
              </a:rPr>
              <a:t>지중해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아드리아해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에게해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흑해의 현상유지에 합의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변경할 때 상호 협의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이태리는 영국의 이집트 경영을 지원하고          영국은 이태리의 북아프리카 정책을 지지하며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영국과 이태리는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국과의 분쟁 시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상호지원한다</a:t>
            </a:r>
            <a:r>
              <a:rPr lang="en-US" altLang="ko-KR" sz="1400" b="1" dirty="0">
                <a:ea typeface="맑은 고딕" panose="020B0503020000020004" pitchFamily="50" charset="-127"/>
              </a:rPr>
              <a:t>.”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081" y="572843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126E4-88F5-30A0-6E58-BE87D6D73CA6}"/>
              </a:ext>
            </a:extLst>
          </p:cNvPr>
          <p:cNvSpPr/>
          <p:nvPr/>
        </p:nvSpPr>
        <p:spPr>
          <a:xfrm>
            <a:off x="1596091" y="1346459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지중해협정</a:t>
            </a:r>
          </a:p>
        </p:txBody>
      </p:sp>
    </p:spTree>
    <p:extLst>
      <p:ext uri="{BB962C8B-B14F-4D97-AF65-F5344CB8AC3E}">
        <p14:creationId xmlns:p14="http://schemas.microsoft.com/office/powerpoint/2010/main" val="1069622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324879" y="1452176"/>
            <a:ext cx="10585176" cy="488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ko-KR" b="1" dirty="0">
                <a:ea typeface="맑은 고딕" panose="020B0503020000020004" pitchFamily="50" charset="-127"/>
              </a:rPr>
              <a:t>2</a:t>
            </a:r>
            <a:r>
              <a:rPr lang="ko-KR" altLang="en-US" b="1" dirty="0">
                <a:ea typeface="맑은 고딕" panose="020B0503020000020004" pitchFamily="50" charset="-127"/>
              </a:rPr>
              <a:t>차 지중해협정 </a:t>
            </a:r>
            <a:r>
              <a:rPr lang="en-US" altLang="ko-KR" b="1" dirty="0">
                <a:ea typeface="맑은 고딕" panose="020B0503020000020004" pitchFamily="50" charset="-127"/>
              </a:rPr>
              <a:t>(1887.12.12.)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ea typeface="맑은 고딕" panose="020B0503020000020004" pitchFamily="50" charset="-127"/>
              </a:rPr>
              <a:t>1887.07. </a:t>
            </a:r>
            <a:r>
              <a:rPr lang="ko-KR" altLang="en-US" sz="1400" dirty="0">
                <a:ea typeface="맑은 고딕" panose="020B0503020000020004" pitchFamily="50" charset="-127"/>
              </a:rPr>
              <a:t>불가리아 의회는 러시아의 반대에도 불구하고 </a:t>
            </a:r>
            <a:r>
              <a:rPr lang="ko-KR" altLang="en-US" sz="1400" dirty="0" err="1">
                <a:ea typeface="맑은 고딕" panose="020B0503020000020004" pitchFamily="50" charset="-127"/>
              </a:rPr>
              <a:t>친오스트리아계의</a:t>
            </a:r>
            <a:r>
              <a:rPr lang="ko-KR" altLang="en-US" sz="1400" dirty="0">
                <a:ea typeface="맑은 고딕" panose="020B0503020000020004" pitchFamily="50" charset="-127"/>
              </a:rPr>
              <a:t> 페르디난트를 불가리아 대공으로 선출하고 이에 대해 러시아가 강력히 반발하며 남하 위협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285750" indent="-285750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ea typeface="맑은 고딕" panose="020B0503020000020004" pitchFamily="50" charset="-127"/>
              </a:rPr>
              <a:t>이에 대해 영국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오스트리아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ea typeface="맑은 고딕" panose="020B0503020000020004" pitchFamily="50" charset="-127"/>
              </a:rPr>
              <a:t>이태리 </a:t>
            </a:r>
            <a:r>
              <a:rPr lang="en-US" altLang="ko-KR" sz="1400" dirty="0">
                <a:ea typeface="맑은 고딕" panose="020B0503020000020004" pitchFamily="50" charset="-127"/>
              </a:rPr>
              <a:t>3</a:t>
            </a:r>
            <a:r>
              <a:rPr lang="ko-KR" altLang="en-US" sz="1400" dirty="0">
                <a:ea typeface="맑은 고딕" panose="020B0503020000020004" pitchFamily="50" charset="-127"/>
              </a:rPr>
              <a:t>국이 발칸의 현상을 유지하고 특히 터키가 외국</a:t>
            </a:r>
            <a:r>
              <a:rPr lang="en-US" altLang="ko-KR" sz="1400" dirty="0"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ea typeface="맑은 고딕" panose="020B0503020000020004" pitchFamily="50" charset="-127"/>
              </a:rPr>
              <a:t>러시아</a:t>
            </a:r>
            <a:r>
              <a:rPr lang="en-US" altLang="ko-KR" sz="1400" dirty="0">
                <a:ea typeface="맑은 고딕" panose="020B0503020000020004" pitchFamily="50" charset="-127"/>
              </a:rPr>
              <a:t>) </a:t>
            </a:r>
            <a:r>
              <a:rPr lang="ko-KR" altLang="en-US" sz="1400" dirty="0">
                <a:ea typeface="맑은 고딕" panose="020B0503020000020004" pitchFamily="50" charset="-127"/>
              </a:rPr>
              <a:t>지배 받는 것을 반대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eaLnBrk="1" hangingPunct="1">
              <a:lnSpc>
                <a:spcPct val="200000"/>
              </a:lnSpc>
              <a:defRPr/>
            </a:pPr>
            <a:r>
              <a:rPr lang="en-US" altLang="ko-KR" sz="1400" b="1" dirty="0">
                <a:ea typeface="맑은 고딕" panose="020B0503020000020004" pitchFamily="50" charset="-127"/>
              </a:rPr>
              <a:t> “</a:t>
            </a:r>
            <a:r>
              <a:rPr lang="ko-KR" altLang="en-US" sz="1400" b="1" dirty="0">
                <a:ea typeface="맑은 고딕" panose="020B0503020000020004" pitchFamily="50" charset="-127"/>
              </a:rPr>
              <a:t>터키는 불가리아에서 권리를 외국에 양도하거나 외국이 이 지역을 점령하는 것을 허용해선 안되고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이러한 상황이 위협받을 시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체약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국은 상응한 조치를 위해 상호 협의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터키가 이에 위배되는 행동을 할 경우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국은 공동 또는 터키 영토를 점령할 수 있다</a:t>
            </a:r>
            <a:r>
              <a:rPr lang="en-US" altLang="ko-KR" sz="1400" b="1" dirty="0">
                <a:ea typeface="맑은 고딕" panose="020B0503020000020004" pitchFamily="50" charset="-127"/>
              </a:rPr>
              <a:t>.”</a:t>
            </a:r>
          </a:p>
          <a:p>
            <a:pPr marL="285750" indent="-285750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지중해협정은 프랑스와 러시아에 대한 영국</a:t>
            </a:r>
            <a:r>
              <a:rPr lang="en-US" altLang="ko-KR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-</a:t>
            </a: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이태리의 공동전선 형성을 의미</a:t>
            </a:r>
            <a:endParaRPr lang="en-US" altLang="ko-KR" sz="1400" dirty="0">
              <a:highlight>
                <a:srgbClr val="FFFF00"/>
              </a:highlight>
              <a:ea typeface="맑은 고딕" panose="020B0503020000020004" pitchFamily="50" charset="-127"/>
            </a:endParaRPr>
          </a:p>
          <a:p>
            <a:pPr marL="285750" indent="-285750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highlight>
                  <a:srgbClr val="FFFF00"/>
                </a:highlight>
                <a:ea typeface="맑은 고딕" panose="020B0503020000020004" pitchFamily="50" charset="-127"/>
              </a:rPr>
              <a:t>독일의 외교적 이익</a:t>
            </a:r>
            <a:endParaRPr lang="en-US" altLang="ko-KR" sz="1400" b="1" dirty="0">
              <a:highlight>
                <a:srgbClr val="FFFF00"/>
              </a:highlight>
              <a:ea typeface="맑은 고딕" panose="020B0503020000020004" pitchFamily="50" charset="-127"/>
            </a:endParaRPr>
          </a:p>
          <a:p>
            <a:pPr marL="342900" indent="-342900" eaLnBrk="1" hangingPunct="1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영국을 보장체제 속에 포함시켜 프랑스 고립을 보다 강화</a:t>
            </a:r>
            <a:endParaRPr lang="en-US" altLang="ko-KR" sz="1400" dirty="0">
              <a:highlight>
                <a:srgbClr val="FFFF00"/>
              </a:highlight>
              <a:ea typeface="맑은 고딕" panose="020B0503020000020004" pitchFamily="50" charset="-127"/>
            </a:endParaRPr>
          </a:p>
          <a:p>
            <a:pPr marL="342900" indent="-342900" eaLnBrk="1" hangingPunct="1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동시에 러시아의 반발을 회피하면서 발칸에서 오스트리아와 러시아의 이해관계를 조정하는 위치를 유지</a:t>
            </a:r>
            <a:endParaRPr lang="en-US" altLang="ko-KR" sz="1400" dirty="0">
              <a:highlight>
                <a:srgbClr val="FFFF00"/>
              </a:highlight>
              <a:ea typeface="맑은 고딕" panose="020B0503020000020004" pitchFamily="50" charset="-127"/>
            </a:endParaRPr>
          </a:p>
          <a:p>
            <a:pPr marL="342900" indent="-342900" eaLnBrk="1" hangingPunct="1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한편 러시아의 남진을 </a:t>
            </a:r>
            <a:r>
              <a:rPr lang="ko-KR" altLang="en-US" sz="1400" dirty="0" err="1">
                <a:highlight>
                  <a:srgbClr val="FFFF00"/>
                </a:highlight>
                <a:ea typeface="맑은 고딕" panose="020B0503020000020004" pitchFamily="50" charset="-127"/>
              </a:rPr>
              <a:t>공동대응함으로써</a:t>
            </a:r>
            <a:r>
              <a:rPr lang="ko-KR" altLang="en-US" sz="1400" dirty="0">
                <a:highlight>
                  <a:srgbClr val="FFFF00"/>
                </a:highlight>
                <a:ea typeface="맑은 고딕" panose="020B0503020000020004" pitchFamily="50" charset="-127"/>
              </a:rPr>
              <a:t> 발칸의 현상 유지할 수 있었음</a:t>
            </a:r>
            <a:endParaRPr lang="en-US" altLang="ko-KR" sz="1400" dirty="0">
              <a:highlight>
                <a:srgbClr val="FFFF00"/>
              </a:highlight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2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5306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126E4-88F5-30A0-6E58-BE87D6D73CA6}"/>
              </a:ext>
            </a:extLst>
          </p:cNvPr>
          <p:cNvSpPr/>
          <p:nvPr/>
        </p:nvSpPr>
        <p:spPr>
          <a:xfrm>
            <a:off x="1667329" y="1636137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독일 빌헬름</a:t>
            </a:r>
            <a:r>
              <a:rPr lang="en-US" altLang="ko-KR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세의 등장과 비스마르크의 퇴진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667329" y="2251472"/>
            <a:ext cx="9973287" cy="377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빌헬름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2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세의 등장</a:t>
            </a:r>
            <a:endParaRPr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빌헬름</a:t>
            </a:r>
            <a:r>
              <a:rPr kumimoji="0" lang="en-US" altLang="ko-KR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1</a:t>
            </a:r>
            <a:r>
              <a:rPr kumimoji="0"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세의 손자로</a:t>
            </a:r>
            <a:r>
              <a:rPr kumimoji="0" lang="en-US" altLang="ko-KR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kumimoji="0"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할아버지 빌헬름</a:t>
            </a:r>
            <a:r>
              <a:rPr kumimoji="0" lang="en-US" altLang="ko-KR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1</a:t>
            </a:r>
            <a:r>
              <a:rPr kumimoji="0"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세 사후 아버지의 짧은 재위</a:t>
            </a:r>
            <a:r>
              <a:rPr kumimoji="0" lang="en-US" altLang="ko-KR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(</a:t>
            </a:r>
            <a:r>
              <a:rPr kumimoji="0"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약 </a:t>
            </a:r>
            <a:r>
              <a:rPr kumimoji="0" lang="en-US" altLang="ko-KR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3</a:t>
            </a:r>
            <a:r>
              <a:rPr kumimoji="0"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달</a:t>
            </a:r>
            <a:r>
              <a:rPr kumimoji="0" lang="en-US" altLang="ko-KR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)</a:t>
            </a:r>
            <a:r>
              <a:rPr kumimoji="0"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을 거쳐 </a:t>
            </a:r>
            <a:r>
              <a:rPr kumimoji="0" lang="en-US" altLang="ko-KR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1888</a:t>
            </a:r>
            <a:r>
              <a:rPr kumimoji="0" lang="ko-KR" altLang="en-US" sz="16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년 왕위 계승</a:t>
            </a:r>
            <a:endParaRPr kumimoji="0" lang="en-US" altLang="ko-KR" sz="16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왕위에 오른 후 빌헬름</a:t>
            </a:r>
            <a:r>
              <a:rPr lang="en-US" altLang="ko-KR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2</a:t>
            </a:r>
            <a:r>
              <a:rPr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세는 세계적 팽창정책을 전개하려 했고</a:t>
            </a:r>
            <a:r>
              <a:rPr lang="en-US" altLang="ko-KR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유럽균형외교에 치중했던 비스마르크의 노선과 갈등을 빚으며 결국 </a:t>
            </a:r>
            <a:r>
              <a:rPr lang="en-US" altLang="ko-KR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1890</a:t>
            </a:r>
            <a:r>
              <a:rPr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년 비스마르크 해임</a:t>
            </a:r>
            <a:endParaRPr lang="en-US" altLang="ko-KR" sz="1500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대양해군론을 주장하던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티르피츠를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 해군장관으로 중용하는 등의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팽창주의적 대외정책을 전개</a:t>
            </a:r>
            <a:endParaRPr kumimoji="0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결국 </a:t>
            </a:r>
            <a:r>
              <a:rPr lang="ko-KR" altLang="en-US" sz="1500" b="1" dirty="0">
                <a:solidFill>
                  <a:prstClr val="black"/>
                </a:solidFill>
                <a:ea typeface="맑은 고딕" panose="020B0503020000020004" pitchFamily="50" charset="-127"/>
              </a:rPr>
              <a:t>영국과 해양 패권 쟁탈</a:t>
            </a:r>
            <a:r>
              <a:rPr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을 벌이게 됨</a:t>
            </a:r>
            <a:endParaRPr lang="en-US" altLang="ko-KR" sz="1500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이로써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유럽의 비스마르크체제는 해체되기 시작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하고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, 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독일은 영국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, 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</a:rPr>
              <a:t>러시아 등 유럽 열강들과 치열한  팽창적 경쟁 시작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0718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667329" y="2276872"/>
            <a:ext cx="10117303" cy="4050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ko-KR" altLang="en-US" sz="1600" b="1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세계정책의 수립 </a:t>
            </a:r>
            <a:r>
              <a:rPr kumimoji="0" lang="en-US" altLang="ko-KR" sz="1600" b="1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(</a:t>
            </a:r>
            <a:r>
              <a:rPr kumimoji="0" lang="en-US" altLang="ko-KR" sz="1600" b="1" dirty="0" err="1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Weldpolitik</a:t>
            </a:r>
            <a:r>
              <a:rPr kumimoji="0" lang="en-US" altLang="ko-KR" sz="1600" b="1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: World Politics)</a:t>
            </a: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비스마르크 시기 주로 프랑스의 봉쇄를 위한 외교적 노력에 치중했던 것에 비해 빌헬름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2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세 시기 독일외교정책이 유럽지역을 넘어 전 세계적으로 확대된 것을 의미</a:t>
            </a:r>
            <a:endParaRPr kumimoji="0" lang="en-US" altLang="ko-KR" sz="6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6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독일 세계정책의 배경</a:t>
            </a:r>
            <a:endParaRPr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1880.~1890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년대 강대국들의 상대적 국력 변화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) ‘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오스트리아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’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 약화 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&lt;-&gt; ‘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독일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미국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일본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’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 증강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독일 경제의 팽창은 해외시장 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개쳑의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 필요성을 대두시킴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1894~1895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년의 청일전쟁과 삼국간섭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1897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년의 교주만점령 등으로 독일의 세계정책은 점차 확대되며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유럽 이외 지역의 사건과 분쟁에 적극 개입하는 제국주의적 면모를 나타냄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181C1D-F594-A611-FBD4-78C711EE1004}"/>
              </a:ext>
            </a:extLst>
          </p:cNvPr>
          <p:cNvSpPr/>
          <p:nvPr/>
        </p:nvSpPr>
        <p:spPr>
          <a:xfrm>
            <a:off x="1667329" y="1636137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비스마르크 퇴진 이후 독일의 외교정책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5214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559496" y="1454020"/>
            <a:ext cx="10105800" cy="471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(1) </a:t>
            </a:r>
            <a:r>
              <a:rPr kumimoji="0"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삼국간섭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1895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년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 청일전쟁에서 일본이 승리한 이후 요동반도를 점령하자 일본의 팽창을 우려하던 러시아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프랑스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독일이 일본의 요동 철수를 요구하여 관철시킨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사건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삼국간섭을 통해 독일은 일본의 팽창 의도를 </a:t>
            </a:r>
            <a:r>
              <a:rPr kumimoji="0" lang="ko-KR" altLang="en-US" sz="1500" dirty="0" err="1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좌절시키고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 이를 계기로 유럽 이외의 지역에 적극 개입하기 시작</a:t>
            </a:r>
            <a:endParaRPr kumimoji="0"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1897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년 중국 교주만을 점령하며 아시아 지역에도 세계 전략 전개를 위한 교두보를 확보하게 됨</a:t>
            </a:r>
            <a:endParaRPr kumimoji="0"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삼국간섭</a:t>
            </a:r>
            <a:r>
              <a:rPr lang="ko-KR" altLang="en-US" sz="1600" b="1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의 주도는 러시아가</a:t>
            </a:r>
            <a:endParaRPr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러시아는 청일전쟁에서 일본이 주도권을 쥐기 시작함으로써 동아시아 지역에서 일본이 팽창하게 될 것을 경계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특히 한반도와 남만주가 일본의 식민지가 될 경우 청과 일본이 연합하여 러시아에 대항할 수 있다는 점</a:t>
            </a:r>
            <a:endParaRPr kumimoji="0"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이에 </a:t>
            </a:r>
            <a:r>
              <a:rPr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프랑스와 독일은 러시아를 지지</a:t>
            </a:r>
            <a:r>
              <a:rPr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한 반면</a:t>
            </a:r>
            <a:r>
              <a:rPr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, </a:t>
            </a:r>
            <a:r>
              <a:rPr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영국은 러시아의 남진을 막는데 일본이 필요하다</a:t>
            </a:r>
            <a:r>
              <a:rPr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는 점</a:t>
            </a:r>
            <a:r>
              <a:rPr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, </a:t>
            </a:r>
            <a:r>
              <a:rPr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맑은 고딕" panose="020B0503020000020004" pitchFamily="50" charset="-127"/>
              </a:rPr>
              <a:t>그리고 청일전쟁 결과  청나라가 개방한 시장에 개입할 수 있다는 점 때문에 간섭에 반대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7174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508963" y="1700808"/>
            <a:ext cx="9541239" cy="4204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삼국간섭의 결과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청일전쟁 후 일본의 요구대로 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&lt;</a:t>
            </a:r>
            <a:r>
              <a:rPr kumimoji="0" lang="ko-KR" altLang="en-US" sz="1500" dirty="0" err="1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시모노세키조약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&gt;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이 체결된 뒤 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1895.04.23. 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일본 주재 러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•</a:t>
            </a:r>
            <a:r>
              <a:rPr lang="ko-KR" altLang="en-US" sz="1500" dirty="0" err="1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프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•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독 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3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국 공사들은 요동반도의 일본 소유는 북경에 대한 항구적인 위협일 뿐만 아니라 조선의 독립을 유명무실하게 만드는 것이라 주장하면서 일본에게 요동 반환을 요구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러시아는 만주 철도 부설권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여순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•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대련의 조차권을 획득</a:t>
            </a:r>
            <a:endParaRPr kumimoji="0"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일본은 요동반도를 포기하는 대신 청나라로부터 배상금 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3</a:t>
            </a:r>
            <a:r>
              <a:rPr lang="ko-KR" altLang="en-US" sz="1500" dirty="0" err="1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천만냥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(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약 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4405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만엔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)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을 추가로 받기로 함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일본은 아시아에서 차지하던 지위를 </a:t>
            </a:r>
            <a:r>
              <a:rPr kumimoji="0" lang="ko-KR" altLang="en-US" sz="1500" dirty="0" err="1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견제받고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조선에 대한 영향력도 감소</a:t>
            </a:r>
            <a:endParaRPr kumimoji="0"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일본 내부에서는 힘의 논리에서 졌다는 인식이 팽배했고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결국 군국주의의 강화로 이어졌으며 결국 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1904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년 러일전쟁으로 러시아에 복수</a:t>
            </a:r>
            <a:endParaRPr kumimoji="0"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2069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703512" y="1496650"/>
            <a:ext cx="10405335" cy="4666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(2) </a:t>
            </a:r>
            <a:r>
              <a:rPr kumimoji="0"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독일의 중국 진출과 교주만점령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독일의 식민지 획득과 경영을 위해 우선적으로 군사력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(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특히 해군</a:t>
            </a:r>
            <a:r>
              <a:rPr kumimoji="0"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)</a:t>
            </a:r>
            <a:r>
              <a:rPr kumimoji="0"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의 뒷받침이 필요</a:t>
            </a:r>
            <a:endParaRPr kumimoji="0"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특히 해외 식민지의 주요 거점엔 평상시에는 독일의 이익을 보호하고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전시에는 독일 무역로를 방어하며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적국의 무역로를  견제할 수 있는 해군기지가 필요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독일은 이미 통일 이전인 </a:t>
            </a:r>
            <a:r>
              <a:rPr lang="en-US" altLang="ko-KR" sz="1500" dirty="0">
                <a:ea typeface="맑은 고딕" panose="020B0503020000020004" pitchFamily="50" charset="-127"/>
              </a:rPr>
              <a:t>1860</a:t>
            </a:r>
            <a:r>
              <a:rPr lang="ko-KR" altLang="en-US" sz="1500" dirty="0">
                <a:ea typeface="맑은 고딕" panose="020B0503020000020004" pitchFamily="50" charset="-127"/>
              </a:rPr>
              <a:t>년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프로이센의 원정 함대가 아시아를 방문하여 교주만 주변지역을 조사한 바 있고</a:t>
            </a:r>
            <a:r>
              <a:rPr lang="en-US" altLang="ko-KR" sz="1500" dirty="0">
                <a:ea typeface="맑은 고딕" panose="020B0503020000020004" pitchFamily="50" charset="-127"/>
              </a:rPr>
              <a:t>,  1861</a:t>
            </a:r>
            <a:r>
              <a:rPr lang="ko-KR" altLang="en-US" sz="1500" dirty="0">
                <a:ea typeface="맑은 고딕" panose="020B0503020000020004" pitchFamily="50" charset="-127"/>
              </a:rPr>
              <a:t>년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프로이센과 청의 무역협정이 조인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청일전쟁 이후 독일이 이 지역을 주목하고 있던 시기</a:t>
            </a:r>
            <a:r>
              <a:rPr lang="en-US" altLang="ko-KR" sz="1500" dirty="0">
                <a:ea typeface="맑은 고딕" panose="020B0503020000020004" pitchFamily="50" charset="-127"/>
              </a:rPr>
              <a:t>, 1897</a:t>
            </a:r>
            <a:r>
              <a:rPr lang="ko-KR" altLang="en-US" sz="1500" dirty="0">
                <a:ea typeface="맑은 고딕" panose="020B0503020000020004" pitchFamily="50" charset="-127"/>
              </a:rPr>
              <a:t>년 </a:t>
            </a:r>
            <a:r>
              <a:rPr lang="en-US" altLang="ko-KR" sz="1500" dirty="0">
                <a:ea typeface="맑은 고딕" panose="020B0503020000020004" pitchFamily="50" charset="-127"/>
              </a:rPr>
              <a:t>11</a:t>
            </a:r>
            <a:r>
              <a:rPr lang="ko-KR" altLang="en-US" sz="1500" dirty="0">
                <a:ea typeface="맑은 고딕" panose="020B0503020000020004" pitchFamily="50" charset="-127"/>
              </a:rPr>
              <a:t>월 </a:t>
            </a:r>
            <a:r>
              <a:rPr lang="en-US" altLang="ko-KR" sz="1500" dirty="0"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ea typeface="맑은 고딕" panose="020B0503020000020004" pitchFamily="50" charset="-127"/>
              </a:rPr>
              <a:t>일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산둥성 서부에서 독일인 선교사가 살해당하는 사건이 일어났고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이는 독일에게 자국 선교사를 보호한다는 침략의 구실을 제공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독일 동양함대 소속 해병대가 </a:t>
            </a:r>
            <a:r>
              <a:rPr lang="en-US" altLang="ko-KR" sz="1500" dirty="0">
                <a:ea typeface="맑은 고딕" panose="020B0503020000020004" pitchFamily="50" charset="-127"/>
              </a:rPr>
              <a:t>11.14.</a:t>
            </a:r>
            <a:r>
              <a:rPr lang="ko-KR" altLang="en-US" sz="1500" dirty="0">
                <a:ea typeface="맑은 고딕" panose="020B0503020000020004" pitchFamily="50" charset="-127"/>
              </a:rPr>
              <a:t> 장기 항해로 인한 상륙과 훈련을 구실로 교주만에 상륙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청나라 수비대에게 퇴거를 명하고 점령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500" dirty="0">
                <a:ea typeface="맑은 고딕" panose="020B0503020000020004" pitchFamily="50" charset="-127"/>
              </a:rPr>
              <a:t>1898.03.06., &lt;</a:t>
            </a:r>
            <a:r>
              <a:rPr lang="ko-KR" altLang="en-US" sz="1500" dirty="0">
                <a:ea typeface="맑은 고딕" panose="020B0503020000020004" pitchFamily="50" charset="-127"/>
              </a:rPr>
              <a:t>독</a:t>
            </a:r>
            <a:r>
              <a:rPr lang="en-US" altLang="ko-KR" sz="1500" dirty="0">
                <a:ea typeface="맑은 고딕" panose="020B0503020000020004" pitchFamily="50" charset="-127"/>
              </a:rPr>
              <a:t>-</a:t>
            </a:r>
            <a:r>
              <a:rPr lang="ko-KR" altLang="en-US" sz="1500" dirty="0">
                <a:ea typeface="맑은 고딕" panose="020B0503020000020004" pitchFamily="50" charset="-127"/>
              </a:rPr>
              <a:t>청 조약</a:t>
            </a:r>
            <a:r>
              <a:rPr lang="en-US" altLang="ko-KR" sz="1500" dirty="0">
                <a:ea typeface="맑은 고딕" panose="020B0503020000020004" pitchFamily="50" charset="-127"/>
              </a:rPr>
              <a:t>&gt;</a:t>
            </a:r>
            <a:r>
              <a:rPr lang="ko-KR" altLang="en-US" sz="1500" dirty="0">
                <a:ea typeface="맑은 고딕" panose="020B0503020000020004" pitchFamily="50" charset="-127"/>
              </a:rPr>
              <a:t>을 맺고 교주만을 </a:t>
            </a:r>
            <a:r>
              <a:rPr lang="en-US" altLang="ko-KR" sz="1500" dirty="0">
                <a:ea typeface="맑은 고딕" panose="020B0503020000020004" pitchFamily="50" charset="-127"/>
              </a:rPr>
              <a:t>99</a:t>
            </a:r>
            <a:r>
              <a:rPr lang="ko-KR" altLang="en-US" sz="1500" dirty="0">
                <a:ea typeface="맑은 고딕" panose="020B0503020000020004" pitchFamily="50" charset="-127"/>
              </a:rPr>
              <a:t>년간 청나라 정부로부터 조차하며 산동을 세력권화 함</a:t>
            </a:r>
          </a:p>
        </p:txBody>
      </p:sp>
    </p:spTree>
    <p:extLst>
      <p:ext uri="{BB962C8B-B14F-4D97-AF65-F5344CB8AC3E}">
        <p14:creationId xmlns:p14="http://schemas.microsoft.com/office/powerpoint/2010/main" val="3940292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그림 3">
            <a:extLst>
              <a:ext uri="{FF2B5EF4-FFF2-40B4-BE49-F238E27FC236}">
                <a16:creationId xmlns:a16="http://schemas.microsoft.com/office/drawing/2014/main" id="{F5021874-47B8-1769-A4C9-9BD4B6F25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101" y="3089276"/>
            <a:ext cx="4537075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TextBox 7">
            <a:extLst>
              <a:ext uri="{FF2B5EF4-FFF2-40B4-BE49-F238E27FC236}">
                <a16:creationId xmlns:a16="http://schemas.microsoft.com/office/drawing/2014/main" id="{AE918F23-AFB9-A136-8EFE-C14583968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6813" y="4695825"/>
            <a:ext cx="4318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800" b="1" dirty="0">
                <a:highlight>
                  <a:srgbClr val="FFFFB7"/>
                </a:highlight>
              </a:rPr>
              <a:t>칭다오</a:t>
            </a:r>
          </a:p>
        </p:txBody>
      </p:sp>
      <p:sp>
        <p:nvSpPr>
          <p:cNvPr id="11269" name="TextBox 9">
            <a:extLst>
              <a:ext uri="{FF2B5EF4-FFF2-40B4-BE49-F238E27FC236}">
                <a16:creationId xmlns:a16="http://schemas.microsoft.com/office/drawing/2014/main" id="{F1DA5F6D-74C6-5DE5-4CAC-F3EBE6C59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3938" y="5440363"/>
            <a:ext cx="1079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800" b="1">
                <a:highlight>
                  <a:srgbClr val="FFFFB7"/>
                </a:highlight>
              </a:rPr>
              <a:t>교주만</a:t>
            </a:r>
          </a:p>
        </p:txBody>
      </p:sp>
      <p:pic>
        <p:nvPicPr>
          <p:cNvPr id="11270" name="Picture 2" descr="파일:China Shandong.svg">
            <a:hlinkClick r:id="rId3"/>
            <a:extLst>
              <a:ext uri="{FF2B5EF4-FFF2-40B4-BE49-F238E27FC236}">
                <a16:creationId xmlns:a16="http://schemas.microsoft.com/office/drawing/2014/main" id="{36CE575A-50D8-87F7-D551-8D657B2BB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6" y="44451"/>
            <a:ext cx="5953125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원호 10">
            <a:extLst>
              <a:ext uri="{FF2B5EF4-FFF2-40B4-BE49-F238E27FC236}">
                <a16:creationId xmlns:a16="http://schemas.microsoft.com/office/drawing/2014/main" id="{0036B303-9C53-ECC2-92E0-E6F6167A8657}"/>
              </a:ext>
            </a:extLst>
          </p:cNvPr>
          <p:cNvSpPr/>
          <p:nvPr/>
        </p:nvSpPr>
        <p:spPr>
          <a:xfrm rot="634130">
            <a:off x="5134808" y="2368183"/>
            <a:ext cx="2471883" cy="2118923"/>
          </a:xfrm>
          <a:prstGeom prst="arc">
            <a:avLst/>
          </a:prstGeom>
          <a:ln>
            <a:head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72" name="TextBox 11">
            <a:extLst>
              <a:ext uri="{FF2B5EF4-FFF2-40B4-BE49-F238E27FC236}">
                <a16:creationId xmlns:a16="http://schemas.microsoft.com/office/drawing/2014/main" id="{A47392CD-C278-ADD2-0098-5139710B3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5725" y="1414463"/>
            <a:ext cx="27368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중국 산둥성</a:t>
            </a:r>
            <a:r>
              <a:rPr lang="en-US" altLang="ko-KR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山東省</a:t>
            </a:r>
            <a:r>
              <a:rPr lang="en-US" altLang="ko-KR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ko-KR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 </a:t>
            </a:r>
            <a:endParaRPr lang="en-US" altLang="ko-KR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3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ko-KR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교주만</a:t>
            </a:r>
            <a:r>
              <a:rPr lang="en-US" altLang="ko-KR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膠州湾</a:t>
            </a:r>
            <a:r>
              <a:rPr lang="en-US" altLang="ko-KR"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1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6DEC0E2-E12F-07BF-39A5-B33B02C775F0}"/>
              </a:ext>
            </a:extLst>
          </p:cNvPr>
          <p:cNvGrpSpPr/>
          <p:nvPr/>
        </p:nvGrpSpPr>
        <p:grpSpPr>
          <a:xfrm>
            <a:off x="9723438" y="5330163"/>
            <a:ext cx="288000" cy="288000"/>
            <a:chOff x="4645236" y="5193968"/>
            <a:chExt cx="183269" cy="183267"/>
          </a:xfrm>
        </p:grpSpPr>
        <p:sp>
          <p:nvSpPr>
            <p:cNvPr id="3" name="눈물 방울 2">
              <a:extLst>
                <a:ext uri="{FF2B5EF4-FFF2-40B4-BE49-F238E27FC236}">
                  <a16:creationId xmlns:a16="http://schemas.microsoft.com/office/drawing/2014/main" id="{D233F2AA-24B0-34C6-82B0-D1F59AEE9B92}"/>
                </a:ext>
              </a:extLst>
            </p:cNvPr>
            <p:cNvSpPr/>
            <p:nvPr/>
          </p:nvSpPr>
          <p:spPr>
            <a:xfrm rot="8100000">
              <a:off x="4645236" y="5193968"/>
              <a:ext cx="183269" cy="183267"/>
            </a:xfrm>
            <a:prstGeom prst="teardrop">
              <a:avLst>
                <a:gd name="adj" fmla="val 107588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0FEAFD50-9FD8-6EEE-220C-5CA7AA163004}"/>
                </a:ext>
              </a:extLst>
            </p:cNvPr>
            <p:cNvSpPr/>
            <p:nvPr/>
          </p:nvSpPr>
          <p:spPr>
            <a:xfrm flipV="1">
              <a:off x="4673131" y="5221863"/>
              <a:ext cx="127478" cy="12747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696609" y="2048952"/>
            <a:ext cx="10213446" cy="4666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1) </a:t>
            </a:r>
            <a:r>
              <a:rPr kumimoji="0"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함대정책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500" b="1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독일은 </a:t>
            </a:r>
            <a:r>
              <a:rPr kumimoji="0" lang="en-US" altLang="ko-KR" sz="1500" b="1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1895</a:t>
            </a:r>
            <a:r>
              <a:rPr kumimoji="0" lang="ko-KR" altLang="en-US" sz="1500" b="1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년 경부터 이른바 </a:t>
            </a:r>
            <a:r>
              <a:rPr kumimoji="0" lang="en-US" altLang="ko-KR" sz="1500" b="1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‘</a:t>
            </a:r>
            <a:r>
              <a:rPr kumimoji="0" lang="ko-KR" altLang="en-US" sz="1500" b="1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함대정책</a:t>
            </a:r>
            <a:r>
              <a:rPr kumimoji="0" lang="en-US" altLang="ko-KR" sz="1500" b="1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’ </a:t>
            </a:r>
            <a:r>
              <a:rPr kumimoji="0" lang="ko-KR" altLang="en-US" sz="1500" b="1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본격 추진</a:t>
            </a:r>
            <a:endParaRPr kumimoji="0" lang="en-US" altLang="ko-KR" sz="1500" b="1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청일전쟁 당시 독일은 동아시아에 해군기지를 보유하지 않음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삼국간섭 과정에서 독일은 일본과 관계가 악화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이로 인해 동아시아에서의 해군력 증강이 필요하다고 인식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또한 세계정책 추진 과정에서 당시 해양패권을 장악한 영국과의 충돌이 불가피하다고 보고 독일이 열세에 놓인 해군력 증강이 필요하다고 판단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500" b="1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영국의 대응</a:t>
            </a:r>
            <a:r>
              <a:rPr lang="en-US" altLang="ko-KR" sz="1500" b="1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) </a:t>
            </a:r>
          </a:p>
          <a:p>
            <a:pPr marL="342900" marR="0" lvl="0" indent="-34290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영국은 독일과의 직접 군축 및 동맹협상 전개하는 한편 자국의 함대를 증강하고 일본과 동맹 체결로 대응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원래 영국은 러시아를 견제하기 위해 독일에게 對러시아 동맹 제의했으나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독일은 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‘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중립원칙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’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을 강조하며 거절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결국 일본을 이용해 러시아와 독일을 동시에 견제하고자 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‘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영일동맹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(1902)’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체결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36BDA7-D396-0659-64A8-2DB7FEA30BEC}"/>
              </a:ext>
            </a:extLst>
          </p:cNvPr>
          <p:cNvSpPr txBox="1"/>
          <p:nvPr/>
        </p:nvSpPr>
        <p:spPr>
          <a:xfrm>
            <a:off x="1696609" y="15834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(3) </a:t>
            </a:r>
            <a:r>
              <a:rPr lang="ko-KR" altLang="en-US" b="1" dirty="0"/>
              <a:t>독일의 세계정책 집행수단</a:t>
            </a:r>
          </a:p>
        </p:txBody>
      </p:sp>
    </p:spTree>
    <p:extLst>
      <p:ext uri="{BB962C8B-B14F-4D97-AF65-F5344CB8AC3E}">
        <p14:creationId xmlns:p14="http://schemas.microsoft.com/office/powerpoint/2010/main" val="3354888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그림 3">
            <a:extLst>
              <a:ext uri="{FF2B5EF4-FFF2-40B4-BE49-F238E27FC236}">
                <a16:creationId xmlns:a16="http://schemas.microsoft.com/office/drawing/2014/main" id="{83039EB1-88CF-9954-09C6-83296FE79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39" y="2699538"/>
            <a:ext cx="3021012" cy="2222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그림 4">
            <a:extLst>
              <a:ext uri="{FF2B5EF4-FFF2-40B4-BE49-F238E27FC236}">
                <a16:creationId xmlns:a16="http://schemas.microsoft.com/office/drawing/2014/main" id="{325B1B4B-8BB4-A13D-C561-E70548D3E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7432" y="2780928"/>
            <a:ext cx="2997200" cy="2222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그림 5">
            <a:extLst>
              <a:ext uri="{FF2B5EF4-FFF2-40B4-BE49-F238E27FC236}">
                <a16:creationId xmlns:a16="http://schemas.microsoft.com/office/drawing/2014/main" id="{C8D3573A-E044-B020-E810-C138BC027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523" y="2782228"/>
            <a:ext cx="4363294" cy="22212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350894-B536-2194-3A5F-6A82347B77B0}"/>
              </a:ext>
            </a:extLst>
          </p:cNvPr>
          <p:cNvSpPr txBox="1"/>
          <p:nvPr/>
        </p:nvSpPr>
        <p:spPr>
          <a:xfrm>
            <a:off x="4045185" y="1190744"/>
            <a:ext cx="4460516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증기선</a:t>
            </a:r>
            <a:r>
              <a:rPr lang="en-US" altLang="ko-KR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, </a:t>
            </a:r>
            <a:r>
              <a:rPr lang="ko-KR" altLang="en-US" sz="2800" b="1" spc="-15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철갑함에서</a:t>
            </a: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 전함으로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1EF06-C4E1-D234-80B7-C781AD66EDFD}"/>
              </a:ext>
            </a:extLst>
          </p:cNvPr>
          <p:cNvSpPr txBox="1"/>
          <p:nvPr/>
        </p:nvSpPr>
        <p:spPr>
          <a:xfrm>
            <a:off x="2771917" y="1691516"/>
            <a:ext cx="7007050" cy="369332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B47DF"/>
                </a:solidFill>
                <a:effectLst/>
                <a:uLnTx/>
                <a:uFillTx/>
                <a:ea typeface="맑은 고딕" panose="020B0503020000020004" pitchFamily="50" charset="-127"/>
              </a:rPr>
              <a:t>19C </a:t>
            </a:r>
            <a:r>
              <a:rPr kumimoji="0" lang="ko-KR" altLang="en-US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B47DF"/>
                </a:solidFill>
                <a:effectLst/>
                <a:uLnTx/>
                <a:uFillTx/>
                <a:ea typeface="맑은 고딕" panose="020B0503020000020004" pitchFamily="50" charset="-127"/>
              </a:rPr>
              <a:t>말 </a:t>
            </a:r>
            <a:r>
              <a:rPr kumimoji="0" lang="en-US" altLang="ko-KR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B47DF"/>
                </a:solidFill>
                <a:effectLst/>
                <a:uLnTx/>
                <a:uFillTx/>
                <a:ea typeface="맑은 고딕" panose="020B0503020000020004" pitchFamily="50" charset="-127"/>
              </a:rPr>
              <a:t>~ 20C </a:t>
            </a:r>
            <a:r>
              <a:rPr kumimoji="0" lang="ko-KR" altLang="en-US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B47DF"/>
                </a:solidFill>
                <a:effectLst/>
                <a:uLnTx/>
                <a:uFillTx/>
                <a:ea typeface="맑은 고딕" panose="020B0503020000020004" pitchFamily="50" charset="-127"/>
              </a:rPr>
              <a:t>초 해군력 경쟁</a:t>
            </a:r>
            <a:r>
              <a:rPr kumimoji="0" lang="en-US" altLang="ko-KR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B47DF"/>
                </a:solidFill>
                <a:effectLst/>
                <a:uLnTx/>
                <a:uFillTx/>
                <a:ea typeface="맑은 고딕" panose="020B0503020000020004" pitchFamily="50" charset="-127"/>
              </a:rPr>
              <a:t>: </a:t>
            </a:r>
            <a:r>
              <a:rPr kumimoji="0" lang="ko-KR" altLang="en-US" b="0" i="0" u="none" strike="noStrike" kern="1200" cap="none" spc="0" normalizeH="0" baseline="0" noProof="0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B47DF"/>
                </a:solidFill>
                <a:effectLst/>
                <a:uLnTx/>
                <a:uFillTx/>
                <a:ea typeface="맑은 고딕" panose="020B0503020000020004" pitchFamily="50" charset="-127"/>
              </a:rPr>
              <a:t>거함거포주의</a:t>
            </a:r>
            <a:endParaRPr kumimoji="0" lang="ko-KR" altLang="en-US" b="0" i="0" u="none" strike="noStrike" kern="1200" cap="none" spc="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4B47DF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13500" name="직사각형 13499">
            <a:extLst>
              <a:ext uri="{FF2B5EF4-FFF2-40B4-BE49-F238E27FC236}">
                <a16:creationId xmlns:a16="http://schemas.microsoft.com/office/drawing/2014/main" id="{30931A45-4C52-B91C-A7BC-12199AC17FED}"/>
              </a:ext>
            </a:extLst>
          </p:cNvPr>
          <p:cNvSpPr/>
          <p:nvPr/>
        </p:nvSpPr>
        <p:spPr>
          <a:xfrm>
            <a:off x="407368" y="2564904"/>
            <a:ext cx="3240360" cy="2520190"/>
          </a:xfrm>
          <a:prstGeom prst="rect">
            <a:avLst/>
          </a:prstGeom>
          <a:noFill/>
          <a:ln>
            <a:solidFill>
              <a:srgbClr val="13134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n>
                <a:solidFill>
                  <a:srgbClr val="FFFFFF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07" name="직사각형 13506">
            <a:extLst>
              <a:ext uri="{FF2B5EF4-FFF2-40B4-BE49-F238E27FC236}">
                <a16:creationId xmlns:a16="http://schemas.microsoft.com/office/drawing/2014/main" id="{F137BA80-1104-F2A3-17DD-D2F42EF42E54}"/>
              </a:ext>
            </a:extLst>
          </p:cNvPr>
          <p:cNvSpPr/>
          <p:nvPr/>
        </p:nvSpPr>
        <p:spPr>
          <a:xfrm>
            <a:off x="8680612" y="2592815"/>
            <a:ext cx="3240360" cy="2520190"/>
          </a:xfrm>
          <a:prstGeom prst="rect">
            <a:avLst/>
          </a:prstGeom>
          <a:noFill/>
          <a:ln>
            <a:solidFill>
              <a:srgbClr val="13134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n>
                <a:solidFill>
                  <a:srgbClr val="FFFFFF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08" name="직사각형 13507">
            <a:extLst>
              <a:ext uri="{FF2B5EF4-FFF2-40B4-BE49-F238E27FC236}">
                <a16:creationId xmlns:a16="http://schemas.microsoft.com/office/drawing/2014/main" id="{B1322ECB-1A68-C893-846A-A6A8ADF3F5D2}"/>
              </a:ext>
            </a:extLst>
          </p:cNvPr>
          <p:cNvSpPr/>
          <p:nvPr/>
        </p:nvSpPr>
        <p:spPr>
          <a:xfrm>
            <a:off x="3881945" y="2592815"/>
            <a:ext cx="4517155" cy="2520190"/>
          </a:xfrm>
          <a:prstGeom prst="rect">
            <a:avLst/>
          </a:prstGeom>
          <a:noFill/>
          <a:ln>
            <a:solidFill>
              <a:srgbClr val="13134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n>
                <a:solidFill>
                  <a:srgbClr val="FFFFFF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360697" y="1780472"/>
            <a:ext cx="10585176" cy="3297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2) 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중립</a:t>
            </a:r>
            <a:r>
              <a:rPr kumimoji="0"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정책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세계정책 수립 이후 독일은 영국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vs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러시아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영국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vs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프랑스의 대립관계를 적절히 이용하며 중립정책을 구사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독일은 영국</a:t>
            </a:r>
            <a:r>
              <a:rPr lang="en-US" altLang="ko-KR" sz="1500" dirty="0">
                <a:ea typeface="맑은 고딕" panose="020B0503020000020004" pitchFamily="50" charset="-127"/>
              </a:rPr>
              <a:t>-</a:t>
            </a:r>
            <a:r>
              <a:rPr lang="ko-KR" altLang="en-US" sz="1500" dirty="0">
                <a:ea typeface="맑은 고딕" panose="020B0503020000020004" pitchFamily="50" charset="-127"/>
              </a:rPr>
              <a:t>러시아는 패권경쟁 및 정치체제의 이질성으로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영국</a:t>
            </a:r>
            <a:r>
              <a:rPr lang="en-US" altLang="ko-KR" sz="1500" dirty="0">
                <a:ea typeface="맑은 고딕" panose="020B0503020000020004" pitchFamily="50" charset="-127"/>
              </a:rPr>
              <a:t>-</a:t>
            </a:r>
            <a:r>
              <a:rPr lang="ko-KR" altLang="en-US" sz="1500" dirty="0">
                <a:ea typeface="맑은 고딕" panose="020B0503020000020004" pitchFamily="50" charset="-127"/>
              </a:rPr>
              <a:t>프랑스는 아프리카에서의 식민경쟁으로 상호 협력이 불가능하다고 판단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 독일은 영국과 프랑스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러시아 사이에서 세력균형을 유지하기 위해 영국의 계속되는 동맹제의에도 불구하고 때로는 영국과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때로는 러시아와 행동을 같이함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그러나 </a:t>
            </a:r>
            <a:r>
              <a:rPr lang="en-US" altLang="ko-KR" sz="1500" dirty="0">
                <a:ea typeface="맑은 고딕" panose="020B0503020000020004" pitchFamily="50" charset="-127"/>
              </a:rPr>
              <a:t>1904</a:t>
            </a:r>
            <a:r>
              <a:rPr lang="ko-KR" altLang="en-US" sz="1500" dirty="0">
                <a:ea typeface="맑은 고딕" panose="020B0503020000020004" pitchFamily="50" charset="-127"/>
              </a:rPr>
              <a:t>년 이후 독일은 러시아에 동맹제의를 하며 점차 중립주의를</a:t>
            </a:r>
            <a:r>
              <a:rPr lang="en-US" altLang="ko-KR" sz="1500" dirty="0">
                <a:ea typeface="맑은 고딕" panose="020B0503020000020004" pitchFamily="50" charset="-127"/>
              </a:rPr>
              <a:t> </a:t>
            </a:r>
            <a:r>
              <a:rPr lang="ko-KR" altLang="en-US" sz="1500" dirty="0">
                <a:ea typeface="맑은 고딕" panose="020B0503020000020004" pitchFamily="50" charset="-127"/>
              </a:rPr>
              <a:t>폐기하려고 함</a:t>
            </a:r>
            <a:endParaRPr lang="en-US" altLang="ko-KR" sz="15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7364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935ED1C-F686-68E3-48FD-3EBC756CA997}"/>
              </a:ext>
            </a:extLst>
          </p:cNvPr>
          <p:cNvGrpSpPr/>
          <p:nvPr/>
        </p:nvGrpSpPr>
        <p:grpSpPr>
          <a:xfrm>
            <a:off x="0" y="0"/>
            <a:ext cx="825500" cy="6858000"/>
            <a:chOff x="0" y="0"/>
            <a:chExt cx="825500" cy="6858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34244D5-D8FA-50D3-E99F-8491E8F4483E}"/>
                </a:ext>
              </a:extLst>
            </p:cNvPr>
            <p:cNvSpPr/>
            <p:nvPr/>
          </p:nvSpPr>
          <p:spPr>
            <a:xfrm>
              <a:off x="0" y="0"/>
              <a:ext cx="825500" cy="6858000"/>
            </a:xfrm>
            <a:prstGeom prst="rect">
              <a:avLst/>
            </a:prstGeom>
            <a:solidFill>
              <a:srgbClr val="4B47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BB7A27-73F0-F425-28F3-3EB1B48A42DA}"/>
                </a:ext>
              </a:extLst>
            </p:cNvPr>
            <p:cNvSpPr txBox="1"/>
            <p:nvPr/>
          </p:nvSpPr>
          <p:spPr>
            <a:xfrm rot="16200000">
              <a:off x="-1266355" y="1807062"/>
              <a:ext cx="3358211" cy="261610"/>
            </a:xfrm>
            <a:prstGeom prst="rect">
              <a:avLst/>
            </a:prstGeom>
            <a:noFill/>
          </p:spPr>
          <p:txBody>
            <a:bodyPr wrap="square" tIns="0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F6F7FB"/>
                  </a:solidFill>
                  <a:effectLst/>
                  <a:uLnTx/>
                  <a:uFillTx/>
                  <a:ea typeface="맑은 고딕" panose="020B0503020000020004" pitchFamily="50" charset="-127"/>
                </a:rPr>
                <a:t>충북대학교 정치외교학과 세계외교사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528742" y="1620991"/>
            <a:ext cx="9960015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영국의 동맹제의와 이를 거부한 독일의 속셈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영일동맹 체결 이전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영국은 러시아에 대응하기 위해 두 번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(1898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년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1901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년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)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이나 독일에게 동맹을 제의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영국의 속셈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)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청일전쟁 이후 러시아가 중국의 여순을 점령하고 중국 북방에서부터 영향력을 확대하며 영국의 동북아 이익을 위협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이를 견제해야 할 필요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독일의 속셈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)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유럽의 동쪽에선 러시아와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 서쪽에선 프랑스와 전쟁을 할 가능성 우려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러시아가 동아시아에서 영국과 일본에게 밀리고 발칸으로 진출 방향을 돌리는 경우 러시아가 오스트리아와 분쟁을 유발하고 이에 따라 독일이 발칸 문제에 말려들 상황을 우려하여 영국의 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1889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년 제의를 거부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1901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년 의화단 사건을 계기로 러시아가 만주를 점령하자 영국은 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2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차 대독 동맹제의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그러나 독일은 러시아와의 관계 악화를 우려하는 동시에 독일의 세계전략 추진에 있어 영국을 제압해야 한다고 생각해 이를 거부</a:t>
            </a:r>
            <a:endParaRPr lang="en-US" altLang="ko-KR" sz="15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결국 영국은 일본과의 동맹 선택 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(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영일동맹</a:t>
            </a:r>
            <a:r>
              <a:rPr lang="en-US" altLang="ko-KR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,1902), </a:t>
            </a:r>
            <a:r>
              <a:rPr lang="ko-KR" altLang="en-US" sz="1500" dirty="0" err="1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영독관계는</a:t>
            </a:r>
            <a:r>
              <a:rPr lang="ko-KR" altLang="en-US" sz="15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 악화</a:t>
            </a:r>
            <a:endParaRPr lang="en-US" altLang="ko-KR" sz="15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21071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://cfile189.uf.daum.net/C155x225/15404110AE3808ACB57D4B">
            <a:hlinkClick r:id="rId2"/>
            <a:extLst>
              <a:ext uri="{FF2B5EF4-FFF2-40B4-BE49-F238E27FC236}">
                <a16:creationId xmlns:a16="http://schemas.microsoft.com/office/drawing/2014/main" id="{7AF78F81-50DC-0F0A-FC3C-281530439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74" y="980728"/>
            <a:ext cx="324008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4" descr="http://upload.wikimedia.org/wikipedia/commons/thumb/8/80/BoxerSoldiers.jpg/270px-BoxerSoldiers.jpg">
            <a:hlinkClick r:id="rId4"/>
            <a:extLst>
              <a:ext uri="{FF2B5EF4-FFF2-40B4-BE49-F238E27FC236}">
                <a16:creationId xmlns:a16="http://schemas.microsoft.com/office/drawing/2014/main" id="{E1143458-0B09-08E5-C92F-749AC126A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036" y="1114425"/>
            <a:ext cx="3168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TextBox 1">
            <a:extLst>
              <a:ext uri="{FF2B5EF4-FFF2-40B4-BE49-F238E27FC236}">
                <a16:creationId xmlns:a16="http://schemas.microsoft.com/office/drawing/2014/main" id="{21B8B0F6-A306-B598-40C3-97741A74D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5559426"/>
            <a:ext cx="87836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    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의화단 사건을 배경으로 한 영화                           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&lt;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의화단원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&gt;</a:t>
            </a:r>
          </a:p>
          <a:p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            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&lt;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북경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55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일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&gt;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57738ED-1E8D-D9D1-9B92-EDD72A48311F}"/>
              </a:ext>
            </a:extLst>
          </p:cNvPr>
          <p:cNvSpPr/>
          <p:nvPr/>
        </p:nvSpPr>
        <p:spPr>
          <a:xfrm>
            <a:off x="1802812" y="854821"/>
            <a:ext cx="3644345" cy="4374403"/>
          </a:xfrm>
          <a:prstGeom prst="rect">
            <a:avLst/>
          </a:prstGeom>
          <a:noFill/>
          <a:ln>
            <a:solidFill>
              <a:srgbClr val="13134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ln>
                <a:solidFill>
                  <a:srgbClr val="FFFFFF">
                    <a:alpha val="0"/>
                  </a:srgb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D6E32D-47DE-11C4-4094-AAD93FA8DCBC}"/>
              </a:ext>
            </a:extLst>
          </p:cNvPr>
          <p:cNvSpPr/>
          <p:nvPr/>
        </p:nvSpPr>
        <p:spPr>
          <a:xfrm>
            <a:off x="6771365" y="854821"/>
            <a:ext cx="3644345" cy="4518395"/>
          </a:xfrm>
          <a:prstGeom prst="rect">
            <a:avLst/>
          </a:prstGeom>
          <a:noFill/>
          <a:ln>
            <a:solidFill>
              <a:srgbClr val="13134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ln>
                <a:solidFill>
                  <a:srgbClr val="FFFFFF">
                    <a:alpha val="0"/>
                  </a:srgb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그룹 28">
            <a:extLst>
              <a:ext uri="{FF2B5EF4-FFF2-40B4-BE49-F238E27FC236}">
                <a16:creationId xmlns:a16="http://schemas.microsoft.com/office/drawing/2014/main" id="{1CD5F24C-51A5-A9C3-8BED-BD732B1C45C8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15875"/>
            <a:ext cx="9144000" cy="7613650"/>
            <a:chOff x="14014" y="15864"/>
            <a:chExt cx="9144000" cy="7613631"/>
          </a:xfrm>
        </p:grpSpPr>
        <p:pic>
          <p:nvPicPr>
            <p:cNvPr id="17412" name="그림 4">
              <a:extLst>
                <a:ext uri="{FF2B5EF4-FFF2-40B4-BE49-F238E27FC236}">
                  <a16:creationId xmlns:a16="http://schemas.microsoft.com/office/drawing/2014/main" id="{5969A721-74BC-76A4-CD17-7D8BFA0EC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14" y="15864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8" name="TextBox 13">
              <a:extLst>
                <a:ext uri="{FF2B5EF4-FFF2-40B4-BE49-F238E27FC236}">
                  <a16:creationId xmlns:a16="http://schemas.microsoft.com/office/drawing/2014/main" id="{822784AF-BB2B-6629-9BF6-C0B6154C2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9265" y="2039115"/>
              <a:ext cx="342707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2800" b="1" dirty="0">
                  <a:solidFill>
                    <a:srgbClr val="66A6FF"/>
                  </a:solidFill>
                </a:rPr>
                <a:t>러시아</a:t>
              </a:r>
              <a:r>
                <a:rPr lang="ko-KR" altLang="en-US" sz="2800" b="1" dirty="0"/>
                <a:t>의 팽창 방향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70D182-4E06-58AD-07E2-BA1CC91C29DA}"/>
                </a:ext>
              </a:extLst>
            </p:cNvPr>
            <p:cNvSpPr txBox="1"/>
            <p:nvPr/>
          </p:nvSpPr>
          <p:spPr>
            <a:xfrm>
              <a:off x="1277664" y="2711432"/>
              <a:ext cx="358775" cy="64611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b="1" dirty="0">
                  <a:solidFill>
                    <a:srgbClr val="0D3D7F"/>
                  </a:solidFill>
                  <a:ea typeface="맑은 고딕" panose="020B0503020000020004" pitchFamily="50" charset="-127"/>
                </a:rPr>
                <a:t>독일</a:t>
              </a:r>
            </a:p>
          </p:txBody>
        </p:sp>
        <p:sp>
          <p:nvSpPr>
            <p:cNvPr id="17420" name="TextBox 16">
              <a:extLst>
                <a:ext uri="{FF2B5EF4-FFF2-40B4-BE49-F238E27FC236}">
                  <a16:creationId xmlns:a16="http://schemas.microsoft.com/office/drawing/2014/main" id="{7577C1B2-DB71-22F4-3D91-EB042A323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13" y="2871180"/>
              <a:ext cx="360040" cy="1200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2400" b="1" dirty="0">
                  <a:solidFill>
                    <a:srgbClr val="1462CC"/>
                  </a:solidFill>
                </a:rPr>
                <a:t>프랑스</a:t>
              </a:r>
              <a:endParaRPr lang="ko-KR" altLang="en-US" sz="1800" b="1" dirty="0">
                <a:solidFill>
                  <a:srgbClr val="1462CC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B33C5BB-6999-BB5E-2A86-1D65EDEDBA99}"/>
                </a:ext>
              </a:extLst>
            </p:cNvPr>
            <p:cNvSpPr txBox="1"/>
            <p:nvPr/>
          </p:nvSpPr>
          <p:spPr>
            <a:xfrm>
              <a:off x="4427264" y="3555980"/>
              <a:ext cx="792162" cy="64611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b="1" dirty="0">
                  <a:solidFill>
                    <a:srgbClr val="99CC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맑은 고딕" panose="020B0503020000020004" pitchFamily="50" charset="-127"/>
                </a:rPr>
                <a:t>중국</a:t>
              </a:r>
              <a:r>
                <a:rPr lang="en-US" altLang="ko-KR" b="1" dirty="0">
                  <a:solidFill>
                    <a:srgbClr val="99CCFF"/>
                  </a:solidFill>
                  <a:ea typeface="맑은 고딕" panose="020B0503020000020004" pitchFamily="50" charset="-127"/>
                </a:rPr>
                <a:t>(</a:t>
              </a:r>
              <a:r>
                <a:rPr lang="ko-KR" altLang="en-US" b="1" dirty="0">
                  <a:solidFill>
                    <a:srgbClr val="99CCFF"/>
                  </a:solidFill>
                  <a:ea typeface="맑은 고딕" panose="020B0503020000020004" pitchFamily="50" charset="-127"/>
                </a:rPr>
                <a:t>淸</a:t>
              </a:r>
              <a:r>
                <a:rPr lang="en-US" altLang="ko-KR" b="1" dirty="0">
                  <a:solidFill>
                    <a:srgbClr val="99CCFF"/>
                  </a:solidFill>
                  <a:ea typeface="맑은 고딕" panose="020B0503020000020004" pitchFamily="50" charset="-127"/>
                </a:rPr>
                <a:t>)</a:t>
              </a:r>
              <a:endParaRPr lang="ko-KR" altLang="en-US" b="1" dirty="0">
                <a:solidFill>
                  <a:srgbClr val="99CCFF"/>
                </a:solidFill>
                <a:ea typeface="맑은 고딕" panose="020B0503020000020004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8DFAD2-4976-0C86-7A31-A3D4900EED16}"/>
                </a:ext>
              </a:extLst>
            </p:cNvPr>
            <p:cNvSpPr txBox="1"/>
            <p:nvPr/>
          </p:nvSpPr>
          <p:spPr>
            <a:xfrm>
              <a:off x="6125973" y="3922709"/>
              <a:ext cx="792163" cy="369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b="1" dirty="0">
                  <a:solidFill>
                    <a:schemeClr val="bg1">
                      <a:lumMod val="50000"/>
                    </a:schemeClr>
                  </a:solidFill>
                  <a:ea typeface="맑은 고딕" panose="020B0503020000020004" pitchFamily="50" charset="-127"/>
                </a:rPr>
                <a:t>일본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78C980BF-33EA-6DEC-09A0-97AFE69F678F}"/>
                </a:ext>
              </a:extLst>
            </p:cNvPr>
            <p:cNvSpPr/>
            <p:nvPr/>
          </p:nvSpPr>
          <p:spPr>
            <a:xfrm>
              <a:off x="5003774" y="4293074"/>
              <a:ext cx="668338" cy="528636"/>
            </a:xfrm>
            <a:prstGeom prst="ellipse">
              <a:avLst/>
            </a:prstGeom>
            <a:noFill/>
            <a:ln>
              <a:solidFill>
                <a:srgbClr val="384B6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2B97221-5B26-7A5C-76E7-E53DCAAD3A47}"/>
                </a:ext>
              </a:extLst>
            </p:cNvPr>
            <p:cNvSpPr txBox="1"/>
            <p:nvPr/>
          </p:nvSpPr>
          <p:spPr>
            <a:xfrm>
              <a:off x="5015258" y="4388900"/>
              <a:ext cx="854856" cy="369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b="1" dirty="0">
                  <a:solidFill>
                    <a:srgbClr val="384B60"/>
                  </a:solidFill>
                  <a:ea typeface="맑은 고딕" panose="020B0503020000020004" pitchFamily="50" charset="-127"/>
                </a:rPr>
                <a:t>영국</a:t>
              </a: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F6365DF0-CE26-CC58-C07A-8C55F7D533BE}"/>
                </a:ext>
              </a:extLst>
            </p:cNvPr>
            <p:cNvSpPr/>
            <p:nvPr/>
          </p:nvSpPr>
          <p:spPr>
            <a:xfrm>
              <a:off x="356914" y="4391003"/>
              <a:ext cx="4608512" cy="3238492"/>
            </a:xfrm>
            <a:prstGeom prst="ellipse">
              <a:avLst/>
            </a:prstGeom>
            <a:noFill/>
            <a:ln>
              <a:solidFill>
                <a:srgbClr val="384B6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AF99372-8CC0-CF9F-14E6-C05ECD473155}"/>
                </a:ext>
              </a:extLst>
            </p:cNvPr>
            <p:cNvSpPr txBox="1"/>
            <p:nvPr/>
          </p:nvSpPr>
          <p:spPr>
            <a:xfrm>
              <a:off x="3508101" y="4698977"/>
              <a:ext cx="636588" cy="64632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b="1" dirty="0">
                  <a:solidFill>
                    <a:srgbClr val="384B60"/>
                  </a:solidFill>
                  <a:ea typeface="맑은 고딕" panose="020B0503020000020004" pitchFamily="50" charset="-127"/>
                </a:rPr>
                <a:t>영국</a:t>
              </a: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BB1223E-22C6-C8BF-3A2B-99F47BCD8A4D}"/>
                </a:ext>
              </a:extLst>
            </p:cNvPr>
            <p:cNvSpPr/>
            <p:nvPr/>
          </p:nvSpPr>
          <p:spPr>
            <a:xfrm>
              <a:off x="4499806" y="4725185"/>
              <a:ext cx="792000" cy="575999"/>
            </a:xfrm>
            <a:prstGeom prst="ellipse">
              <a:avLst/>
            </a:prstGeom>
            <a:noFill/>
            <a:ln>
              <a:solidFill>
                <a:srgbClr val="1462C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B9C209-4543-96C6-5059-DE68AFCCBDB6}"/>
                </a:ext>
              </a:extLst>
            </p:cNvPr>
            <p:cNvSpPr txBox="1"/>
            <p:nvPr/>
          </p:nvSpPr>
          <p:spPr>
            <a:xfrm>
              <a:off x="4478064" y="4822802"/>
              <a:ext cx="985837" cy="369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b="1" dirty="0">
                  <a:solidFill>
                    <a:srgbClr val="1462CC"/>
                  </a:solidFill>
                  <a:ea typeface="맑은 고딕" panose="020B0503020000020004" pitchFamily="50" charset="-127"/>
                </a:rPr>
                <a:t>프랑스</a:t>
              </a:r>
            </a:p>
          </p:txBody>
        </p:sp>
      </p:grpSp>
      <p:sp>
        <p:nvSpPr>
          <p:cNvPr id="30" name="타원 29">
            <a:extLst>
              <a:ext uri="{FF2B5EF4-FFF2-40B4-BE49-F238E27FC236}">
                <a16:creationId xmlns:a16="http://schemas.microsoft.com/office/drawing/2014/main" id="{39F473ED-35A5-718F-4081-F1F69CF4B444}"/>
              </a:ext>
            </a:extLst>
          </p:cNvPr>
          <p:cNvSpPr/>
          <p:nvPr/>
        </p:nvSpPr>
        <p:spPr>
          <a:xfrm>
            <a:off x="1725614" y="3875088"/>
            <a:ext cx="1946275" cy="1962150"/>
          </a:xfrm>
          <a:prstGeom prst="ellipse">
            <a:avLst/>
          </a:prstGeom>
          <a:noFill/>
          <a:ln>
            <a:solidFill>
              <a:srgbClr val="1462C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도형 1">
            <a:extLst>
              <a:ext uri="{FF2B5EF4-FFF2-40B4-BE49-F238E27FC236}">
                <a16:creationId xmlns:a16="http://schemas.microsoft.com/office/drawing/2014/main" id="{F731FF09-8D6E-2385-0634-4058D0FD21FD}"/>
              </a:ext>
            </a:extLst>
          </p:cNvPr>
          <p:cNvSpPr/>
          <p:nvPr/>
        </p:nvSpPr>
        <p:spPr>
          <a:xfrm rot="21106678" flipH="1" flipV="1">
            <a:off x="3187746" y="2267308"/>
            <a:ext cx="777857" cy="726291"/>
          </a:xfrm>
          <a:prstGeom prst="swooshArrow">
            <a:avLst>
              <a:gd name="adj1" fmla="val 30564"/>
              <a:gd name="adj2" fmla="val 30769"/>
            </a:avLst>
          </a:prstGeom>
          <a:gradFill>
            <a:gsLst>
              <a:gs pos="100000">
                <a:srgbClr val="FFFFCC"/>
              </a:gs>
              <a:gs pos="0">
                <a:srgbClr val="FFFF00"/>
              </a:gs>
            </a:gsLst>
            <a:lin ang="10800000" scaled="0"/>
          </a:gradFill>
          <a:ln w="19050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도형 2">
            <a:extLst>
              <a:ext uri="{FF2B5EF4-FFF2-40B4-BE49-F238E27FC236}">
                <a16:creationId xmlns:a16="http://schemas.microsoft.com/office/drawing/2014/main" id="{06DD7F4F-531C-F16E-BDCB-ED6F95F29DAC}"/>
              </a:ext>
            </a:extLst>
          </p:cNvPr>
          <p:cNvSpPr/>
          <p:nvPr/>
        </p:nvSpPr>
        <p:spPr>
          <a:xfrm rot="19110897" flipH="1" flipV="1">
            <a:off x="3540657" y="2756309"/>
            <a:ext cx="777857" cy="726291"/>
          </a:xfrm>
          <a:prstGeom prst="swooshArrow">
            <a:avLst>
              <a:gd name="adj1" fmla="val 30564"/>
              <a:gd name="adj2" fmla="val 30769"/>
            </a:avLst>
          </a:prstGeom>
          <a:gradFill>
            <a:gsLst>
              <a:gs pos="100000">
                <a:srgbClr val="FFFFCC"/>
              </a:gs>
              <a:gs pos="0">
                <a:srgbClr val="FFFF00"/>
              </a:gs>
            </a:gsLst>
            <a:lin ang="10800000" scaled="0"/>
          </a:gradFill>
          <a:ln w="19050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도형 3">
            <a:extLst>
              <a:ext uri="{FF2B5EF4-FFF2-40B4-BE49-F238E27FC236}">
                <a16:creationId xmlns:a16="http://schemas.microsoft.com/office/drawing/2014/main" id="{776F8FFC-CAF4-A7CF-BC5B-EB6F509611EB}"/>
              </a:ext>
            </a:extLst>
          </p:cNvPr>
          <p:cNvSpPr/>
          <p:nvPr/>
        </p:nvSpPr>
        <p:spPr>
          <a:xfrm rot="5123400">
            <a:off x="6455489" y="2660325"/>
            <a:ext cx="987548" cy="888185"/>
          </a:xfrm>
          <a:prstGeom prst="swooshArrow">
            <a:avLst>
              <a:gd name="adj1" fmla="val 30564"/>
              <a:gd name="adj2" fmla="val 30769"/>
            </a:avLst>
          </a:prstGeom>
          <a:gradFill>
            <a:gsLst>
              <a:gs pos="100000">
                <a:srgbClr val="FFFFCC"/>
              </a:gs>
              <a:gs pos="0">
                <a:srgbClr val="FFFF00"/>
              </a:gs>
            </a:gsLst>
            <a:lin ang="10800000" scaled="0"/>
          </a:gradFill>
          <a:ln w="19050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5" name="도형 4">
            <a:extLst>
              <a:ext uri="{FF2B5EF4-FFF2-40B4-BE49-F238E27FC236}">
                <a16:creationId xmlns:a16="http://schemas.microsoft.com/office/drawing/2014/main" id="{C6A03DE0-2126-D977-B29B-6F9027E84310}"/>
              </a:ext>
            </a:extLst>
          </p:cNvPr>
          <p:cNvSpPr/>
          <p:nvPr/>
        </p:nvSpPr>
        <p:spPr>
          <a:xfrm rot="3824407" flipH="1" flipV="1">
            <a:off x="6661471" y="3469241"/>
            <a:ext cx="612000" cy="756000"/>
          </a:xfrm>
          <a:prstGeom prst="swooshArrow">
            <a:avLst>
              <a:gd name="adj1" fmla="val 26297"/>
              <a:gd name="adj2" fmla="val 30769"/>
            </a:avLst>
          </a:prstGeom>
          <a:gradFill>
            <a:gsLst>
              <a:gs pos="100000">
                <a:srgbClr val="FFFFCC"/>
              </a:gs>
              <a:gs pos="0">
                <a:srgbClr val="FFFF00"/>
              </a:gs>
            </a:gsLst>
            <a:lin ang="10800000" scaled="0"/>
          </a:gradFill>
          <a:ln w="19050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" name="도형 6">
            <a:extLst>
              <a:ext uri="{FF2B5EF4-FFF2-40B4-BE49-F238E27FC236}">
                <a16:creationId xmlns:a16="http://schemas.microsoft.com/office/drawing/2014/main" id="{07AA6126-696E-407C-DD51-595E681C5261}"/>
              </a:ext>
            </a:extLst>
          </p:cNvPr>
          <p:cNvSpPr/>
          <p:nvPr/>
        </p:nvSpPr>
        <p:spPr>
          <a:xfrm rot="10166067" flipH="1" flipV="1">
            <a:off x="7098864" y="4100047"/>
            <a:ext cx="341695" cy="331131"/>
          </a:xfrm>
          <a:prstGeom prst="swooshArrow">
            <a:avLst>
              <a:gd name="adj1" fmla="val 26297"/>
              <a:gd name="adj2" fmla="val 30769"/>
            </a:avLst>
          </a:prstGeom>
          <a:gradFill>
            <a:gsLst>
              <a:gs pos="100000">
                <a:srgbClr val="FFFFCC"/>
              </a:gs>
              <a:gs pos="0">
                <a:srgbClr val="FFFF00"/>
              </a:gs>
            </a:gsLst>
            <a:lin ang="10800000" scaled="0"/>
          </a:gradFill>
          <a:ln w="19050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4" name="도형 13">
            <a:extLst>
              <a:ext uri="{FF2B5EF4-FFF2-40B4-BE49-F238E27FC236}">
                <a16:creationId xmlns:a16="http://schemas.microsoft.com/office/drawing/2014/main" id="{D969C6A4-ABCC-ACDE-16DB-1C1F28097CBB}"/>
              </a:ext>
            </a:extLst>
          </p:cNvPr>
          <p:cNvSpPr/>
          <p:nvPr/>
        </p:nvSpPr>
        <p:spPr>
          <a:xfrm rot="11199294" flipH="1" flipV="1">
            <a:off x="2364119" y="3109797"/>
            <a:ext cx="515938" cy="394565"/>
          </a:xfrm>
          <a:prstGeom prst="swooshArrow">
            <a:avLst>
              <a:gd name="adj1" fmla="val 26297"/>
              <a:gd name="adj2" fmla="val 30769"/>
            </a:avLst>
          </a:prstGeom>
          <a:gradFill>
            <a:gsLst>
              <a:gs pos="100000">
                <a:srgbClr val="FFFFCC"/>
              </a:gs>
              <a:gs pos="0">
                <a:srgbClr val="FFFF00"/>
              </a:gs>
            </a:gsLst>
            <a:lin ang="10800000" scaled="0"/>
          </a:gradFill>
          <a:ln w="19050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353022" y="1448653"/>
            <a:ext cx="10585176" cy="4481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3) 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회담정책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청일전쟁 이후 삼국간섭을 통해 자신의 지위를 상승시킨 독일은 자국의 주도로 세계 여러 곳의 분쟁을 해결함으로써 독일의 국제적 지위를 상승시킬 수 있을 것으로 봄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이른바 </a:t>
            </a:r>
            <a:r>
              <a:rPr lang="en-US" altLang="ko-KR" sz="1500" dirty="0">
                <a:ea typeface="맑은 고딕" panose="020B0503020000020004" pitchFamily="50" charset="-127"/>
              </a:rPr>
              <a:t>‘</a:t>
            </a:r>
            <a:r>
              <a:rPr lang="ko-KR" altLang="en-US" sz="1500" dirty="0">
                <a:ea typeface="맑은 고딕" panose="020B0503020000020004" pitchFamily="50" charset="-127"/>
              </a:rPr>
              <a:t>회담</a:t>
            </a:r>
            <a:r>
              <a:rPr lang="en-US" altLang="ko-KR" sz="1500" dirty="0">
                <a:ea typeface="맑은 고딕" panose="020B0503020000020004" pitchFamily="50" charset="-127"/>
              </a:rPr>
              <a:t>’</a:t>
            </a:r>
            <a:r>
              <a:rPr lang="ko-KR" altLang="en-US" sz="1500" dirty="0">
                <a:ea typeface="맑은 고딕" panose="020B0503020000020004" pitchFamily="50" charset="-127"/>
              </a:rPr>
              <a:t>을 통해 전쟁을 하지 않고도 세계적 패권국으로 부상할 수 있다고 계산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그러나 회담정책은 </a:t>
            </a:r>
            <a:r>
              <a:rPr lang="en-US" altLang="ko-KR" sz="1500" dirty="0">
                <a:ea typeface="맑은 고딕" panose="020B0503020000020004" pitchFamily="50" charset="-127"/>
              </a:rPr>
              <a:t>1</a:t>
            </a:r>
            <a:r>
              <a:rPr lang="ko-KR" altLang="en-US" sz="1500" dirty="0">
                <a:ea typeface="맑은 고딕" panose="020B0503020000020004" pitchFamily="50" charset="-127"/>
              </a:rPr>
              <a:t>차 모로코사태를 해결하기 위한 </a:t>
            </a:r>
            <a:r>
              <a:rPr lang="en-US" altLang="ko-KR" sz="1500" dirty="0">
                <a:ea typeface="맑은 고딕" panose="020B0503020000020004" pitchFamily="50" charset="-127"/>
              </a:rPr>
              <a:t>&lt;</a:t>
            </a:r>
            <a:r>
              <a:rPr lang="ko-KR" altLang="en-US" sz="1500" dirty="0" err="1">
                <a:ea typeface="맑은 고딕" panose="020B0503020000020004" pitchFamily="50" charset="-127"/>
              </a:rPr>
              <a:t>알헤시라스</a:t>
            </a:r>
            <a:r>
              <a:rPr lang="ko-KR" altLang="en-US" sz="1500" dirty="0">
                <a:ea typeface="맑은 고딕" panose="020B0503020000020004" pitchFamily="50" charset="-127"/>
              </a:rPr>
              <a:t> 회의</a:t>
            </a:r>
            <a:r>
              <a:rPr lang="en-US" altLang="ko-KR" sz="1500" dirty="0">
                <a:ea typeface="맑은 고딕" panose="020B0503020000020004" pitchFamily="50" charset="-127"/>
              </a:rPr>
              <a:t>&gt;</a:t>
            </a:r>
            <a:r>
              <a:rPr lang="ko-KR" altLang="en-US" sz="1500" dirty="0">
                <a:ea typeface="맑은 고딕" panose="020B0503020000020004" pitchFamily="50" charset="-127"/>
              </a:rPr>
              <a:t>를</a:t>
            </a:r>
            <a:r>
              <a:rPr lang="en-US" altLang="ko-KR" sz="1500" dirty="0">
                <a:ea typeface="맑은 고딕" panose="020B0503020000020004" pitchFamily="50" charset="-127"/>
              </a:rPr>
              <a:t> </a:t>
            </a:r>
            <a:r>
              <a:rPr lang="ko-KR" altLang="en-US" sz="1500" dirty="0">
                <a:ea typeface="맑은 고딕" panose="020B0503020000020004" pitchFamily="50" charset="-127"/>
              </a:rPr>
              <a:t>끝으로 자국의 국제적 고립을 확인하며 폐기되고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이후부터는 당사자 간</a:t>
            </a:r>
            <a:r>
              <a:rPr lang="en-US" altLang="ko-KR" sz="1500" dirty="0">
                <a:ea typeface="맑은 고딕" panose="020B0503020000020004" pitchFamily="50" charset="-127"/>
              </a:rPr>
              <a:t> </a:t>
            </a:r>
            <a:r>
              <a:rPr lang="ko-KR" altLang="en-US" sz="1500" dirty="0">
                <a:ea typeface="맑은 고딕" panose="020B0503020000020004" pitchFamily="50" charset="-127"/>
              </a:rPr>
              <a:t>해결원칙에 따른 강경한 외교정책 구사  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모로코위기</a:t>
            </a:r>
            <a:r>
              <a:rPr lang="en-US" altLang="ko-KR" sz="1400" b="1" dirty="0">
                <a:ea typeface="맑은 고딕" panose="020B0503020000020004" pitchFamily="50" charset="-127"/>
              </a:rPr>
              <a:t>)</a:t>
            </a:r>
            <a:r>
              <a:rPr lang="ko-KR" altLang="en-US" sz="1400" b="1" dirty="0">
                <a:ea typeface="맑은 고딕" panose="020B0503020000020004" pitchFamily="50" charset="-127"/>
              </a:rPr>
              <a:t> 모로코를 둘러싼 영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독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프의</a:t>
            </a:r>
            <a:r>
              <a:rPr lang="ko-KR" altLang="en-US" sz="1400" b="1" dirty="0">
                <a:ea typeface="맑은 고딕" panose="020B0503020000020004" pitchFamily="50" charset="-127"/>
              </a:rPr>
              <a:t> 대립문제</a:t>
            </a:r>
            <a:endParaRPr lang="en-US" altLang="ko-KR" sz="1400" b="1" dirty="0"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150000"/>
              </a:lnSpc>
              <a:buFontTx/>
              <a:buChar char="-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모로코는 중세 이후 독립국가를 유지했으나 </a:t>
            </a:r>
            <a:r>
              <a:rPr lang="en-US" altLang="ko-KR" sz="1400" b="1" dirty="0">
                <a:ea typeface="맑은 고딕" panose="020B0503020000020004" pitchFamily="50" charset="-127"/>
              </a:rPr>
              <a:t>1880</a:t>
            </a:r>
            <a:r>
              <a:rPr lang="ko-KR" altLang="en-US" sz="1400" b="1" dirty="0">
                <a:ea typeface="맑은 고딕" panose="020B0503020000020004" pitchFamily="50" charset="-127"/>
              </a:rPr>
              <a:t>년 마드리드협정에 의해 서구에 개방</a:t>
            </a:r>
            <a:endParaRPr lang="en-US" altLang="ko-KR" sz="1400" b="1" dirty="0"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150000"/>
              </a:lnSpc>
              <a:buFontTx/>
              <a:buChar char="-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독일은 이 지역에서의 영향력 팽창을 위해 마드리드조약 당사국간 회의를 소집</a:t>
            </a:r>
            <a:r>
              <a:rPr lang="en-US" altLang="ko-KR" sz="1400" b="1" dirty="0">
                <a:ea typeface="맑은 고딕" panose="020B0503020000020004" pitchFamily="50" charset="-127"/>
              </a:rPr>
              <a:t>, 1906</a:t>
            </a:r>
            <a:r>
              <a:rPr lang="ko-KR" altLang="en-US" sz="1400" b="1" dirty="0">
                <a:ea typeface="맑은 고딕" panose="020B0503020000020004" pitchFamily="50" charset="-127"/>
              </a:rPr>
              <a:t>년</a:t>
            </a:r>
            <a:r>
              <a:rPr lang="en-US" altLang="ko-KR" sz="1400" b="1" dirty="0"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ea typeface="맑은 고딕" panose="020B0503020000020004" pitchFamily="50" charset="-127"/>
              </a:rPr>
              <a:t>알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헤시라스</a:t>
            </a:r>
            <a:r>
              <a:rPr lang="ko-KR" altLang="en-US" sz="1400" b="1" dirty="0">
                <a:ea typeface="맑은 고딕" panose="020B0503020000020004" pitchFamily="50" charset="-127"/>
              </a:rPr>
              <a:t> 협정이 체결</a:t>
            </a:r>
            <a:endParaRPr lang="en-US" altLang="ko-KR" sz="1400" b="1" dirty="0">
              <a:ea typeface="맑은 고딕" panose="020B0503020000020004" pitchFamily="50" charset="-127"/>
            </a:endParaRPr>
          </a:p>
          <a:p>
            <a:pPr marL="285750" indent="-285750" eaLnBrk="1" latinLnBrk="1" hangingPunct="1">
              <a:lnSpc>
                <a:spcPct val="150000"/>
              </a:lnSpc>
              <a:buFontTx/>
              <a:buChar char="-"/>
              <a:defRPr/>
            </a:pPr>
            <a:r>
              <a:rPr lang="ko-KR" altLang="en-US" sz="1400" b="1" dirty="0">
                <a:ea typeface="맑은 고딕" panose="020B0503020000020004" pitchFamily="50" charset="-127"/>
              </a:rPr>
              <a:t>모로코의 형식적 주권을 인정하되 치안과 재정</a:t>
            </a:r>
            <a:r>
              <a:rPr lang="en-US" altLang="ko-KR" sz="1400" b="1" dirty="0"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ea typeface="맑은 고딕" panose="020B0503020000020004" pitchFamily="50" charset="-127"/>
              </a:rPr>
              <a:t>은행</a:t>
            </a:r>
            <a:r>
              <a:rPr lang="en-US" altLang="ko-KR" sz="1400" b="1" dirty="0">
                <a:ea typeface="맑은 고딕" panose="020B0503020000020004" pitchFamily="50" charset="-127"/>
              </a:rPr>
              <a:t>)</a:t>
            </a:r>
            <a:r>
              <a:rPr lang="ko-KR" altLang="en-US" sz="1400" b="1" dirty="0">
                <a:ea typeface="맑은 고딕" panose="020B0503020000020004" pitchFamily="50" charset="-127"/>
              </a:rPr>
              <a:t>을 프랑스가 장악하게 됨으로써 독일의 의도가 빗나가고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오히려 독일을  견제 하기 위한 영</a:t>
            </a:r>
            <a:r>
              <a:rPr lang="en-US" altLang="ko-KR" sz="1400" b="1" dirty="0">
                <a:ea typeface="맑은 고딕" panose="020B0503020000020004" pitchFamily="50" charset="-127"/>
              </a:rPr>
              <a:t>-</a:t>
            </a:r>
            <a:r>
              <a:rPr lang="ko-KR" altLang="en-US" sz="1400" b="1" dirty="0">
                <a:ea typeface="맑은 고딕" panose="020B0503020000020004" pitchFamily="50" charset="-127"/>
              </a:rPr>
              <a:t>불협상을 강화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독일은 고립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8437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415480" y="1556792"/>
            <a:ext cx="10033792" cy="4666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(4) 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독일 세계정책의 좌절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indent="-285750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독일 목표</a:t>
            </a:r>
            <a:r>
              <a:rPr lang="en-US" altLang="ko-KR" sz="1500" dirty="0">
                <a:ea typeface="맑은 고딕" panose="020B0503020000020004" pitchFamily="50" charset="-127"/>
              </a:rPr>
              <a:t>)</a:t>
            </a:r>
            <a:r>
              <a:rPr lang="ko-KR" altLang="en-US" sz="1500" dirty="0">
                <a:ea typeface="맑은 고딕" panose="020B0503020000020004" pitchFamily="50" charset="-127"/>
              </a:rPr>
              <a:t> 전 세계를 대상으로 독일의 정치적 지위를 강화하고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영국을 넘어서는 세계패권국가를 목표로 했음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 eaLnBrk="1" hangingPunct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함대정책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중립정책 및 회담외교를 추진하며 동아시아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태평양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아프리카 등지에서 해군기지와 식민지를 획득하고자 함</a:t>
            </a:r>
            <a:r>
              <a:rPr lang="en-US" altLang="ko-KR" sz="1500" dirty="0">
                <a:ea typeface="맑은 고딕" panose="020B0503020000020004" pitchFamily="50" charset="-127"/>
              </a:rPr>
              <a:t> =&gt; </a:t>
            </a:r>
            <a:r>
              <a:rPr lang="ko-KR" altLang="en-US" sz="1500" dirty="0">
                <a:ea typeface="맑은 고딕" panose="020B0503020000020004" pitchFamily="50" charset="-127"/>
              </a:rPr>
              <a:t>그러나 </a:t>
            </a:r>
            <a:r>
              <a:rPr lang="ko-KR" altLang="en-US" sz="1500" b="1" dirty="0">
                <a:ea typeface="맑은 고딕" panose="020B0503020000020004" pitchFamily="50" charset="-127"/>
              </a:rPr>
              <a:t>독일의 정책은 그 한계성으로 인해 결국 실패</a:t>
            </a:r>
            <a:endParaRPr lang="en-US" altLang="ko-KR" sz="1500" b="1" dirty="0">
              <a:ea typeface="맑은 고딕" panose="020B0503020000020004" pitchFamily="50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500" b="1" dirty="0">
                <a:solidFill>
                  <a:srgbClr val="340ACC"/>
                </a:solidFill>
                <a:ea typeface="맑은 고딕" panose="020B0503020000020004" pitchFamily="50" charset="-127"/>
              </a:rPr>
              <a:t>군사력의 열세</a:t>
            </a:r>
            <a:r>
              <a:rPr lang="en-US" altLang="ko-KR" sz="1500" b="1" dirty="0">
                <a:solidFill>
                  <a:srgbClr val="340ACC"/>
                </a:solidFill>
                <a:ea typeface="맑은 고딕" panose="020B0503020000020004" pitchFamily="50" charset="-127"/>
              </a:rPr>
              <a:t>) </a:t>
            </a:r>
            <a:r>
              <a:rPr lang="en-US" altLang="ko-KR" sz="1500" dirty="0">
                <a:ea typeface="맑은 고딕" panose="020B0503020000020004" pitchFamily="50" charset="-127"/>
              </a:rPr>
              <a:t>1900</a:t>
            </a:r>
            <a:r>
              <a:rPr lang="ko-KR" altLang="en-US" sz="1500" dirty="0">
                <a:ea typeface="맑은 고딕" panose="020B0503020000020004" pitchFamily="50" charset="-127"/>
              </a:rPr>
              <a:t>년의 의화단 사건 이후 대규모 군사력을 중국에 파견했지만 강력한 해군력에 있어 영국에 약세를 극복 못하고 본국의 안보를 위해 동아시아에 파견된 육해군을 철수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  <a:defRPr/>
            </a:pPr>
            <a:r>
              <a:rPr lang="en-US" altLang="ko-KR" sz="1500" b="1" dirty="0">
                <a:solidFill>
                  <a:srgbClr val="340ACC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340ACC"/>
                </a:solidFill>
                <a:ea typeface="맑은 고딕" panose="020B0503020000020004" pitchFamily="50" charset="-127"/>
              </a:rPr>
              <a:t>중립정책의 한계</a:t>
            </a:r>
            <a:r>
              <a:rPr lang="en-US" altLang="ko-KR" sz="1500" b="1" dirty="0">
                <a:solidFill>
                  <a:srgbClr val="340ACC"/>
                </a:solidFill>
                <a:ea typeface="맑은 고딕" panose="020B0503020000020004" pitchFamily="50" charset="-127"/>
              </a:rPr>
              <a:t>) </a:t>
            </a:r>
            <a:r>
              <a:rPr lang="ko-KR" altLang="en-US" sz="1500" dirty="0">
                <a:ea typeface="맑은 고딕" panose="020B0503020000020004" pitchFamily="50" charset="-127"/>
              </a:rPr>
              <a:t>영국의 동맹제의를 거부하며 영국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러시아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프랑스 사이에서 상호간 대립을</a:t>
            </a:r>
            <a:r>
              <a:rPr lang="en-US" altLang="ko-KR" sz="1500" dirty="0">
                <a:ea typeface="맑은 고딕" panose="020B0503020000020004" pitchFamily="50" charset="-127"/>
              </a:rPr>
              <a:t> </a:t>
            </a:r>
            <a:r>
              <a:rPr lang="ko-KR" altLang="en-US" sz="1500" dirty="0">
                <a:ea typeface="맑은 고딕" panose="020B0503020000020004" pitchFamily="50" charset="-127"/>
              </a:rPr>
              <a:t>이용하며 자국의 주도적 위치를 강화하고자 했으나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영국이 일본과 동맹을 맺고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 err="1">
                <a:ea typeface="맑은 고딕" panose="020B0503020000020004" pitchFamily="50" charset="-127"/>
              </a:rPr>
              <a:t>프랑스와도</a:t>
            </a:r>
            <a:r>
              <a:rPr lang="ko-KR" altLang="en-US" sz="1500" dirty="0">
                <a:ea typeface="맑은 고딕" panose="020B0503020000020004" pitchFamily="50" charset="-127"/>
              </a:rPr>
              <a:t> 협상을 체결하면서 외려 독일이 고립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이후 러시아와의 동맹을 추진했으나 러시아의 거절로 실패</a:t>
            </a:r>
            <a:r>
              <a:rPr lang="en-US" altLang="ko-KR" sz="1500" dirty="0">
                <a:ea typeface="맑은 고딕" panose="020B0503020000020004" pitchFamily="50" charset="-127"/>
              </a:rPr>
              <a:t>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500" b="1" dirty="0">
                <a:solidFill>
                  <a:srgbClr val="340ACC"/>
                </a:solidFill>
                <a:ea typeface="맑은 고딕" panose="020B0503020000020004" pitchFamily="50" charset="-127"/>
              </a:rPr>
              <a:t>회담정책의 좌절</a:t>
            </a:r>
            <a:r>
              <a:rPr lang="en-US" altLang="ko-KR" sz="1500" b="1" dirty="0">
                <a:solidFill>
                  <a:srgbClr val="340ACC"/>
                </a:solidFill>
                <a:ea typeface="맑은 고딕" panose="020B0503020000020004" pitchFamily="50" charset="-127"/>
              </a:rPr>
              <a:t>)</a:t>
            </a:r>
            <a:r>
              <a:rPr lang="en-US" altLang="ko-KR" sz="1500" b="1" dirty="0">
                <a:ea typeface="맑은 고딕" panose="020B0503020000020004" pitchFamily="50" charset="-127"/>
              </a:rPr>
              <a:t> </a:t>
            </a:r>
            <a:r>
              <a:rPr lang="ko-KR" altLang="en-US" sz="1500" dirty="0" err="1">
                <a:ea typeface="맑은 고딕" panose="020B0503020000020004" pitchFamily="50" charset="-127"/>
              </a:rPr>
              <a:t>알헤시라스</a:t>
            </a:r>
            <a:r>
              <a:rPr lang="ko-KR" altLang="en-US" sz="1500" dirty="0">
                <a:ea typeface="맑은 고딕" panose="020B0503020000020004" pitchFamily="50" charset="-127"/>
              </a:rPr>
              <a:t> 협정을 끝으로 마감</a:t>
            </a:r>
          </a:p>
        </p:txBody>
      </p:sp>
    </p:spTree>
    <p:extLst>
      <p:ext uri="{BB962C8B-B14F-4D97-AF65-F5344CB8AC3E}">
        <p14:creationId xmlns:p14="http://schemas.microsoft.com/office/powerpoint/2010/main" val="14757366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1F8FE18-9229-80D9-7311-FCD8FDFC13EF}"/>
              </a:ext>
            </a:extLst>
          </p:cNvPr>
          <p:cNvSpPr/>
          <p:nvPr/>
        </p:nvSpPr>
        <p:spPr>
          <a:xfrm>
            <a:off x="3073703" y="2710824"/>
            <a:ext cx="1404000" cy="3456000"/>
          </a:xfrm>
          <a:prstGeom prst="rect">
            <a:avLst/>
          </a:prstGeom>
          <a:solidFill>
            <a:srgbClr val="1C7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기조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가상의 적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힘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동맹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패권국과의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관계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정책대상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제국주의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28EDFB-C855-7334-8EEA-291C8DC16617}"/>
              </a:ext>
            </a:extLst>
          </p:cNvPr>
          <p:cNvSpPr/>
          <p:nvPr/>
        </p:nvSpPr>
        <p:spPr>
          <a:xfrm>
            <a:off x="4601912" y="2710824"/>
            <a:ext cx="3096000" cy="3456000"/>
          </a:xfrm>
          <a:prstGeom prst="rect">
            <a:avLst/>
          </a:prstGeom>
          <a:solidFill>
            <a:srgbClr val="1C75C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프랑스 봉쇄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현상유지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보장정책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프랑스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동맹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독오동맹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삼국동맹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삼제협상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우호적 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유럽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소극적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0D2152-52CB-408B-5D7B-E490736F6410}"/>
              </a:ext>
            </a:extLst>
          </p:cNvPr>
          <p:cNvSpPr/>
          <p:nvPr/>
        </p:nvSpPr>
        <p:spPr>
          <a:xfrm>
            <a:off x="7862079" y="2710824"/>
            <a:ext cx="2196000" cy="3456000"/>
          </a:xfrm>
          <a:prstGeom prst="rect">
            <a:avLst/>
          </a:prstGeom>
          <a:solidFill>
            <a:srgbClr val="1C75C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세계패권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위신정책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ctr">
              <a:lnSpc>
                <a:spcPct val="150000"/>
              </a:lnSpc>
            </a:pPr>
            <a:endParaRPr lang="en-US" altLang="ko-KR" sz="3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현상변경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패권추구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ctr">
              <a:lnSpc>
                <a:spcPct val="150000"/>
              </a:lnSpc>
            </a:pPr>
            <a:endParaRPr lang="en-US" altLang="ko-KR" sz="3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영국</a:t>
            </a:r>
            <a:endParaRPr lang="en-US" altLang="ko-KR" sz="3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자강</a:t>
            </a:r>
            <a:endParaRPr lang="en-US" altLang="ko-KR" sz="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독오동맹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삼국동맹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3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경쟁적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적대적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3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 세계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3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적극적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1A2BF-ED91-1BFA-CFA0-291F90520982}"/>
              </a:ext>
            </a:extLst>
          </p:cNvPr>
          <p:cNvSpPr txBox="1"/>
          <p:nvPr/>
        </p:nvSpPr>
        <p:spPr>
          <a:xfrm>
            <a:off x="8330287" y="2341492"/>
            <a:ext cx="14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66A6FF"/>
                </a:solidFill>
                <a:ea typeface="맑은 고딕" panose="020B0503020000020004" pitchFamily="50" charset="-127"/>
              </a:rPr>
              <a:t>빌헬름</a:t>
            </a:r>
            <a:r>
              <a:rPr lang="en-US" altLang="ko-KR" b="1" dirty="0">
                <a:solidFill>
                  <a:srgbClr val="66A6FF"/>
                </a:solidFill>
                <a:ea typeface="맑은 고딕" panose="020B0503020000020004" pitchFamily="50" charset="-127"/>
              </a:rPr>
              <a:t>2</a:t>
            </a:r>
            <a:r>
              <a:rPr lang="ko-KR" altLang="en-US" b="1" dirty="0">
                <a:solidFill>
                  <a:srgbClr val="66A6FF"/>
                </a:solidFill>
                <a:ea typeface="맑은 고딕" panose="020B0503020000020004" pitchFamily="50" charset="-127"/>
              </a:rPr>
              <a:t>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A6699B-1A80-3A86-25F8-DA280CC34CEC}"/>
              </a:ext>
            </a:extLst>
          </p:cNvPr>
          <p:cNvSpPr txBox="1"/>
          <p:nvPr/>
        </p:nvSpPr>
        <p:spPr>
          <a:xfrm>
            <a:off x="5413807" y="2341492"/>
            <a:ext cx="14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1C75CE"/>
                </a:solidFill>
                <a:ea typeface="맑은 고딕" panose="020B0503020000020004" pitchFamily="50" charset="-127"/>
              </a:rPr>
              <a:t>비스마르크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3F40F6-DED6-CB89-D077-675C43BB549D}"/>
              </a:ext>
            </a:extLst>
          </p:cNvPr>
          <p:cNvSpPr/>
          <p:nvPr/>
        </p:nvSpPr>
        <p:spPr>
          <a:xfrm>
            <a:off x="1977924" y="2493328"/>
            <a:ext cx="1404000" cy="38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1462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1462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1462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1462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1462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1462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1462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1462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1462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</a:p>
          <a:p>
            <a:pPr algn="ctr">
              <a:lnSpc>
                <a:spcPct val="150000"/>
              </a:lnSpc>
            </a:pP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A45162-6532-CD23-B04F-34DD56A4B7F2}"/>
              </a:ext>
            </a:extLst>
          </p:cNvPr>
          <p:cNvSpPr txBox="1"/>
          <p:nvPr/>
        </p:nvSpPr>
        <p:spPr>
          <a:xfrm>
            <a:off x="3051416" y="2341492"/>
            <a:ext cx="14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1462CC"/>
                </a:solidFill>
                <a:ea typeface="맑은 고딕" panose="020B0503020000020004" pitchFamily="50" charset="-127"/>
              </a:rPr>
              <a:t>대외정책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B00B481-BF36-8B64-E236-7BFA7E416756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8C30B5-3556-B145-C707-8A60ACAA6060}"/>
              </a:ext>
            </a:extLst>
          </p:cNvPr>
          <p:cNvSpPr txBox="1"/>
          <p:nvPr/>
        </p:nvSpPr>
        <p:spPr>
          <a:xfrm>
            <a:off x="3318316" y="756398"/>
            <a:ext cx="6380914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빌헬름</a:t>
            </a:r>
            <a:r>
              <a:rPr lang="en-US" altLang="ko-KR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2</a:t>
            </a: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세의 대외정책 비교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ABAF1F2-9AC5-CF1E-8CF4-07ADDF205916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4179AE-54D2-EBA5-3F43-206688DCDB6E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</p:spTree>
    <p:extLst>
      <p:ext uri="{BB962C8B-B14F-4D97-AF65-F5344CB8AC3E}">
        <p14:creationId xmlns:p14="http://schemas.microsoft.com/office/powerpoint/2010/main" val="9814923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126E4-88F5-30A0-6E58-BE87D6D73CA6}"/>
              </a:ext>
            </a:extLst>
          </p:cNvPr>
          <p:cNvSpPr/>
          <p:nvPr/>
        </p:nvSpPr>
        <p:spPr>
          <a:xfrm>
            <a:off x="1667329" y="1636137"/>
            <a:ext cx="9682842" cy="386355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유럽질서의 재편</a:t>
            </a:r>
            <a:endParaRPr kumimoji="0" lang="ko-KR" altLang="en-US" sz="16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667329" y="2276872"/>
            <a:ext cx="9541239" cy="3758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(1) 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러시아와 프랑스의 관계개선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&gt;&gt;&gt; </a:t>
            </a:r>
            <a:r>
              <a:rPr lang="ko-KR" altLang="en-US" sz="1600" b="1" dirty="0" err="1">
                <a:solidFill>
                  <a:prstClr val="black"/>
                </a:solidFill>
                <a:ea typeface="맑은 고딕" panose="020B0503020000020004" pitchFamily="50" charset="-127"/>
              </a:rPr>
              <a:t>러불동맹과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 프랑스의 고립 탈피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프랑스는 독일 또는 이태리에 대해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러시아는 독일 또는 오스트리아에 대해</a:t>
            </a:r>
            <a:r>
              <a:rPr lang="en-US" altLang="ko-KR" sz="1500" dirty="0">
                <a:ea typeface="맑은 고딕" panose="020B0503020000020004" pitchFamily="50" charset="-127"/>
              </a:rPr>
              <a:t> </a:t>
            </a:r>
            <a:r>
              <a:rPr lang="ko-KR" altLang="en-US" sz="1500" dirty="0">
                <a:ea typeface="맑은 고딕" panose="020B0503020000020004" pitchFamily="50" charset="-127"/>
              </a:rPr>
              <a:t>공격을 받았을 때 러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불은 각각 전 병력을 사용해 상호 지원한다</a:t>
            </a:r>
            <a:r>
              <a:rPr lang="en-US" altLang="ko-KR" sz="1500" dirty="0"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  <a:defRPr/>
            </a:pPr>
            <a:r>
              <a:rPr lang="en-US" altLang="ko-KR" sz="1500" dirty="0">
                <a:ea typeface="맑은 고딕" panose="020B0503020000020004" pitchFamily="50" charset="-127"/>
              </a:rPr>
              <a:t>3</a:t>
            </a:r>
            <a:r>
              <a:rPr lang="ko-KR" altLang="en-US" sz="1500" dirty="0">
                <a:ea typeface="맑은 고딕" panose="020B0503020000020004" pitchFamily="50" charset="-127"/>
              </a:rPr>
              <a:t>국동맹조약국가 또는 그 중 일국이 병력을 동원하여 </a:t>
            </a:r>
            <a:r>
              <a:rPr lang="ko-KR" altLang="en-US" sz="1500" dirty="0" err="1">
                <a:ea typeface="맑은 고딕" panose="020B0503020000020004" pitchFamily="50" charset="-127"/>
              </a:rPr>
              <a:t>공격시</a:t>
            </a:r>
            <a:r>
              <a:rPr lang="ko-KR" altLang="en-US" sz="1500" dirty="0">
                <a:ea typeface="맑은 고딕" panose="020B0503020000020004" pitchFamily="50" charset="-127"/>
              </a:rPr>
              <a:t> 양국은 예비협의 없이 동시에 가용한 전 병력을 국경지역에 파견해 지원한다</a:t>
            </a:r>
            <a:r>
              <a:rPr lang="en-US" altLang="ko-KR" sz="1500" dirty="0"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독일에 대항하기 위해 프랑스는 </a:t>
            </a:r>
            <a:r>
              <a:rPr lang="en-US" altLang="ko-KR" sz="1500" dirty="0">
                <a:ea typeface="맑은 고딕" panose="020B0503020000020004" pitchFamily="50" charset="-127"/>
              </a:rPr>
              <a:t>130</a:t>
            </a:r>
            <a:r>
              <a:rPr lang="ko-KR" altLang="en-US" sz="1500" dirty="0">
                <a:ea typeface="맑은 고딕" panose="020B0503020000020004" pitchFamily="50" charset="-127"/>
              </a:rPr>
              <a:t>만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러시아는 </a:t>
            </a:r>
            <a:r>
              <a:rPr lang="en-US" altLang="ko-KR" sz="1500" dirty="0">
                <a:ea typeface="맑은 고딕" panose="020B0503020000020004" pitchFamily="50" charset="-127"/>
              </a:rPr>
              <a:t>70~80</a:t>
            </a:r>
            <a:r>
              <a:rPr lang="ko-KR" altLang="en-US" sz="1500" dirty="0">
                <a:ea typeface="맑은 고딕" panose="020B0503020000020004" pitchFamily="50" charset="-127"/>
              </a:rPr>
              <a:t>만의 병력을 동원한다</a:t>
            </a:r>
            <a:r>
              <a:rPr lang="en-US" altLang="ko-KR" sz="1500" dirty="0"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단독강화를 금지한다</a:t>
            </a:r>
            <a:r>
              <a:rPr lang="en-US" altLang="ko-KR" sz="1500" dirty="0"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  <a:defRPr/>
            </a:pPr>
            <a:r>
              <a:rPr lang="en-US" altLang="ko-KR" sz="1500" dirty="0">
                <a:ea typeface="맑은 고딕" panose="020B0503020000020004" pitchFamily="50" charset="-127"/>
              </a:rPr>
              <a:t>3</a:t>
            </a:r>
            <a:r>
              <a:rPr lang="ko-KR" altLang="en-US" sz="1500" dirty="0">
                <a:ea typeface="맑은 고딕" panose="020B0503020000020004" pitchFamily="50" charset="-127"/>
              </a:rPr>
              <a:t>국 동맹과 동일기간 유효하며 비밀로 한다</a:t>
            </a:r>
            <a:r>
              <a:rPr lang="en-US" altLang="ko-KR" sz="1500" dirty="0"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0328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559496" y="1904356"/>
            <a:ext cx="9757263" cy="377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러시아와 프랑스의 관계개선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&gt;&gt;&gt; </a:t>
            </a:r>
            <a:r>
              <a:rPr lang="ko-KR" altLang="en-US" sz="1600" b="1" dirty="0" err="1">
                <a:solidFill>
                  <a:prstClr val="black"/>
                </a:solidFill>
                <a:ea typeface="맑은 고딕" panose="020B0503020000020004" pitchFamily="50" charset="-127"/>
              </a:rPr>
              <a:t>러불동맹과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 프랑스의 고립 탈피</a:t>
            </a:r>
            <a:endParaRPr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500" dirty="0">
                <a:ea typeface="맑은 고딕" panose="020B0503020000020004" pitchFamily="50" charset="-127"/>
              </a:rPr>
              <a:t>1891.8.27 </a:t>
            </a:r>
            <a:r>
              <a:rPr lang="en-US" altLang="ko-KR" sz="1500" b="1" dirty="0">
                <a:solidFill>
                  <a:srgbClr val="FF0000"/>
                </a:solidFill>
                <a:ea typeface="맑은 고딕" panose="020B0503020000020004" pitchFamily="50" charset="-127"/>
              </a:rPr>
              <a:t>&lt;</a:t>
            </a:r>
            <a:r>
              <a:rPr lang="ko-KR" altLang="en-US" sz="1500" b="1" dirty="0" err="1">
                <a:solidFill>
                  <a:srgbClr val="FF0000"/>
                </a:solidFill>
                <a:ea typeface="맑은 고딕" panose="020B0503020000020004" pitchFamily="50" charset="-127"/>
              </a:rPr>
              <a:t>러불</a:t>
            </a:r>
            <a:r>
              <a:rPr lang="ko-KR" altLang="en-US" sz="1500" b="1" dirty="0">
                <a:solidFill>
                  <a:srgbClr val="FF0000"/>
                </a:solidFill>
                <a:ea typeface="맑은 고딕" panose="020B0503020000020004" pitchFamily="50" charset="-127"/>
              </a:rPr>
              <a:t> 정치협정</a:t>
            </a:r>
            <a:r>
              <a:rPr lang="en-US" altLang="ko-KR" sz="1500" b="1" dirty="0">
                <a:solidFill>
                  <a:srgbClr val="FF0000"/>
                </a:solidFill>
                <a:ea typeface="맑은 고딕" panose="020B0503020000020004" pitchFamily="50" charset="-127"/>
              </a:rPr>
              <a:t>&gt;</a:t>
            </a:r>
            <a:r>
              <a:rPr lang="ko-KR" altLang="en-US" sz="1500" dirty="0">
                <a:ea typeface="맑은 고딕" panose="020B0503020000020004" pitchFamily="50" charset="-127"/>
              </a:rPr>
              <a:t>과 </a:t>
            </a:r>
            <a:r>
              <a:rPr lang="en-US" altLang="ko-KR" sz="1500" dirty="0">
                <a:ea typeface="맑은 고딕" panose="020B0503020000020004" pitchFamily="50" charset="-127"/>
              </a:rPr>
              <a:t>1892.8.17</a:t>
            </a:r>
            <a:r>
              <a:rPr lang="en-US" altLang="ko-KR" sz="1500" dirty="0">
                <a:solidFill>
                  <a:srgbClr val="FF0000"/>
                </a:solidFill>
                <a:ea typeface="맑은 고딕" panose="020B0503020000020004" pitchFamily="50" charset="-127"/>
              </a:rPr>
              <a:t>.&lt;</a:t>
            </a:r>
            <a:r>
              <a:rPr lang="ko-KR" altLang="en-US" sz="1500" b="1" dirty="0" err="1">
                <a:solidFill>
                  <a:srgbClr val="FF0000"/>
                </a:solidFill>
                <a:ea typeface="맑은 고딕" panose="020B0503020000020004" pitchFamily="50" charset="-127"/>
              </a:rPr>
              <a:t>러불</a:t>
            </a:r>
            <a:r>
              <a:rPr lang="ko-KR" altLang="en-US" sz="1500" b="1" dirty="0">
                <a:solidFill>
                  <a:srgbClr val="FF0000"/>
                </a:solidFill>
                <a:ea typeface="맑은 고딕" panose="020B0503020000020004" pitchFamily="50" charset="-127"/>
              </a:rPr>
              <a:t> 군사협정</a:t>
            </a:r>
            <a:r>
              <a:rPr lang="en-US" altLang="ko-KR" sz="1500" b="1" dirty="0">
                <a:solidFill>
                  <a:srgbClr val="FF0000"/>
                </a:solidFill>
                <a:ea typeface="맑은 고딕" panose="020B0503020000020004" pitchFamily="50" charset="-127"/>
              </a:rPr>
              <a:t>&gt;</a:t>
            </a:r>
            <a:r>
              <a:rPr lang="ko-KR" altLang="en-US" sz="1500" b="1" dirty="0">
                <a:solidFill>
                  <a:srgbClr val="FF0000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ea typeface="맑은 고딕" panose="020B0503020000020004" pitchFamily="50" charset="-127"/>
              </a:rPr>
              <a:t>체결의 의미</a:t>
            </a:r>
            <a:endParaRPr lang="en-US" altLang="ko-KR" sz="1500" b="1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sz="1500" b="1" dirty="0">
                <a:ea typeface="맑은 고딕" panose="020B0503020000020004" pitchFamily="50" charset="-127"/>
              </a:rPr>
              <a:t>독일은 동</a:t>
            </a:r>
            <a:r>
              <a:rPr lang="en-US" altLang="ko-KR" sz="1500" b="1" dirty="0">
                <a:ea typeface="맑은 고딕" panose="020B0503020000020004" pitchFamily="50" charset="-127"/>
              </a:rPr>
              <a:t>-</a:t>
            </a:r>
            <a:r>
              <a:rPr lang="ko-KR" altLang="en-US" sz="1500" b="1" dirty="0">
                <a:ea typeface="맑은 고딕" panose="020B0503020000020004" pitchFamily="50" charset="-127"/>
              </a:rPr>
              <a:t>서 국경지대에서 모두 </a:t>
            </a:r>
            <a:r>
              <a:rPr lang="en-US" altLang="ko-KR" sz="1500" b="1" dirty="0">
                <a:ea typeface="맑은 고딕" panose="020B0503020000020004" pitchFamily="50" charset="-127"/>
              </a:rPr>
              <a:t>200</a:t>
            </a:r>
            <a:r>
              <a:rPr lang="ko-KR" altLang="en-US" sz="1500" b="1" dirty="0">
                <a:ea typeface="맑은 고딕" panose="020B0503020000020004" pitchFamily="50" charset="-127"/>
              </a:rPr>
              <a:t>만의 프랑스</a:t>
            </a:r>
            <a:r>
              <a:rPr lang="en-US" altLang="ko-KR" sz="1500" b="1" dirty="0">
                <a:ea typeface="맑은 고딕" panose="020B0503020000020004" pitchFamily="50" charset="-127"/>
              </a:rPr>
              <a:t>, </a:t>
            </a:r>
            <a:r>
              <a:rPr lang="ko-KR" altLang="en-US" sz="1500" b="1" dirty="0">
                <a:ea typeface="맑은 고딕" panose="020B0503020000020004" pitchFamily="50" charset="-127"/>
              </a:rPr>
              <a:t>러시아 병력과 대치하게 됨</a:t>
            </a:r>
            <a:endParaRPr lang="en-US" altLang="ko-KR" sz="1500" b="1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sz="1500" b="1" dirty="0">
                <a:ea typeface="맑은 고딕" panose="020B0503020000020004" pitchFamily="50" charset="-127"/>
              </a:rPr>
              <a:t>유럽은 삼국동맹</a:t>
            </a:r>
            <a:r>
              <a:rPr lang="en-US" altLang="ko-KR" sz="1500" b="1" dirty="0">
                <a:ea typeface="맑은 고딕" panose="020B0503020000020004" pitchFamily="50" charset="-127"/>
              </a:rPr>
              <a:t>, </a:t>
            </a:r>
            <a:r>
              <a:rPr lang="ko-KR" altLang="en-US" sz="1500" b="1" dirty="0" err="1">
                <a:ea typeface="맑은 고딕" panose="020B0503020000020004" pitchFamily="50" charset="-127"/>
              </a:rPr>
              <a:t>러불동맹</a:t>
            </a:r>
            <a:r>
              <a:rPr lang="en-US" altLang="ko-KR" sz="1500" b="1" dirty="0">
                <a:ea typeface="맑은 고딕" panose="020B0503020000020004" pitchFamily="50" charset="-127"/>
              </a:rPr>
              <a:t>, </a:t>
            </a:r>
            <a:r>
              <a:rPr lang="ko-KR" altLang="en-US" sz="1500" b="1" dirty="0">
                <a:ea typeface="맑은 고딕" panose="020B0503020000020004" pitchFamily="50" charset="-127"/>
              </a:rPr>
              <a:t>영국의 </a:t>
            </a:r>
            <a:r>
              <a:rPr lang="en-US" altLang="ko-KR" sz="1500" b="1" dirty="0">
                <a:ea typeface="맑은 고딕" panose="020B0503020000020004" pitchFamily="50" charset="-127"/>
              </a:rPr>
              <a:t>3</a:t>
            </a:r>
            <a:r>
              <a:rPr lang="ko-KR" altLang="en-US" sz="1500" b="1" dirty="0">
                <a:ea typeface="맑은 고딕" panose="020B0503020000020004" pitchFamily="50" charset="-127"/>
              </a:rPr>
              <a:t>대 세력권으로 재분할</a:t>
            </a:r>
            <a:endParaRPr lang="en-US" altLang="ko-KR" sz="1500" b="1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sz="1500" b="1" dirty="0">
                <a:ea typeface="맑은 고딕" panose="020B0503020000020004" pitchFamily="50" charset="-127"/>
              </a:rPr>
              <a:t>결과적으로 프랑스는 비스마르크에 의해 형성된 국제적 고립으로부터 탈피</a:t>
            </a:r>
            <a:r>
              <a:rPr lang="en-US" altLang="ko-KR" sz="1500" b="1" dirty="0">
                <a:ea typeface="맑은 고딕" panose="020B0503020000020004" pitchFamily="50" charset="-127"/>
              </a:rPr>
              <a:t>,</a:t>
            </a:r>
            <a:r>
              <a:rPr lang="ko-KR" altLang="en-US" sz="1500" dirty="0"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ea typeface="맑은 고딕" panose="020B0503020000020004" pitchFamily="50" charset="-127"/>
              </a:rPr>
              <a:t>유럽의 세력균형질서 회복</a:t>
            </a:r>
            <a:endParaRPr lang="en-US" altLang="ko-KR" sz="1500" b="1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독일은 다시 비스마르크 전략에 복귀하지 않으면 안 되는 상황에서 군비증강에 박차를 가함  </a:t>
            </a:r>
            <a:r>
              <a:rPr lang="en-US" altLang="ko-KR" sz="1500" dirty="0">
                <a:ea typeface="맑은 고딕" panose="020B0503020000020004" pitchFamily="50" charset="-127"/>
              </a:rPr>
              <a:t> </a:t>
            </a:r>
            <a:endParaRPr lang="ko-KR" altLang="en-US" sz="15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1966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606824" y="1586543"/>
            <a:ext cx="10585176" cy="3742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(2) 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독일과의 동맹체결에 실패한 영국의 외교전략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: &lt;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영불협상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&gt;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(1904.04.08.)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독일과의 동맹체결에 실패한 영국은 프랑스와의 관계개선을 추구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양국을 결속시킨 결정적인 계기</a:t>
            </a:r>
            <a:r>
              <a:rPr lang="en-US" altLang="ko-KR" sz="1500" dirty="0">
                <a:ea typeface="맑은 고딕" panose="020B0503020000020004" pitchFamily="50" charset="-127"/>
              </a:rPr>
              <a:t>=</a:t>
            </a:r>
            <a:r>
              <a:rPr lang="ko-KR" altLang="en-US" sz="1500" dirty="0">
                <a:ea typeface="맑은 고딕" panose="020B0503020000020004" pitchFamily="50" charset="-127"/>
              </a:rPr>
              <a:t> 극동의 러시아</a:t>
            </a:r>
            <a:r>
              <a:rPr lang="en-US" altLang="ko-KR" sz="1500" dirty="0">
                <a:ea typeface="맑은 고딕" panose="020B0503020000020004" pitchFamily="50" charset="-127"/>
              </a:rPr>
              <a:t>-</a:t>
            </a:r>
            <a:r>
              <a:rPr lang="ko-KR" altLang="en-US" sz="1500" dirty="0">
                <a:ea typeface="맑은 고딕" panose="020B0503020000020004" pitchFamily="50" charset="-127"/>
              </a:rPr>
              <a:t>일본 대립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의화단 사건 후 만주 주둔 러시아군의 철병문제를 놓고 교섭이 진행되고 있었으나 교착</a:t>
            </a:r>
            <a:r>
              <a:rPr lang="en-US" altLang="ko-KR" sz="1500" dirty="0">
                <a:ea typeface="맑은 고딕" panose="020B0503020000020004" pitchFamily="50" charset="-127"/>
              </a:rPr>
              <a:t>,</a:t>
            </a:r>
            <a:r>
              <a:rPr lang="ko-KR" altLang="en-US" sz="1500" dirty="0">
                <a:ea typeface="맑은 고딕" panose="020B0503020000020004" pitchFamily="50" charset="-127"/>
              </a:rPr>
              <a:t> 러</a:t>
            </a:r>
            <a:r>
              <a:rPr lang="en-US" altLang="ko-KR" sz="1500" dirty="0">
                <a:ea typeface="맑은 고딕" panose="020B0503020000020004" pitchFamily="50" charset="-127"/>
              </a:rPr>
              <a:t>-</a:t>
            </a:r>
            <a:r>
              <a:rPr lang="ko-KR" altLang="en-US" sz="1500" dirty="0">
                <a:ea typeface="맑은 고딕" panose="020B0503020000020004" pitchFamily="50" charset="-127"/>
              </a:rPr>
              <a:t>일 군사적 긴장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sz="1500" b="1" dirty="0">
                <a:ea typeface="맑은 고딕" panose="020B0503020000020004" pitchFamily="50" charset="-127"/>
              </a:rPr>
              <a:t>영국은</a:t>
            </a:r>
            <a:r>
              <a:rPr lang="ko-KR" altLang="en-US" sz="1500" dirty="0">
                <a:ea typeface="맑은 고딕" panose="020B0503020000020004" pitchFamily="50" charset="-127"/>
              </a:rPr>
              <a:t> 러일전쟁에 연루되고 싶어하지 않았고 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sz="1500" b="1" dirty="0">
                <a:ea typeface="맑은 고딕" panose="020B0503020000020004" pitchFamily="50" charset="-127"/>
              </a:rPr>
              <a:t>프랑스</a:t>
            </a:r>
            <a:r>
              <a:rPr lang="ko-KR" altLang="en-US" sz="1500" dirty="0">
                <a:ea typeface="맑은 고딕" panose="020B0503020000020004" pitchFamily="50" charset="-127"/>
              </a:rPr>
              <a:t>는 아프리카에서 식민지 경쟁을 하던 영국의 승인을 받아 모로코경영에 대한 지지를 받으려 했고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 err="1">
                <a:ea typeface="맑은 고딕" panose="020B0503020000020004" pitchFamily="50" charset="-127"/>
              </a:rPr>
              <a:t>러불동맹에</a:t>
            </a:r>
            <a:r>
              <a:rPr lang="ko-KR" altLang="en-US" sz="1500" dirty="0">
                <a:ea typeface="맑은 고딕" panose="020B0503020000020004" pitchFamily="50" charset="-127"/>
              </a:rPr>
              <a:t> 영국을 끌어들여 對독일 포위노선을 강화하고자 했음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0" indent="0">
              <a:lnSpc>
                <a:spcPct val="200000"/>
              </a:lnSpc>
              <a:buNone/>
              <a:defRPr/>
            </a:pPr>
            <a:endParaRPr lang="ko-KR" altLang="en-US" sz="15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56783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703512" y="1622336"/>
            <a:ext cx="10585176" cy="5127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영불협상 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(1904.04.08.) 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결과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,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프랑스는 영국의 이집트 경영에 간섭하지 않고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영국은 모로코에 대한 프랑스의 권리를 인정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즉 양국은 이집트 및 모로코에서의 </a:t>
            </a:r>
            <a:r>
              <a:rPr lang="en-US" altLang="ko-KR" sz="1500" dirty="0">
                <a:ea typeface="맑은 고딕" panose="020B0503020000020004" pitchFamily="50" charset="-127"/>
              </a:rPr>
              <a:t>30</a:t>
            </a:r>
            <a:r>
              <a:rPr lang="ko-KR" altLang="en-US" sz="1500" dirty="0">
                <a:ea typeface="맑은 고딕" panose="020B0503020000020004" pitchFamily="50" charset="-127"/>
              </a:rPr>
              <a:t>년간 상업상의  자유를 인정하기로 함</a:t>
            </a: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영불협상으로 영국</a:t>
            </a:r>
            <a:r>
              <a:rPr lang="en-US" altLang="ko-KR" sz="1500" dirty="0">
                <a:ea typeface="맑은 고딕" panose="020B0503020000020004" pitchFamily="50" charset="-127"/>
              </a:rPr>
              <a:t>-</a:t>
            </a:r>
            <a:r>
              <a:rPr lang="ko-KR" altLang="en-US" sz="1500" dirty="0">
                <a:ea typeface="맑은 고딕" panose="020B0503020000020004" pitchFamily="50" charset="-127"/>
              </a:rPr>
              <a:t>프랑스 관계 개선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프랑스와 동맹을 맺은 러시아의 이해관계를 침해하지 않는 유연한 협상체제로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    결국 영</a:t>
            </a:r>
            <a:r>
              <a:rPr lang="en-US" altLang="ko-KR" sz="1500" dirty="0">
                <a:ea typeface="맑은 고딕" panose="020B0503020000020004" pitchFamily="50" charset="-127"/>
              </a:rPr>
              <a:t>-</a:t>
            </a:r>
            <a:r>
              <a:rPr lang="ko-KR" altLang="en-US" sz="1500" dirty="0">
                <a:ea typeface="맑은 고딕" panose="020B0503020000020004" pitchFamily="50" charset="-127"/>
              </a:rPr>
              <a:t>불</a:t>
            </a:r>
            <a:r>
              <a:rPr lang="en-US" altLang="ko-KR" sz="1500" dirty="0">
                <a:ea typeface="맑은 고딕" panose="020B0503020000020004" pitchFamily="50" charset="-127"/>
              </a:rPr>
              <a:t>-</a:t>
            </a:r>
            <a:r>
              <a:rPr lang="ko-KR" altLang="en-US" sz="1500" dirty="0">
                <a:ea typeface="맑은 고딕" panose="020B0503020000020004" pitchFamily="50" charset="-127"/>
              </a:rPr>
              <a:t>러 </a:t>
            </a:r>
            <a:r>
              <a:rPr lang="en-US" altLang="ko-KR" sz="1500" dirty="0">
                <a:ea typeface="맑은 고딕" panose="020B0503020000020004" pitchFamily="50" charset="-127"/>
              </a:rPr>
              <a:t>3</a:t>
            </a:r>
            <a:r>
              <a:rPr lang="ko-KR" altLang="en-US" sz="1500" dirty="0">
                <a:ea typeface="맑은 고딕" panose="020B0503020000020004" pitchFamily="50" charset="-127"/>
              </a:rPr>
              <a:t>국간</a:t>
            </a:r>
            <a:r>
              <a:rPr lang="en-US" altLang="ko-KR" sz="1500" dirty="0">
                <a:ea typeface="맑은 고딕" panose="020B0503020000020004" pitchFamily="50" charset="-127"/>
              </a:rPr>
              <a:t> </a:t>
            </a:r>
            <a:r>
              <a:rPr lang="ko-KR" altLang="en-US" sz="1500" dirty="0">
                <a:ea typeface="맑은 고딕" panose="020B0503020000020004" pitchFamily="50" charset="-127"/>
              </a:rPr>
              <a:t>협상체제 성립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독일이 추구한 </a:t>
            </a:r>
            <a:r>
              <a:rPr lang="ko-KR" altLang="en-US" sz="1500" dirty="0" err="1">
                <a:ea typeface="맑은 고딕" panose="020B0503020000020004" pitchFamily="50" charset="-127"/>
              </a:rPr>
              <a:t>러불동맹과</a:t>
            </a:r>
            <a:r>
              <a:rPr lang="ko-KR" altLang="en-US" sz="1500" dirty="0">
                <a:ea typeface="맑은 고딕" panose="020B0503020000020004" pitchFamily="50" charset="-127"/>
              </a:rPr>
              <a:t> 영국 사이의 중재역할은 실패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극동에서의 </a:t>
            </a:r>
            <a:r>
              <a:rPr lang="ko-KR" altLang="en-US" sz="1500" dirty="0" err="1">
                <a:ea typeface="맑은 고딕" panose="020B0503020000020004" pitchFamily="50" charset="-127"/>
              </a:rPr>
              <a:t>러불동맹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영일동맹의 대립 사이에서 영불협상이 부분적인 중화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0" indent="0">
              <a:lnSpc>
                <a:spcPct val="200000"/>
              </a:lnSpc>
              <a:buNone/>
              <a:defRPr/>
            </a:pPr>
            <a:endParaRPr lang="en-US" altLang="ko-KR" sz="1500" dirty="0">
              <a:ea typeface="맑은 고딕" panose="020B0503020000020004" pitchFamily="50" charset="-127"/>
            </a:endParaRPr>
          </a:p>
          <a:p>
            <a:pPr marL="0" indent="0">
              <a:lnSpc>
                <a:spcPct val="200000"/>
              </a:lnSpc>
              <a:buNone/>
              <a:defRPr/>
            </a:pPr>
            <a:endParaRPr lang="ko-KR" altLang="en-US" sz="15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69282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438162" y="1844824"/>
            <a:ext cx="9682842" cy="4481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(3) 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러시아와 영국의 타협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:  &lt;</a:t>
            </a:r>
            <a:r>
              <a:rPr lang="ko-KR" altLang="en-US" sz="1600" b="1" dirty="0" err="1">
                <a:solidFill>
                  <a:prstClr val="black"/>
                </a:solidFill>
                <a:ea typeface="맑은 고딕" panose="020B0503020000020004" pitchFamily="50" charset="-127"/>
              </a:rPr>
              <a:t>영러협정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&gt;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(1907.08.31.)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러시아는 러일전쟁의 패배로 극동에서 후퇴</a:t>
            </a:r>
            <a:r>
              <a:rPr lang="en-US" altLang="ko-KR" sz="1500" dirty="0">
                <a:ea typeface="맑은 고딕" panose="020B0503020000020004" pitchFamily="50" charset="-127"/>
              </a:rPr>
              <a:t>,</a:t>
            </a:r>
            <a:r>
              <a:rPr lang="ko-KR" altLang="en-US" sz="1500" dirty="0">
                <a:ea typeface="맑은 고딕" panose="020B0503020000020004" pitchFamily="50" charset="-127"/>
              </a:rPr>
              <a:t> 발칸 진출 재시도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이를 위해서는 러시아의 남하를 견제하는 영국의 양해 필요</a:t>
            </a:r>
            <a:endParaRPr lang="en-US" altLang="ko-KR" sz="9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en-US" altLang="ko-KR" sz="8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한편 영국의 </a:t>
            </a:r>
            <a:r>
              <a:rPr lang="en-US" altLang="ko-KR" sz="1500" dirty="0">
                <a:ea typeface="맑은 고딕" panose="020B0503020000020004" pitchFamily="50" charset="-127"/>
              </a:rPr>
              <a:t>3C</a:t>
            </a:r>
            <a:r>
              <a:rPr lang="ko-KR" altLang="en-US" sz="1500" dirty="0">
                <a:ea typeface="맑은 고딕" panose="020B0503020000020004" pitchFamily="50" charset="-127"/>
              </a:rPr>
              <a:t>정책 </a:t>
            </a:r>
            <a:r>
              <a:rPr lang="en-US" altLang="ko-KR" sz="1500" dirty="0">
                <a:ea typeface="맑은 고딕" panose="020B0503020000020004" pitchFamily="50" charset="-127"/>
              </a:rPr>
              <a:t>(</a:t>
            </a:r>
            <a:r>
              <a:rPr lang="en-US" altLang="ko-KR" sz="1500" dirty="0" err="1">
                <a:ea typeface="맑은 고딕" panose="020B0503020000020004" pitchFamily="50" charset="-127"/>
              </a:rPr>
              <a:t>Capetown</a:t>
            </a:r>
            <a:r>
              <a:rPr lang="en-US" altLang="ko-KR" sz="1500" dirty="0">
                <a:ea typeface="맑은 고딕" panose="020B0503020000020004" pitchFamily="50" charset="-127"/>
              </a:rPr>
              <a:t>-Cairo-Calcutta)</a:t>
            </a:r>
            <a:r>
              <a:rPr lang="ko-KR" altLang="en-US" sz="1500" dirty="0">
                <a:ea typeface="맑은 고딕" panose="020B0503020000020004" pitchFamily="50" charset="-127"/>
              </a:rPr>
              <a:t>은 </a:t>
            </a:r>
            <a:r>
              <a:rPr lang="ko-KR" altLang="en-US" sz="1500" dirty="0" err="1">
                <a:ea typeface="맑은 고딕" panose="020B0503020000020004" pitchFamily="50" charset="-127"/>
              </a:rPr>
              <a:t>러불동맹과</a:t>
            </a:r>
            <a:r>
              <a:rPr lang="ko-KR" altLang="en-US" sz="1500" dirty="0">
                <a:ea typeface="맑은 고딕" panose="020B0503020000020004" pitchFamily="50" charset="-127"/>
              </a:rPr>
              <a:t> 영불협상으로 고립되고 있던 독일의 </a:t>
            </a:r>
            <a:r>
              <a:rPr lang="en-US" altLang="ko-KR" sz="1500" dirty="0">
                <a:ea typeface="맑은 고딕" panose="020B0503020000020004" pitchFamily="50" charset="-127"/>
              </a:rPr>
              <a:t>3B</a:t>
            </a:r>
            <a:r>
              <a:rPr lang="ko-KR" altLang="en-US" sz="1500" dirty="0">
                <a:ea typeface="맑은 고딕" panose="020B0503020000020004" pitchFamily="50" charset="-127"/>
              </a:rPr>
              <a:t>정책</a:t>
            </a:r>
            <a:r>
              <a:rPr lang="en-US" altLang="ko-KR" sz="1500" dirty="0">
                <a:ea typeface="맑은 고딕" panose="020B0503020000020004" pitchFamily="50" charset="-127"/>
              </a:rPr>
              <a:t> (Berlin-Byzantine-Bagdad)</a:t>
            </a:r>
            <a:r>
              <a:rPr lang="ko-KR" altLang="en-US" sz="1500" dirty="0">
                <a:ea typeface="맑은 고딕" panose="020B0503020000020004" pitchFamily="50" charset="-127"/>
              </a:rPr>
              <a:t>과 충돌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또한 영국은 인도경영의 부담 급증과 러일전쟁 승리 후 일본의 급격한 팽창을 견제할 필요에서 아시아 문제에 있어서 러시아와의 연계를 고려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  <a:defRPr/>
            </a:pPr>
            <a:endParaRPr lang="en-US" altLang="ko-KR" sz="15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8152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4244D5-D8FA-50D3-E99F-8491E8F4483E}"/>
              </a:ext>
            </a:extLst>
          </p:cNvPr>
          <p:cNvSpPr/>
          <p:nvPr/>
        </p:nvSpPr>
        <p:spPr>
          <a:xfrm>
            <a:off x="0" y="0"/>
            <a:ext cx="825500" cy="6858000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F6F7FB"/>
                </a:solidFill>
                <a:effectLst/>
                <a:uLnTx/>
                <a:uFillTx/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5256A6-2EEF-C18E-2DF4-47A75C84AF43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C7404-5219-2899-DF6E-4D37BCF285E4}"/>
              </a:ext>
            </a:extLst>
          </p:cNvPr>
          <p:cNvSpPr txBox="1"/>
          <p:nvPr/>
        </p:nvSpPr>
        <p:spPr>
          <a:xfrm>
            <a:off x="4486101" y="756398"/>
            <a:ext cx="4045338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비스마르크와 유럽의 재편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B9108F-6E9F-2E87-605C-FB535D7CFC47}"/>
              </a:ext>
            </a:extLst>
          </p:cNvPr>
          <p:cNvSpPr txBox="1"/>
          <p:nvPr/>
        </p:nvSpPr>
        <p:spPr>
          <a:xfrm>
            <a:off x="3005225" y="1238064"/>
            <a:ext cx="7007050" cy="276999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B47DF"/>
                </a:solidFill>
                <a:effectLst/>
                <a:uLnTx/>
                <a:uFillTx/>
                <a:ea typeface="맑은 고딕" panose="020B0503020000020004" pitchFamily="50" charset="-127"/>
              </a:rPr>
              <a:t>빌헬름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B47DF"/>
                </a:solidFill>
                <a:effectLst/>
                <a:uLnTx/>
                <a:uFillTx/>
                <a:ea typeface="맑은 고딕" panose="020B0503020000020004" pitchFamily="50" charset="-127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4B47DF"/>
                </a:solidFill>
                <a:effectLst/>
                <a:uLnTx/>
                <a:uFillTx/>
                <a:ea typeface="맑은 고딕" panose="020B0503020000020004" pitchFamily="50" charset="-127"/>
              </a:rPr>
              <a:t>세의 등장과 비스마르크의 퇴진</a:t>
            </a: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216162" y="1761284"/>
            <a:ext cx="10585176" cy="376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&lt;</a:t>
            </a:r>
            <a:r>
              <a:rPr lang="ko-KR" altLang="en-US" sz="1600" b="1" dirty="0" err="1">
                <a:solidFill>
                  <a:prstClr val="black"/>
                </a:solidFill>
                <a:ea typeface="맑은 고딕" panose="020B0503020000020004" pitchFamily="50" charset="-127"/>
              </a:rPr>
              <a:t>영러협정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&gt;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(1907.08.31.) </a:t>
            </a:r>
            <a:r>
              <a:rPr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결과</a:t>
            </a:r>
            <a:r>
              <a:rPr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,</a:t>
            </a:r>
            <a:endParaRPr kumimoji="0" lang="en-US" altLang="ko-KR" sz="1600" b="1" dirty="0">
              <a:solidFill>
                <a:prstClr val="black"/>
              </a:solidFill>
              <a:ea typeface="맑은 고딕" panose="020B0503020000020004" pitchFamily="50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영국</a:t>
            </a:r>
            <a:r>
              <a:rPr lang="en-US" altLang="ko-KR" sz="1500" dirty="0">
                <a:ea typeface="맑은 고딕" panose="020B0503020000020004" pitchFamily="50" charset="-127"/>
              </a:rPr>
              <a:t>-</a:t>
            </a:r>
            <a:r>
              <a:rPr lang="ko-KR" altLang="en-US" sz="1500" dirty="0">
                <a:ea typeface="맑은 고딕" panose="020B0503020000020004" pitchFamily="50" charset="-127"/>
              </a:rPr>
              <a:t>러시아의 타협으로 </a:t>
            </a:r>
            <a:r>
              <a:rPr lang="ko-KR" altLang="en-US" sz="1500" dirty="0" err="1">
                <a:ea typeface="맑은 고딕" panose="020B0503020000020004" pitchFamily="50" charset="-127"/>
              </a:rPr>
              <a:t>페르샤를</a:t>
            </a:r>
            <a:r>
              <a:rPr lang="ko-KR" altLang="en-US" sz="1500" dirty="0">
                <a:ea typeface="맑은 고딕" panose="020B0503020000020004" pitchFamily="50" charset="-127"/>
              </a:rPr>
              <a:t> 남</a:t>
            </a:r>
            <a:r>
              <a:rPr lang="en-US" altLang="ko-KR" sz="1500" dirty="0">
                <a:ea typeface="맑은 고딕" panose="020B0503020000020004" pitchFamily="50" charset="-127"/>
              </a:rPr>
              <a:t>(</a:t>
            </a:r>
            <a:r>
              <a:rPr lang="ko-KR" altLang="en-US" sz="1500" dirty="0">
                <a:ea typeface="맑은 고딕" panose="020B0503020000020004" pitchFamily="50" charset="-127"/>
              </a:rPr>
              <a:t>영</a:t>
            </a:r>
            <a:r>
              <a:rPr lang="en-US" altLang="ko-KR" sz="1500" dirty="0">
                <a:ea typeface="맑은 고딕" panose="020B0503020000020004" pitchFamily="50" charset="-127"/>
              </a:rPr>
              <a:t>)-</a:t>
            </a:r>
            <a:r>
              <a:rPr lang="ko-KR" altLang="en-US" sz="1500" dirty="0">
                <a:ea typeface="맑은 고딕" panose="020B0503020000020004" pitchFamily="50" charset="-127"/>
              </a:rPr>
              <a:t>북</a:t>
            </a:r>
            <a:r>
              <a:rPr lang="en-US" altLang="ko-KR" sz="1500" dirty="0">
                <a:ea typeface="맑은 고딕" panose="020B0503020000020004" pitchFamily="50" charset="-127"/>
              </a:rPr>
              <a:t>(</a:t>
            </a:r>
            <a:r>
              <a:rPr lang="ko-KR" altLang="en-US" sz="1500" dirty="0">
                <a:ea typeface="맑은 고딕" panose="020B0503020000020004" pitchFamily="50" charset="-127"/>
              </a:rPr>
              <a:t>러</a:t>
            </a:r>
            <a:r>
              <a:rPr lang="en-US" altLang="ko-KR" sz="1500" dirty="0">
                <a:ea typeface="맑은 고딕" panose="020B0503020000020004" pitchFamily="50" charset="-127"/>
              </a:rPr>
              <a:t>)</a:t>
            </a:r>
            <a:r>
              <a:rPr lang="ko-KR" altLang="en-US" sz="1500" dirty="0">
                <a:ea typeface="맑은 고딕" panose="020B0503020000020004" pitchFamily="50" charset="-127"/>
              </a:rPr>
              <a:t>로 분할하고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중부는 중립으로 하고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아프간에서의 영국의 우월권을 인정하되 영국이 병합하지 않는 조건으로 러시아군 철수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영국과 러시아는 모두 티벳에 대한 청나라의 종주권을 인정하되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티벳의 대외관계에 있어서는 영국의 기득권을 인정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러시아는 흑해 진출의 이해관계를 영국과 조정할 수 있게 되었고</a:t>
            </a:r>
            <a:r>
              <a:rPr lang="en-US" altLang="ko-KR" sz="1500" dirty="0">
                <a:ea typeface="맑은 고딕" panose="020B0503020000020004" pitchFamily="50" charset="-127"/>
              </a:rPr>
              <a:t>, </a:t>
            </a:r>
            <a:r>
              <a:rPr lang="ko-KR" altLang="en-US" sz="1500" dirty="0">
                <a:ea typeface="맑은 고딕" panose="020B0503020000020004" pitchFamily="50" charset="-127"/>
              </a:rPr>
              <a:t>극동 및 중동으로의 세력확장 기틀 형성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  <a:defRPr/>
            </a:pPr>
            <a:r>
              <a:rPr lang="ko-KR" altLang="en-US" sz="1500" dirty="0">
                <a:ea typeface="맑은 고딕" panose="020B0503020000020004" pitchFamily="50" charset="-127"/>
              </a:rPr>
              <a:t>영국은 러시아와 상호협상체제를 수립함으로써 독일의 해군확장에 대응하고 극동과 유럽에서의 안정을 유지하며 식민경영에 집중할 수 있게 됨</a:t>
            </a:r>
            <a:endParaRPr lang="en-US" altLang="ko-KR" sz="1500" dirty="0">
              <a:ea typeface="맑은 고딕" panose="020B0503020000020004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1" dirty="0">
                <a:ea typeface="맑은 고딕" panose="020B0503020000020004" pitchFamily="50" charset="-127"/>
              </a:rPr>
              <a:t>이로써 </a:t>
            </a:r>
            <a:r>
              <a:rPr lang="en-US" altLang="ko-KR" sz="1600" b="1" dirty="0">
                <a:ea typeface="맑은 고딕" panose="020B0503020000020004" pitchFamily="50" charset="-127"/>
              </a:rPr>
              <a:t>&lt;</a:t>
            </a:r>
            <a:r>
              <a:rPr lang="ko-KR" altLang="en-US" sz="1600" b="1" dirty="0" err="1">
                <a:ea typeface="맑은 고딕" panose="020B0503020000020004" pitchFamily="50" charset="-127"/>
              </a:rPr>
              <a:t>영불러</a:t>
            </a:r>
            <a:r>
              <a:rPr lang="ko-KR" altLang="en-US" sz="1600" b="1" dirty="0">
                <a:ea typeface="맑은 고딕" panose="020B0503020000020004" pitchFamily="50" charset="-127"/>
              </a:rPr>
              <a:t> 삼국협상</a:t>
            </a:r>
            <a:r>
              <a:rPr lang="en-US" altLang="ko-KR" sz="1600" b="1" dirty="0">
                <a:ea typeface="맑은 고딕" panose="020B0503020000020004" pitchFamily="50" charset="-127"/>
              </a:rPr>
              <a:t>&gt;(Triple </a:t>
            </a:r>
            <a:r>
              <a:rPr lang="en-US" altLang="ko-KR" sz="1600" b="1" dirty="0" err="1">
                <a:ea typeface="맑은 고딕" panose="020B0503020000020004" pitchFamily="50" charset="-127"/>
              </a:rPr>
              <a:t>Etante</a:t>
            </a:r>
            <a:r>
              <a:rPr lang="en-US" altLang="ko-KR" sz="1600" b="1" dirty="0">
                <a:ea typeface="맑은 고딕" panose="020B0503020000020004" pitchFamily="50" charset="-127"/>
              </a:rPr>
              <a:t>)</a:t>
            </a:r>
            <a:r>
              <a:rPr lang="ko-KR" altLang="en-US" sz="1600" b="1" dirty="0">
                <a:ea typeface="맑은 고딕" panose="020B0503020000020004" pitchFamily="50" charset="-127"/>
              </a:rPr>
              <a:t>이 구축되어 비스마르크의 시기 구축된 독일의 </a:t>
            </a:r>
            <a:r>
              <a:rPr lang="en-US" altLang="ko-KR" sz="1600" b="1" dirty="0">
                <a:ea typeface="맑은 고딕" panose="020B0503020000020004" pitchFamily="50" charset="-127"/>
              </a:rPr>
              <a:t>&lt;</a:t>
            </a:r>
            <a:r>
              <a:rPr lang="ko-KR" altLang="en-US" sz="1600" b="1" dirty="0">
                <a:ea typeface="맑은 고딕" panose="020B0503020000020004" pitchFamily="50" charset="-127"/>
              </a:rPr>
              <a:t>삼국동맹</a:t>
            </a:r>
            <a:r>
              <a:rPr lang="en-US" altLang="ko-KR" sz="1600" b="1" dirty="0">
                <a:ea typeface="맑은 고딕" panose="020B0503020000020004" pitchFamily="50" charset="-127"/>
              </a:rPr>
              <a:t>&gt;</a:t>
            </a:r>
            <a:r>
              <a:rPr lang="ko-KR" altLang="en-US" sz="1600" b="1" dirty="0">
                <a:ea typeface="맑은 고딕" panose="020B0503020000020004" pitchFamily="50" charset="-127"/>
              </a:rPr>
              <a:t>과 대립</a:t>
            </a:r>
            <a:endParaRPr lang="en-US" altLang="ko-KR" sz="1600" b="1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140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47689D5-98BD-1446-7016-367FDCC6BC17}"/>
              </a:ext>
            </a:extLst>
          </p:cNvPr>
          <p:cNvSpPr/>
          <p:nvPr/>
        </p:nvSpPr>
        <p:spPr>
          <a:xfrm>
            <a:off x="1119145" y="1750832"/>
            <a:ext cx="10779480" cy="4320000"/>
          </a:xfrm>
          <a:prstGeom prst="rect">
            <a:avLst/>
          </a:prstGeom>
          <a:solidFill>
            <a:schemeClr val="bg1">
              <a:alpha val="90000"/>
            </a:schemeClr>
          </a:solidFill>
          <a:ln w="28575">
            <a:solidFill>
              <a:srgbClr val="4B47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108000" rtlCol="0" anchor="ctr"/>
          <a:lstStyle/>
          <a:p>
            <a:pPr algn="ctr">
              <a:lnSpc>
                <a:spcPct val="150000"/>
              </a:lnSpc>
            </a:pPr>
            <a:endParaRPr lang="ko-KR" altLang="en-US" sz="140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0A5CC-DE0D-DBBA-5F41-7F8983BEA89F}"/>
              </a:ext>
            </a:extLst>
          </p:cNvPr>
          <p:cNvSpPr txBox="1"/>
          <p:nvPr/>
        </p:nvSpPr>
        <p:spPr>
          <a:xfrm>
            <a:off x="0" y="6488668"/>
            <a:ext cx="825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ea typeface="맑은 고딕" panose="020B0503020000020004" pitchFamily="50" charset="-127"/>
              </a:rPr>
              <a:t>Page 4</a:t>
            </a:r>
            <a:endParaRPr lang="ko-KR" altLang="en-US" sz="11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algn="r"/>
            <a:r>
              <a:rPr lang="ko-KR" altLang="en-US" sz="1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6F7FB"/>
                </a:solidFill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130575" y="1937867"/>
            <a:ext cx="1085949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ko-KR" altLang="en-US" sz="1600" b="1" dirty="0">
                <a:ea typeface="맑은 고딕" panose="020B0503020000020004" pitchFamily="50" charset="-127"/>
              </a:rPr>
              <a:t>비스마르크의 삼제협상과 삼국동맹</a:t>
            </a:r>
            <a:endParaRPr lang="en-US" altLang="ko-KR" sz="1600" b="1" dirty="0">
              <a:ea typeface="맑은 고딕" panose="020B0503020000020004" pitchFamily="50" charset="-127"/>
            </a:endParaRPr>
          </a:p>
          <a:p>
            <a:pPr marL="285750" indent="-285750" defTabSz="68580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삼제협상</a:t>
            </a:r>
            <a:r>
              <a:rPr kumimoji="0" lang="en-US" altLang="ko-KR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(</a:t>
            </a:r>
            <a:r>
              <a:rPr kumimoji="0"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三帝協商</a:t>
            </a:r>
            <a:r>
              <a:rPr kumimoji="0" lang="en-US" altLang="ko-KR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): 1873, 1881: </a:t>
            </a:r>
            <a:r>
              <a:rPr kumimoji="0"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일부자료에서 </a:t>
            </a:r>
            <a:r>
              <a:rPr kumimoji="0" lang="ko-KR" altLang="en-US" sz="1500" dirty="0" err="1">
                <a:solidFill>
                  <a:prstClr val="black"/>
                </a:solidFill>
                <a:ea typeface="맑은 고딕" panose="020B0503020000020004" pitchFamily="50" charset="-127"/>
              </a:rPr>
              <a:t>삼제동맹이라고도</a:t>
            </a:r>
            <a:r>
              <a:rPr kumimoji="0"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 표현</a:t>
            </a:r>
            <a:r>
              <a:rPr kumimoji="0" lang="en-US" altLang="ko-KR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(</a:t>
            </a:r>
            <a:r>
              <a:rPr kumimoji="0"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심지어 같은 책에서도 두개를 다 사용</a:t>
            </a:r>
            <a:r>
              <a:rPr kumimoji="0" lang="en-US" altLang="ko-KR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)</a:t>
            </a:r>
          </a:p>
          <a:p>
            <a:pPr marL="214313" indent="-214313" defTabSz="68580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ko-KR" sz="1600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The</a:t>
            </a:r>
            <a:r>
              <a:rPr kumimoji="0" lang="ko-KR" altLang="en-US" sz="1600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 </a:t>
            </a:r>
            <a:r>
              <a:rPr kumimoji="0" lang="en-US" altLang="ko-KR" sz="1600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League</a:t>
            </a:r>
            <a:r>
              <a:rPr kumimoji="0" lang="ko-KR" altLang="en-US" sz="1600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 </a:t>
            </a:r>
            <a:r>
              <a:rPr kumimoji="0" lang="en-US" altLang="ko-KR" sz="1600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of</a:t>
            </a:r>
            <a:r>
              <a:rPr kumimoji="0" lang="ko-KR" altLang="en-US" sz="1600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 </a:t>
            </a:r>
            <a:r>
              <a:rPr kumimoji="0" lang="en-US" altLang="ko-KR" sz="1600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the</a:t>
            </a:r>
            <a:r>
              <a:rPr kumimoji="0" lang="ko-KR" altLang="en-US" sz="1600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 </a:t>
            </a:r>
            <a:r>
              <a:rPr kumimoji="0" lang="en-US" altLang="ko-KR" sz="1600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Three</a:t>
            </a:r>
            <a:r>
              <a:rPr kumimoji="0" lang="ko-KR" altLang="en-US" sz="1600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 </a:t>
            </a:r>
            <a:r>
              <a:rPr kumimoji="0" lang="en-US" altLang="ko-KR" sz="1600" dirty="0">
                <a:solidFill>
                  <a:prstClr val="black"/>
                </a:solidFill>
                <a:highlight>
                  <a:srgbClr val="FFFF00"/>
                </a:highlight>
                <a:ea typeface="맑은 고딕" panose="020B0503020000020004" pitchFamily="50" charset="-127"/>
              </a:rPr>
              <a:t>Emperors (Three Emperors’ League) </a:t>
            </a:r>
          </a:p>
          <a:p>
            <a:pPr defTabSz="68580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600" dirty="0">
                <a:solidFill>
                  <a:prstClr val="black"/>
                </a:solidFill>
                <a:ea typeface="맑은 고딕" panose="020B0503020000020004" pitchFamily="50" charset="-127"/>
              </a:rPr>
              <a:t>-Yale law School “The Three Emperors League - June 18, 1881”</a:t>
            </a:r>
          </a:p>
          <a:p>
            <a:pPr defTabSz="68580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-</a:t>
            </a:r>
            <a:r>
              <a:rPr kumimoji="0" lang="en-US" altLang="ko-KR" sz="1600" b="1" dirty="0" err="1">
                <a:solidFill>
                  <a:prstClr val="black"/>
                </a:solidFill>
                <a:ea typeface="맑은 고딕" panose="020B0503020000020004" pitchFamily="50" charset="-127"/>
              </a:rPr>
              <a:t>Britanica</a:t>
            </a:r>
            <a:r>
              <a:rPr kumimoji="0"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 </a:t>
            </a:r>
            <a:r>
              <a:rPr kumimoji="0"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: </a:t>
            </a:r>
            <a:r>
              <a:rPr kumimoji="0" lang="en-US" altLang="ko-KR" sz="1600" b="1" dirty="0" err="1">
                <a:solidFill>
                  <a:prstClr val="black"/>
                </a:solidFill>
                <a:ea typeface="맑은 고딕" panose="020B0503020000020004" pitchFamily="50" charset="-127"/>
              </a:rPr>
              <a:t>Dreikaiserbund</a:t>
            </a:r>
            <a:r>
              <a:rPr kumimoji="0" lang="en-US" altLang="ko-KR" sz="1600" dirty="0">
                <a:solidFill>
                  <a:prstClr val="black"/>
                </a:solidFill>
                <a:ea typeface="맑은 고딕" panose="020B0503020000020004" pitchFamily="50" charset="-127"/>
              </a:rPr>
              <a:t>, English </a:t>
            </a:r>
            <a:r>
              <a:rPr kumimoji="0" lang="en-US" altLang="ko-KR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Three Emperors’ League</a:t>
            </a:r>
            <a:r>
              <a:rPr kumimoji="0" lang="en-US" altLang="ko-KR" sz="1600" dirty="0">
                <a:solidFill>
                  <a:prstClr val="black"/>
                </a:solidFill>
                <a:ea typeface="맑은 고딕" panose="020B0503020000020004" pitchFamily="50" charset="-127"/>
              </a:rPr>
              <a:t>, an alliance in the latter part of the 19th century of Germany, Austria-Hungary, and Russia, devised by German chancellor Otto von Bismarck……. The first </a:t>
            </a:r>
            <a:r>
              <a:rPr kumimoji="0" lang="en-US" altLang="ko-KR" sz="1600" dirty="0" err="1">
                <a:solidFill>
                  <a:prstClr val="black"/>
                </a:solidFill>
                <a:ea typeface="맑은 고딕" panose="020B0503020000020004" pitchFamily="50" charset="-127"/>
              </a:rPr>
              <a:t>Dreikaiserbund</a:t>
            </a:r>
            <a:r>
              <a:rPr kumimoji="0" lang="en-US" altLang="ko-KR" sz="1600" dirty="0">
                <a:solidFill>
                  <a:prstClr val="black"/>
                </a:solidFill>
                <a:ea typeface="맑은 고딕" panose="020B0503020000020004" pitchFamily="50" charset="-127"/>
              </a:rPr>
              <a:t> was in effect from 1873 to 1875. A second one, formal and secret, was established June 18, 1881, and lasted for three years.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D15D8C-DE58-7B64-DC89-6033892B0C9A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576CC-605A-9895-2A06-662A20E1EAA2}"/>
              </a:ext>
            </a:extLst>
          </p:cNvPr>
          <p:cNvSpPr txBox="1"/>
          <p:nvPr/>
        </p:nvSpPr>
        <p:spPr>
          <a:xfrm>
            <a:off x="4571864" y="756398"/>
            <a:ext cx="3873817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참고</a:t>
            </a:r>
            <a:r>
              <a:rPr lang="en-US" altLang="ko-KR" sz="14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a typeface="맑은 고딕" panose="020B0503020000020004" pitchFamily="50" charset="-127"/>
              </a:rPr>
              <a:t>(ppt.41-42</a:t>
            </a:r>
            <a:r>
              <a:rPr lang="ko-KR" altLang="en-US" sz="14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a typeface="맑은 고딕" panose="020B0503020000020004" pitchFamily="50" charset="-127"/>
              </a:rPr>
              <a:t>는</a:t>
            </a:r>
            <a:r>
              <a:rPr lang="en-US" altLang="ko-KR" sz="14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14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a typeface="맑은 고딕" panose="020B0503020000020004" pitchFamily="50" charset="-127"/>
              </a:rPr>
              <a:t>참고만하고</a:t>
            </a:r>
            <a:r>
              <a:rPr lang="en-US" altLang="ko-KR" sz="14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14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a typeface="맑은 고딕" panose="020B0503020000020004" pitchFamily="50" charset="-127"/>
              </a:rPr>
              <a:t>시험범위는 제외</a:t>
            </a:r>
            <a:r>
              <a:rPr lang="en-US" altLang="ko-KR" sz="14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a typeface="맑은 고딕" panose="020B0503020000020004" pitchFamily="50" charset="-127"/>
              </a:rPr>
              <a:t>)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uLnTx/>
              <a:uFillTx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A35FD50-38B2-1406-A6BA-F63DEC7CB28D}"/>
              </a:ext>
            </a:extLst>
          </p:cNvPr>
          <p:cNvGrpSpPr/>
          <p:nvPr/>
        </p:nvGrpSpPr>
        <p:grpSpPr>
          <a:xfrm>
            <a:off x="0" y="0"/>
            <a:ext cx="825500" cy="6858000"/>
            <a:chOff x="0" y="0"/>
            <a:chExt cx="825500" cy="6858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F285EF1-EC1E-7123-21AC-6C02AA04C2A6}"/>
                </a:ext>
              </a:extLst>
            </p:cNvPr>
            <p:cNvSpPr/>
            <p:nvPr/>
          </p:nvSpPr>
          <p:spPr>
            <a:xfrm>
              <a:off x="0" y="0"/>
              <a:ext cx="825500" cy="6858000"/>
            </a:xfrm>
            <a:prstGeom prst="rect">
              <a:avLst/>
            </a:prstGeom>
            <a:solidFill>
              <a:srgbClr val="4B47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A85D3B-6F7B-9826-B541-89E88751FAB2}"/>
                </a:ext>
              </a:extLst>
            </p:cNvPr>
            <p:cNvSpPr txBox="1"/>
            <p:nvPr/>
          </p:nvSpPr>
          <p:spPr>
            <a:xfrm rot="16200000">
              <a:off x="-1266355" y="1807062"/>
              <a:ext cx="3358211" cy="261610"/>
            </a:xfrm>
            <a:prstGeom prst="rect">
              <a:avLst/>
            </a:prstGeom>
            <a:noFill/>
          </p:spPr>
          <p:txBody>
            <a:bodyPr wrap="square" tIns="0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F6F7FB"/>
                  </a:solidFill>
                  <a:effectLst/>
                  <a:uLnTx/>
                  <a:uFillTx/>
                  <a:ea typeface="맑은 고딕" panose="020B0503020000020004" pitchFamily="50" charset="-127"/>
                </a:rPr>
                <a:t>충북대학교 정치외교학과 세계외교사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99192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1D8B4C0-D705-EC67-C21E-CDB775D5153D}"/>
              </a:ext>
            </a:extLst>
          </p:cNvPr>
          <p:cNvSpPr/>
          <p:nvPr/>
        </p:nvSpPr>
        <p:spPr>
          <a:xfrm>
            <a:off x="1119145" y="1750832"/>
            <a:ext cx="10779480" cy="4320000"/>
          </a:xfrm>
          <a:prstGeom prst="rect">
            <a:avLst/>
          </a:prstGeom>
          <a:solidFill>
            <a:schemeClr val="bg1">
              <a:alpha val="90000"/>
            </a:schemeClr>
          </a:solidFill>
          <a:ln w="28575">
            <a:solidFill>
              <a:srgbClr val="4B47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108000" rtlCol="0" anchor="ctr"/>
          <a:lstStyle/>
          <a:p>
            <a:pPr algn="ctr">
              <a:lnSpc>
                <a:spcPct val="150000"/>
              </a:lnSpc>
            </a:pPr>
            <a:endParaRPr lang="ko-KR" altLang="en-US" sz="1400">
              <a:ln>
                <a:solidFill>
                  <a:srgbClr val="4B47DF">
                    <a:alpha val="0"/>
                  </a:srgbClr>
                </a:solidFill>
              </a:ln>
              <a:solidFill>
                <a:srgbClr val="1313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0A5CC-DE0D-DBBA-5F41-7F8983BEA89F}"/>
              </a:ext>
            </a:extLst>
          </p:cNvPr>
          <p:cNvSpPr txBox="1"/>
          <p:nvPr/>
        </p:nvSpPr>
        <p:spPr>
          <a:xfrm>
            <a:off x="0" y="6488668"/>
            <a:ext cx="825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FFFFF"/>
                </a:solidFill>
                <a:ea typeface="맑은 고딕" panose="020B0503020000020004" pitchFamily="50" charset="-127"/>
              </a:rPr>
              <a:t>Page 4</a:t>
            </a:r>
            <a:endParaRPr lang="ko-KR" altLang="en-US" sz="11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FFFFFF"/>
              </a:solidFill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B7A27-73F0-F425-28F3-3EB1B48A42DA}"/>
              </a:ext>
            </a:extLst>
          </p:cNvPr>
          <p:cNvSpPr txBox="1"/>
          <p:nvPr/>
        </p:nvSpPr>
        <p:spPr>
          <a:xfrm rot="16200000">
            <a:off x="-1266355" y="1807062"/>
            <a:ext cx="3358211" cy="2616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 algn="r"/>
            <a:r>
              <a:rPr lang="ko-KR" altLang="en-US" sz="1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F6F7FB"/>
                </a:solidFill>
                <a:ea typeface="맑은 고딕" panose="020B0503020000020004" pitchFamily="50" charset="-127"/>
              </a:rPr>
              <a:t>충북대학교 정치외교학과 세계외교사</a:t>
            </a:r>
          </a:p>
        </p:txBody>
      </p:sp>
      <p:sp>
        <p:nvSpPr>
          <p:cNvPr id="3177" name="TextBox 3176">
            <a:extLst>
              <a:ext uri="{FF2B5EF4-FFF2-40B4-BE49-F238E27FC236}">
                <a16:creationId xmlns:a16="http://schemas.microsoft.com/office/drawing/2014/main" id="{FCF13CC1-6699-7DAB-AF58-001107809DD5}"/>
              </a:ext>
            </a:extLst>
          </p:cNvPr>
          <p:cNvSpPr txBox="1"/>
          <p:nvPr/>
        </p:nvSpPr>
        <p:spPr>
          <a:xfrm>
            <a:off x="1130575" y="1937867"/>
            <a:ext cx="10859495" cy="3430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ko-KR" altLang="en-US" sz="1600" b="1" dirty="0">
                <a:ea typeface="맑은 고딕" panose="020B0503020000020004" pitchFamily="50" charset="-127"/>
              </a:rPr>
              <a:t>비스마르크의 삼제협상</a:t>
            </a:r>
            <a:r>
              <a:rPr lang="en-US" altLang="ko-KR" sz="1600" b="1" dirty="0"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ea typeface="맑은 고딕" panose="020B0503020000020004" pitchFamily="50" charset="-127"/>
              </a:rPr>
              <a:t>삼국동맹과 </a:t>
            </a:r>
            <a:r>
              <a:rPr lang="ko-KR" altLang="en-US" sz="1600" b="1" dirty="0">
                <a:highlight>
                  <a:srgbClr val="FFFF00"/>
                </a:highlight>
                <a:ea typeface="맑은 고딕" panose="020B0503020000020004" pitchFamily="50" charset="-127"/>
              </a:rPr>
              <a:t>영</a:t>
            </a:r>
            <a:r>
              <a:rPr lang="en-US" altLang="ko-KR" sz="1600" b="1" dirty="0">
                <a:highlight>
                  <a:srgbClr val="FFFF00"/>
                </a:highlight>
                <a:ea typeface="맑은 고딕" panose="020B0503020000020004" pitchFamily="50" charset="-127"/>
              </a:rPr>
              <a:t>-</a:t>
            </a:r>
            <a:r>
              <a:rPr lang="ko-KR" altLang="en-US" sz="1600" b="1" dirty="0">
                <a:highlight>
                  <a:srgbClr val="FFFF00"/>
                </a:highlight>
                <a:ea typeface="맑은 고딕" panose="020B0503020000020004" pitchFamily="50" charset="-127"/>
              </a:rPr>
              <a:t>불</a:t>
            </a:r>
            <a:r>
              <a:rPr lang="en-US" altLang="ko-KR" sz="1600" b="1" dirty="0">
                <a:highlight>
                  <a:srgbClr val="FFFF00"/>
                </a:highlight>
                <a:ea typeface="맑은 고딕" panose="020B0503020000020004" pitchFamily="50" charset="-127"/>
              </a:rPr>
              <a:t>-</a:t>
            </a:r>
            <a:r>
              <a:rPr lang="ko-KR" altLang="en-US" sz="1600" b="1" dirty="0">
                <a:highlight>
                  <a:srgbClr val="FFFF00"/>
                </a:highlight>
                <a:ea typeface="맑은 고딕" panose="020B0503020000020004" pitchFamily="50" charset="-127"/>
              </a:rPr>
              <a:t>러 삼국협상</a:t>
            </a:r>
            <a:r>
              <a:rPr lang="en-US" altLang="ko-KR" sz="1600" b="1" dirty="0">
                <a:highlight>
                  <a:srgbClr val="FFFF00"/>
                </a:highlight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highlight>
                  <a:srgbClr val="FFFF00"/>
                </a:highlight>
                <a:ea typeface="맑은 고딕" panose="020B0503020000020004" pitchFamily="50" charset="-127"/>
              </a:rPr>
              <a:t>동맹</a:t>
            </a:r>
            <a:r>
              <a:rPr lang="en-US" altLang="ko-KR" sz="1600" b="1" dirty="0">
                <a:highlight>
                  <a:srgbClr val="FFFF00"/>
                </a:highlight>
                <a:ea typeface="맑은 고딕" panose="020B0503020000020004" pitchFamily="50" charset="-127"/>
              </a:rPr>
              <a:t>)</a:t>
            </a:r>
          </a:p>
          <a:p>
            <a:pPr marL="285750" indent="-285750" defTabSz="68580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삼국동맹</a:t>
            </a:r>
            <a:r>
              <a:rPr kumimoji="0" lang="en-US" altLang="ko-KR" sz="1500" dirty="0">
                <a:solidFill>
                  <a:prstClr val="black"/>
                </a:solidFill>
                <a:ea typeface="맑은 고딕" panose="020B0503020000020004" pitchFamily="50" charset="-127"/>
              </a:rPr>
              <a:t>(1882) Triple Alliance: Germany, Austria-Hungary, and Italy</a:t>
            </a:r>
          </a:p>
          <a:p>
            <a:pPr marL="285750" indent="-285750" defTabSz="68580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sz="1600" dirty="0">
                <a:ea typeface="맑은 고딕" panose="020B0503020000020004" pitchFamily="50" charset="-127"/>
              </a:rPr>
              <a:t>삼국협상</a:t>
            </a:r>
            <a:r>
              <a:rPr kumimoji="0" lang="en-US" altLang="ko-KR" sz="1600" dirty="0">
                <a:ea typeface="맑은 고딕" panose="020B0503020000020004" pitchFamily="50" charset="-127"/>
              </a:rPr>
              <a:t>(1891-1914): </a:t>
            </a:r>
            <a:r>
              <a:rPr kumimoji="0" lang="ko-KR" altLang="en-US" sz="1600" dirty="0">
                <a:ea typeface="맑은 고딕" panose="020B0503020000020004" pitchFamily="50" charset="-127"/>
              </a:rPr>
              <a:t>일부자료에선 삼국동맹이라고도 표현</a:t>
            </a:r>
            <a:endParaRPr kumimoji="0" lang="en-US" altLang="ko-KR" sz="1600" dirty="0">
              <a:ea typeface="맑은 고딕" panose="020B0503020000020004" pitchFamily="50" charset="-127"/>
            </a:endParaRPr>
          </a:p>
          <a:p>
            <a:pPr marL="285750" indent="-285750" defTabSz="68580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en-US" altLang="ko-KR" sz="1600" b="1" dirty="0">
              <a:ea typeface="맑은 고딕" panose="020B0503020000020004" pitchFamily="50" charset="-127"/>
            </a:endParaRPr>
          </a:p>
          <a:p>
            <a:pPr marL="285750" indent="-285750" defTabSz="68580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ko-KR" sz="1600" b="1" dirty="0">
                <a:highlight>
                  <a:srgbClr val="FFFF00"/>
                </a:highlight>
                <a:ea typeface="맑은 고딕" panose="020B0503020000020004" pitchFamily="50" charset="-127"/>
              </a:rPr>
              <a:t>Triple Entente</a:t>
            </a:r>
            <a:r>
              <a:rPr kumimoji="0" lang="en-US" altLang="ko-KR" sz="1600" dirty="0">
                <a:highlight>
                  <a:srgbClr val="FFFF00"/>
                </a:highlight>
                <a:ea typeface="맑은 고딕" panose="020B0503020000020004" pitchFamily="50" charset="-127"/>
              </a:rPr>
              <a:t>: Russia, France, UK</a:t>
            </a:r>
          </a:p>
          <a:p>
            <a:pPr marL="285750" indent="-285750" defTabSz="68580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ko-KR" sz="1600" dirty="0">
                <a:ea typeface="맑은 고딕" panose="020B0503020000020004" pitchFamily="50" charset="-127"/>
              </a:rPr>
              <a:t>Franco-Russian Alliance of 1891-1894, the Entente Cordiale of 1904 between Paris and London, and the Anglo-Russian Entente of 1907</a:t>
            </a:r>
            <a:endParaRPr kumimoji="0" lang="ko-KR" altLang="en-US" sz="1600" dirty="0"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D15D8C-DE58-7B64-DC89-6033892B0C9A}"/>
              </a:ext>
            </a:extLst>
          </p:cNvPr>
          <p:cNvSpPr/>
          <p:nvPr/>
        </p:nvSpPr>
        <p:spPr>
          <a:xfrm>
            <a:off x="6279583" y="519165"/>
            <a:ext cx="458335" cy="46891"/>
          </a:xfrm>
          <a:prstGeom prst="rect">
            <a:avLst/>
          </a:prstGeom>
          <a:solidFill>
            <a:srgbClr val="4B4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576CC-605A-9895-2A06-662A20E1EAA2}"/>
              </a:ext>
            </a:extLst>
          </p:cNvPr>
          <p:cNvSpPr txBox="1"/>
          <p:nvPr/>
        </p:nvSpPr>
        <p:spPr>
          <a:xfrm>
            <a:off x="6122766" y="756398"/>
            <a:ext cx="772007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rgbClr val="1313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 panose="020B0503020000020004" pitchFamily="50" charset="-127"/>
              </a:rPr>
              <a:t>참고</a:t>
            </a:r>
            <a:endParaRPr kumimoji="0" lang="en-US" altLang="ko-KR" sz="2800" b="1" i="0" u="none" strike="noStrike" kern="1200" cap="none" spc="-150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rgbClr val="1313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맑은 고딕" panose="020B0503020000020004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C11412F-22E1-A4BF-5819-071A44E4D81E}"/>
              </a:ext>
            </a:extLst>
          </p:cNvPr>
          <p:cNvGrpSpPr/>
          <p:nvPr/>
        </p:nvGrpSpPr>
        <p:grpSpPr>
          <a:xfrm>
            <a:off x="0" y="0"/>
            <a:ext cx="825500" cy="6858000"/>
            <a:chOff x="0" y="0"/>
            <a:chExt cx="825500" cy="68580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8B3EF07-0F6B-F670-841F-659D32252D81}"/>
                </a:ext>
              </a:extLst>
            </p:cNvPr>
            <p:cNvSpPr/>
            <p:nvPr/>
          </p:nvSpPr>
          <p:spPr>
            <a:xfrm>
              <a:off x="0" y="0"/>
              <a:ext cx="825500" cy="6858000"/>
            </a:xfrm>
            <a:prstGeom prst="rect">
              <a:avLst/>
            </a:prstGeom>
            <a:solidFill>
              <a:srgbClr val="4B47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1752278-72F3-54CB-0B06-446A116D5816}"/>
                </a:ext>
              </a:extLst>
            </p:cNvPr>
            <p:cNvSpPr txBox="1"/>
            <p:nvPr/>
          </p:nvSpPr>
          <p:spPr>
            <a:xfrm rot="16200000">
              <a:off x="-1266355" y="1807062"/>
              <a:ext cx="3358211" cy="261610"/>
            </a:xfrm>
            <a:prstGeom prst="rect">
              <a:avLst/>
            </a:prstGeom>
            <a:noFill/>
          </p:spPr>
          <p:txBody>
            <a:bodyPr wrap="square" tIns="0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srgbClr val="4472C4">
                        <a:shade val="50000"/>
                        <a:alpha val="0"/>
                      </a:srgbClr>
                    </a:solidFill>
                  </a:ln>
                  <a:solidFill>
                    <a:srgbClr val="F6F7FB"/>
                  </a:solidFill>
                  <a:effectLst/>
                  <a:uLnTx/>
                  <a:uFillTx/>
                  <a:ea typeface="맑은 고딕" panose="020B0503020000020004" pitchFamily="50" charset="-127"/>
                </a:rPr>
                <a:t>충북대학교 정치외교학과 세계외교사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30203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64FA01CC-28FF-4168-A09E-615548B02F1E}" vid="{ACC68DE1-8600-446C-83A6-01CC324B6F34}"/>
    </a:ext>
  </a:extLst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4003</TotalTime>
  <Words>4271</Words>
  <Application>Microsoft Office PowerPoint</Application>
  <PresentationFormat>와이드스크린</PresentationFormat>
  <Paragraphs>502</Paragraphs>
  <Slides>44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44</vt:i4>
      </vt:variant>
    </vt:vector>
  </HeadingPairs>
  <TitlesOfParts>
    <vt:vector size="55" baseType="lpstr">
      <vt:lpstr>굴림</vt:lpstr>
      <vt:lpstr>Calibri Light</vt:lpstr>
      <vt:lpstr>맑은 고딕</vt:lpstr>
      <vt:lpstr>Wingdings</vt:lpstr>
      <vt:lpstr>Symbol</vt:lpstr>
      <vt:lpstr>Calibri</vt:lpstr>
      <vt:lpstr>Arial</vt:lpstr>
      <vt:lpstr>1_Office 테마</vt:lpstr>
      <vt:lpstr>테마1</vt:lpstr>
      <vt:lpstr>2_Office 테마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Jangwon Lee</cp:lastModifiedBy>
  <cp:revision>153</cp:revision>
  <dcterms:created xsi:type="dcterms:W3CDTF">2013-03-20T07:18:37Z</dcterms:created>
  <dcterms:modified xsi:type="dcterms:W3CDTF">2025-09-14T11:42:36Z</dcterms:modified>
</cp:coreProperties>
</file>